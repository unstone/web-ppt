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1280</c:v>
                </c:pt>
                <c:pt idx="1">
                  <c:v>1640</c:v>
                </c:pt>
                <c:pt idx="3">
                  <c:v>2050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1510</c:v>
                </c:pt>
                <c:pt idx="1">
                  <c:v>1390</c:v>
                </c:pt>
                <c:pt idx="2">
                  <c:v>1880</c:v>
                </c:pt>
                <c:pt idx="3">
                  <c:v>2360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spPr>
        <a:solidFill>
          <a:srgbClr val="F7F9FC"/>
        </a:solidFill>
      </c:spPr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  <c:extLst>
    <c:ext uri="urn:chart-design-fixture">
      <keep:data xmlns:keep="urn:chart-design-test">保留原扩展</keep:data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渠道占比（百分比堆叠）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直营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420</c:v>
                </c:pt>
                <c:pt idx="1">
                  <c:v>500</c:v>
                </c:pt>
                <c:pt idx="2">
                  <c:v>380</c:v>
                </c:pt>
                <c:pt idx="3">
                  <c:v>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分销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300</c:v>
                </c:pt>
                <c:pt idx="1">
                  <c:v>260</c:v>
                </c:pt>
                <c:pt idx="2">
                  <c:v>420</c:v>
                </c:pt>
                <c:pt idx="3">
                  <c:v>350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线上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180</c:v>
                </c:pt>
                <c:pt idx="1">
                  <c:v>340</c:v>
                </c:pt>
                <c:pt idx="2">
                  <c:v>260</c:v>
                </c:pt>
                <c:pt idx="3">
                  <c:v>480</c:v>
                </c:pt>
              </c:numCache>
            </c:numRef>
          </c:val>
          <c:smooth val="0"/>
        </c:ser>
        <c:gapWidth val="80"/>
        <c:overlap val="100"/>
        <c:axId val="201"/>
        <c:axId val="202"/>
      </c:barChart>
      <c:catAx>
        <c:axId val="201"/>
        <c:scaling>
          <c:orientation val="minMax"/>
        </c:scaling>
        <c:delete val="0"/>
        <c:axPos val="b"/>
        <c:crossAx val="202"/>
        <c:crosses val="autoZero"/>
        <c:auto val="1"/>
        <c:lblAlgn val="ctr"/>
        <c:lblOffset val="100"/>
        <c:noMultiLvlLbl val="0"/>
      </c:catAx>
      <c:valAx>
        <c:axId val="202"/>
        <c:scaling>
          <c:orientation val="minMax"/>
        </c:scaling>
        <c:delete val="0"/>
        <c:axPos val="l"/>
        <c:majorGridlines/>
        <c:numFmt formatCode="0%" sourceLinked="0"/>
        <c:crossAx val="2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人力投入（堆叠条形）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研发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18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设计</c:v>
                </c:pt>
              </c:strCache>
            </c:strRef>
          </c:tx>
          <c:spPr>
            <a:solidFill>
              <a:schemeClr val="accent3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  <c:smooth val="0"/>
        </c:ser>
        <c:gapWidth val="60"/>
        <c:overlap val="100"/>
        <c:axId val="301"/>
        <c:axId val="302"/>
      </c:barChart>
      <c:catAx>
        <c:axId val="301"/>
        <c:scaling>
          <c:orientation val="minMax"/>
        </c:scaling>
        <c:delete val="0"/>
        <c:axPos val="l"/>
        <c:crossAx val="302"/>
      </c:catAx>
      <c:valAx>
        <c:axId val="302"/>
        <c:scaling>
          <c:orientation val="minMax"/>
        </c:scaling>
        <c:delete val="0"/>
        <c:axPos val="b"/>
        <c:majorGridlines/>
        <c:crossAx val="3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月度净增（折线 + 标记）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新增用户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120</c:v>
                </c:pt>
                <c:pt idx="1">
                  <c:v>168</c:v>
                </c:pt>
                <c:pt idx="2">
                  <c:v>145</c:v>
                </c:pt>
                <c:pt idx="3">
                  <c:v>210</c:v>
                </c:pt>
                <c:pt idx="4">
                  <c:v>198</c:v>
                </c:pt>
                <c:pt idx="5">
                  <c:v>265</c:v>
                </c:pt>
                <c:pt idx="6">
                  <c:v>240</c:v>
                </c:pt>
                <c:pt idx="7">
                  <c:v>310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净增（含流失）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diamond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40</c:v>
                </c:pt>
                <c:pt idx="1">
                  <c:v>-18</c:v>
                </c:pt>
                <c:pt idx="2">
                  <c:v>62</c:v>
                </c:pt>
                <c:pt idx="4">
                  <c:v>30</c:v>
                </c:pt>
                <c:pt idx="5">
                  <c:v>96</c:v>
                </c:pt>
                <c:pt idx="6">
                  <c:v>-12</c:v>
                </c:pt>
                <c:pt idx="7">
                  <c:v>140</c:v>
                </c:pt>
              </c:numCache>
            </c:numRef>
          </c:val>
          <c:smooth val="1"/>
        </c:ser>
        <c:marker val="1"/>
        <c:axId val="401"/>
        <c:axId val="402"/>
      </c:lineChart>
      <c:catAx>
        <c:axId val="401"/>
        <c:scaling>
          <c:orientation val="minMax"/>
        </c:scaling>
        <c:delete val="0"/>
        <c:axPos val="b"/>
        <c:crossAx val="402"/>
        <c:crosses val="autoZero"/>
        <c:auto val="1"/>
        <c:lblAlgn val="ctr"/>
        <c:lblOffset val="100"/>
        <c:noMultiLvlLbl val="0"/>
      </c:catAx>
      <c:valAx>
        <c:axId val="402"/>
        <c:scaling>
          <c:orientation val="minMax"/>
        </c:scaling>
        <c:delete val="0"/>
        <c:axPos val="l"/>
        <c:majorGridlines/>
        <c:numFmt formatCode="#,##0" sourceLinked="0"/>
        <c:crossAx val="401"/>
        <c:crosses val="autoZero"/>
        <c:crossBetween val="between"/>
      </c:valAx>
    </c:plotArea>
    <c:legend>
      <c:legendPos val="t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区域收入分布（饼图）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explosion val="12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两年对比（环形图）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2800</c:v>
                </c:pt>
                <c:pt idx="1">
                  <c:v>2100</c:v>
                </c:pt>
                <c:pt idx="2">
                  <c:v>1500</c:v>
                </c:pt>
                <c:pt idx="3">
                  <c:v>800</c:v>
                </c:pt>
                <c:pt idx="4">
                  <c:v>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  <c:smooth val="0"/>
        </c:ser>
        <c:firstSliceAng val="0"/>
        <c:holeSize val="45"/>
      </c:doughnutChart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投放效率（散点图）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A 组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6"/>
          </c:marker>
          <c:xVal>
            <c:numRef>
              <c:f>Sheet1!$A$2:$A$9</c:f>
              <c:numCache>
                <c:formatCode>0.0</c:formatCode>
                <c:ptCount val="7"/>
                <c:pt idx="0">
                  <c:v>-4</c:v>
                </c:pt>
                <c:pt idx="1">
                  <c:v>-2</c:v>
                </c:pt>
                <c:pt idx="2">
                  <c:v>0</c:v>
                </c:pt>
                <c:pt idx="3">
                  <c:v>1.5</c:v>
                </c:pt>
                <c:pt idx="4">
                  <c:v>3</c:v>
                </c:pt>
                <c:pt idx="5">
                  <c:v>5.5</c:v>
                </c:pt>
                <c:pt idx="6">
                  <c:v>8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-2.4</c:v>
                </c:pt>
                <c:pt idx="1">
                  <c:v>-0.8</c:v>
                </c:pt>
                <c:pt idx="2">
                  <c:v>0.6</c:v>
                </c:pt>
                <c:pt idx="3">
                  <c:v>1.9</c:v>
                </c:pt>
                <c:pt idx="4">
                  <c:v>2.4</c:v>
                </c:pt>
                <c:pt idx="5">
                  <c:v>3.8</c:v>
                </c:pt>
                <c:pt idx="6">
                  <c:v>4.1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B 组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7"/>
          </c:marker>
          <c:xVal>
            <c:numRef>
              <c:f>Sheet1!$A$2:$A$9</c:f>
              <c:numCache>
                <c:formatCode>0.0</c:formatCode>
                <c:ptCount val="7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2.5</c:v>
                </c:pt>
                <c:pt idx="4">
                  <c:v>4</c:v>
                </c:pt>
                <c:pt idx="5">
                  <c:v>6</c:v>
                </c:pt>
                <c:pt idx="6">
                  <c:v>7.5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1.2</c:v>
                </c:pt>
                <c:pt idx="1">
                  <c:v>2.6</c:v>
                </c:pt>
                <c:pt idx="2">
                  <c:v>0.4</c:v>
                </c:pt>
                <c:pt idx="3">
                  <c:v>-1.1</c:v>
                </c:pt>
                <c:pt idx="4">
                  <c:v>3.2</c:v>
                </c:pt>
                <c:pt idx="5">
                  <c:v>1.4</c:v>
                </c:pt>
                <c:pt idx="6">
                  <c:v>5.2</c:v>
                </c:pt>
              </c:numCache>
            </c:numRef>
          </c:yVal>
          <c:smooth val="0"/>
        </c:ser>
        <c:axId val="701"/>
        <c:axId val="702"/>
      </c:scatterChart>
      <c:valAx>
        <c:axId val="701"/>
        <c:scaling>
          <c:orientation val="minMax"/>
        </c:scaling>
        <c:delete val="0"/>
        <c:axPos val="b"/>
        <c:majorGridlines/>
        <c:numFmt formatCode="0.0" sourceLinked="0"/>
        <c:crossAx val="702"/>
        <c:crosses val="autoZero"/>
        <c:crossBetween val="between"/>
      </c:valAx>
      <c:valAx>
        <c:axId val="702"/>
        <c:scaling>
          <c:orientation val="minMax"/>
        </c:scaling>
        <c:delete val="0"/>
        <c:axPos val="l"/>
        <c:majorGridlines/>
        <c:numFmt formatCode="0.00" sourceLinked="0"/>
        <c:crossAx val="7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负载构成（堆叠面积）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IO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6</c:v>
                </c:pt>
                <c:pt idx="2">
                  <c:v>12</c:v>
                </c:pt>
                <c:pt idx="3">
                  <c:v>9</c:v>
                </c:pt>
                <c:pt idx="4">
                  <c:v>14</c:v>
                </c:pt>
                <c:pt idx="5">
                  <c:v>11</c:v>
                </c:pt>
                <c:pt idx="6">
                  <c:v>16</c:v>
                </c:pt>
                <c:pt idx="7">
                  <c:v>19</c:v>
                </c:pt>
              </c:numCache>
            </c:numRef>
          </c:val>
          <c:smooth val="0"/>
        </c:ser>
        <c:axId val="801"/>
        <c:axId val="802"/>
      </c:areaChart>
      <c:catAx>
        <c:axId val="801"/>
        <c:scaling>
          <c:orientation val="minMax"/>
        </c:scaling>
        <c:delete val="0"/>
        <c:axPos val="b"/>
        <c:crossAx val="802"/>
      </c:catAx>
      <c:valAx>
        <c:axId val="802"/>
        <c:scaling>
          <c:orientation val="minMax"/>
        </c:scaling>
        <c:delete val="0"/>
        <c:axPos val="l"/>
        <c:majorGridlines/>
        <c:numFmt formatCode="0" sourceLinked="0"/>
        <c:crossAx val="8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v>直营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v>渠道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销量与同比增长率（主次坐标轴）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销量（台）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1180</c:v>
                </c:pt>
                <c:pt idx="1">
                  <c:v>1420</c:v>
                </c:pt>
                <c:pt idx="2">
                  <c:v>1360</c:v>
                </c:pt>
                <c:pt idx="3">
                  <c:v>1980</c:v>
                </c:pt>
                <c:pt idx="4">
                  <c:v>2240</c:v>
                </c:pt>
                <c:pt idx="5">
                  <c:v>2610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目标（台）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1200</c:v>
                </c:pt>
                <c:pt idx="1">
                  <c:v>1400</c:v>
                </c:pt>
                <c:pt idx="2">
                  <c:v>1600</c:v>
                </c:pt>
                <c:pt idx="3">
                  <c:v>1800</c:v>
                </c:pt>
                <c:pt idx="4">
                  <c:v>2100</c:v>
                </c:pt>
                <c:pt idx="5">
                  <c:v>2400</c:v>
                </c:pt>
              </c:numCache>
            </c:numRef>
          </c:val>
          <c:smooth val="0"/>
        </c:ser>
        <c:gapWidth val="100"/>
        <c:overlap val="-15"/>
        <c:axId val="1001"/>
        <c:axId val="1002"/>
      </c:barChart>
      <c:lineChart>
        <c:grouping val="standard"/>
        <c:varyColors val="0"/>
        <c:ser>
          <c:idx val="2"/>
          <c:order val="2"/>
          <c:tx>
            <c:strRef>
              <c:f>Sheet1!$A$1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6"/>
                <c:pt idx="0">
                  <c:v>0.082</c:v>
                </c:pt>
                <c:pt idx="1">
                  <c:v>0.115</c:v>
                </c:pt>
                <c:pt idx="2">
                  <c:v>0.094</c:v>
                </c:pt>
                <c:pt idx="3">
                  <c:v>0.203</c:v>
                </c:pt>
                <c:pt idx="4">
                  <c:v>0.248</c:v>
                </c:pt>
                <c:pt idx="5">
                  <c:v>0.291</c:v>
                </c:pt>
              </c:numCache>
            </c:numRef>
          </c:val>
          <c:smooth val="0"/>
        </c:ser>
        <c:marker val="1"/>
        <c:axId val="1003"/>
        <c:axId val="1004"/>
      </c:lineChart>
      <c:catAx>
        <c:axId val="1001"/>
        <c:scaling>
          <c:orientation val="minMax"/>
        </c:scaling>
        <c:delete val="0"/>
        <c:axPos val="b"/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销量（台）</a:t>
                </a:r>
              </a:p>
            </c:rich>
          </c:tx>
        </c:title>
        <c:numFmt formatCode="#,##0" sourceLinked="0"/>
        <c:crossAx val="1001"/>
        <c:crosses val="autoZero"/>
        <c:crossBetween val="between"/>
      </c:valAx>
      <c:catAx>
        <c:axId val="1003"/>
        <c:scaling>
          <c:orientation val="minMax"/>
        </c:scaling>
        <c:delete val="1"/>
        <c:axPos val="b"/>
        <c:crossAx val="1004"/>
      </c:catAx>
      <c:valAx>
        <c:axId val="1004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r>
                  <a:t>增长率</a:t>
                </a:r>
              </a:p>
            </c:rich>
          </c:tx>
        </c:title>
        <c:numFmt formatCode="0%" sourceLinked="0"/>
        <c:crossAx val="1003"/>
        <c:crosses val="max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区域销量（3D 簇状柱）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上半年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860</c:v>
                </c:pt>
                <c:pt idx="1">
                  <c:v>1240</c:v>
                </c:pt>
                <c:pt idx="2">
                  <c:v>990</c:v>
                </c:pt>
                <c:pt idx="3">
                  <c:v>1480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下半年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1120</c:v>
                </c:pt>
                <c:pt idx="1">
                  <c:v>980</c:v>
                </c:pt>
                <c:pt idx="2">
                  <c:v>1360</c:v>
                </c:pt>
                <c:pt idx="3">
                  <c:v>1210</c:v>
                </c:pt>
              </c:numCache>
            </c:numRef>
          </c:val>
          <c:smooth val="0"/>
        </c:ser>
        <c:gapWidth val="90"/>
        <c:shape val="box"/>
        <c:axId val="1101"/>
        <c:axId val="1102"/>
        <c:axId val="1103"/>
      </c:bar3DChart>
      <c:catAx>
        <c:axId val="1101"/>
        <c:scaling>
          <c:orientation val="minMax"/>
        </c:scaling>
        <c:delete val="0"/>
        <c:axPos val="b"/>
        <c:crossAx val="1102"/>
        <c:crosses val="autoZero"/>
        <c:auto val="1"/>
        <c:lblAlgn val="ctr"/>
        <c:lblOffset val="100"/>
        <c:noMultiLvlLbl val="0"/>
      </c:catAx>
      <c:valAx>
        <c:axId val="1102"/>
        <c:scaling>
          <c:orientation val="minMax"/>
        </c:scaling>
        <c:delete val="0"/>
        <c:axPos val="l"/>
        <c:majorGridlines/>
        <c:numFmt formatCode="#,##0" sourceLinked="0"/>
        <c:crossAx val="1101"/>
        <c:crosses val="autoZero"/>
        <c:crossBetween val="between"/>
      </c:valAx>
      <c:serAx>
        <c:axId val="1103"/>
        <c:scaling>
          <c:orientation val="minMax"/>
        </c:scaling>
        <c:delete val="1"/>
        <c:axPos val="b"/>
        <c:crossAx val="11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成本构成（3D 堆叠柱）</a:t>
            </a:r>
          </a:p>
        </c:rich>
      </c:tx>
      <c:overlay val="0"/>
    </c:title>
    <c:autoTitleDeleted val="0"/>
    <c:view3D>
      <c:rotX val="20"/>
      <c:rotY val="25"/>
      <c:depthPercent val="100"/>
      <c:rAngAx val="1"/>
    </c:view3D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原料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320</c:v>
                </c:pt>
                <c:pt idx="1">
                  <c:v>380</c:v>
                </c:pt>
                <c:pt idx="2">
                  <c:v>350</c:v>
                </c:pt>
                <c:pt idx="3">
                  <c:v>420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240</c:v>
                </c:pt>
                <c:pt idx="3">
                  <c:v>260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物流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90</c:v>
                </c:pt>
                <c:pt idx="1">
                  <c:v>120</c:v>
                </c:pt>
                <c:pt idx="2">
                  <c:v>100</c:v>
                </c:pt>
                <c:pt idx="3">
                  <c:v>150</c:v>
                </c:pt>
              </c:numCache>
            </c:numRef>
          </c:val>
          <c:smooth val="0"/>
        </c:ser>
        <c:gapWidth val="70"/>
        <c:shape val="box"/>
        <c:axId val="1201"/>
        <c:axId val="1202"/>
        <c:axId val="1203"/>
      </c:bar3DChart>
      <c:catAx>
        <c:axId val="1201"/>
        <c:scaling>
          <c:orientation val="minMax"/>
        </c:scaling>
        <c:delete val="0"/>
        <c:axPos val="b"/>
        <c:crossAx val="1202"/>
        <c:crosses val="autoZero"/>
        <c:auto val="1"/>
        <c:lblAlgn val="ctr"/>
        <c:lblOffset val="100"/>
        <c:noMultiLvlLbl val="0"/>
      </c:catAx>
      <c:valAx>
        <c:axId val="1202"/>
        <c:scaling>
          <c:orientation val="minMax"/>
        </c:scaling>
        <c:delete val="0"/>
        <c:axPos val="l"/>
        <c:majorGridlines/>
        <c:numFmt formatCode="#,##0" sourceLinked="0"/>
        <c:crossAx val="1201"/>
        <c:crosses val="autoZero"/>
        <c:crossBetween val="between"/>
      </c:valAx>
      <c:serAx>
        <c:axId val="1203"/>
        <c:scaling>
          <c:orientation val="minMax"/>
        </c:scaling>
        <c:delete val="1"/>
        <c:axPos val="b"/>
        <c:crossAx val="12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渠道占比（3D 饼图）</a:t>
            </a:r>
          </a:p>
        </c:rich>
      </c:tx>
      <c:overlay val="0"/>
    </c:title>
    <c:autoTitleDeleted val="0"/>
    <c:view3D>
      <c:rotX val="30"/>
      <c:rotY val="0"/>
      <c:depthPercent val="100"/>
      <c:rAngAx val="1"/>
    </c:view3D>
    <c:plotArea>
      <c:layout/>
      <c:pie3D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</c:pie3D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负载趋势（3D 折线）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line3D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ln w="28575">
              <a:solidFill>
                <a:schemeClr val="accent6"/>
              </a:solidFill>
            </a:ln>
          </c:spPr>
          <c:marker>
            <c:symbol val="squar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axId val="1301"/>
        <c:axId val="1302"/>
        <c:axId val="1303"/>
      </c:line3DChart>
      <c:catAx>
        <c:axId val="1301"/>
        <c:scaling>
          <c:orientation val="minMax"/>
        </c:scaling>
        <c:delete val="0"/>
        <c:axPos val="b"/>
        <c:crossAx val="1302"/>
        <c:crosses val="autoZero"/>
        <c:auto val="1"/>
        <c:lblAlgn val="ctr"/>
        <c:lblOffset val="100"/>
        <c:noMultiLvlLbl val="0"/>
      </c:catAx>
      <c:valAx>
        <c:axId val="1302"/>
        <c:scaling>
          <c:orientation val="minMax"/>
        </c:scaling>
        <c:delete val="0"/>
        <c:axPos val="l"/>
        <c:majorGridlines/>
        <c:numFmt formatCode="0" sourceLinked="0"/>
        <c:crossAx val="1301"/>
        <c:crosses val="autoZero"/>
        <c:crossBetween val="between"/>
      </c:valAx>
      <c:serAx>
        <c:axId val="1303"/>
        <c:scaling>
          <c:orientation val="minMax"/>
        </c:scaling>
        <c:delete val="1"/>
        <c:axPos val="b"/>
        <c:crossAx val="13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har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>
          <a:solidFill>
            <a:schemeClr val="tx2"/>
          </a:solidFill>
          <a:latin typeface="+mj-lt"/>
          <a:ea typeface="+mj-ea"/>
        </a:defRPr>
      </a:lvl1pPr>
    </p:titleStyle>
    <p:bodyStyle>
      <a:lvl1pPr>
        <a:defRPr sz="1800">
          <a:solidFill>
            <a:schemeClr val="tx1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簇状柱状图 · 数据标签 / 网格线 / 轴标题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百分比堆叠柱 + 堆叠条形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折线图 · 标记 / 平滑 / 缺口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饼图 + 环形图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散点图 · 双数值轴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堆叠面积 + 雷达图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685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7620000" y="1143000"/>
          <a:ext cx="3810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雷达图：标记 / 填充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4864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248400" y="1143000"/>
          <a:ext cx="51816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次坐标轴 · 柱状（销量）+ 折线（增长率 %）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柱状图 · 簇状 / 堆叠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饼图 + 3D 折线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Fixture">
  <a:themeElements>
    <a:clrScheme name="ChartFixture">
      <a:dk1>
        <a:sysClr val="windowText" lastClr="20242B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hartFixture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Chart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