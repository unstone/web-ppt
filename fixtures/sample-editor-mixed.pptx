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theme/theme1.xml" ContentType="application/vnd.openxmlformats-officedocument.theme+xml"/>
  <Override PartName="/ppt/charts/chartEx1.xml" ContentType="application/vnd.ms-office.chartex+xml"/>
  <Override PartName="/ppt/charts/chartEx2.xml" ContentType="application/vnd.ms-office.chartex+xml"/>
  <Override PartName="/ppt/charts/chartEx3.xml" ContentType="application/vnd.ms-office.chartex+xml"/>
  <Override PartName="/ppt/charts/chartEx4.xml" ContentType="application/vnd.ms-office.chartex+xml"/>
  <Override PartName="/ppt/charts/chartEx5.xml" ContentType="application/vnd.ms-office.chartex+xml"/>
  <Override PartName="/ppt/charts/chartEx6.xml" ContentType="application/vnd.ms-office.chartex+xml"/>
  <Override PartName="/ppt/charts/chartEx7.xml" ContentType="application/vnd.ms-office.chartex+xml"/>
  <Override PartName="/ppt/charts/chartEx8.xml" ContentType="application/vnd.ms-office.chartex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media/mixed.wav" ContentType="audio/wav"/>
  <Override PartName="/ppt/media/mixed.mp4" ContentType="video/mp4"/>
  <Default Extension="png" ContentType="image/png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sz="1800"/>
    </a:defPPr>
  </p:defaultTextStyle>
</p:presentation>
</file>

<file path=ppt/commentAuthors.xml><?xml version="1.0" encoding="utf-8"?>
<p:cmAuthorLst xmlns:p="http://schemas.openxmlformats.org/presentationml/2006/main">
  <p:cmAuthor id="0" name="审阅 &amp; Review" initials="SR" lastIdx="3" clrIdx="0"/>
  <p:cmAuthor id="1" name="Reviewer" initials="" lastIdx="1" clrIdx="1"/>
</p:cmAuthor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Comments" Type="http://schemas.openxmlformats.org/officeDocument/2006/relationships/commentAuthors" Target="commentAuthor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chart-data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季度营收对比（簇状柱）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 年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Sheet1!$A$2:$A$5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1280</c:v>
                </c:pt>
                <c:pt idx="1">
                  <c:v>1640</c:v>
                </c:pt>
                <c:pt idx="3">
                  <c:v>2050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Sheet1!$A$2:$A$5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1510</c:v>
                </c:pt>
                <c:pt idx="1">
                  <c:v>1390</c:v>
                </c:pt>
                <c:pt idx="2">
                  <c:v>1880</c:v>
                </c:pt>
                <c:pt idx="3">
                  <c:v>2360</c:v>
                </c:pt>
              </c:numCache>
            </c:numRef>
          </c:val>
          <c:smooth val="0"/>
        </c:ser>
        <c:dLbls>
          <c:numFmt formatCode="#,##0" sourceLinked="0"/>
          <c:spPr>
            <a:noFill/>
          </c:spPr>
          <c:txPr>
            <a:bodyPr/>
            <a:lstStyle/>
            <a:p>
              <a:pPr>
                <a:defRPr sz="800"/>
              </a:pPr>
              <a:endParaRPr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0"/>
        <c:axId val="101"/>
        <c:axId val="102"/>
      </c:barChart>
      <c:catAx>
        <c:axId val="101"/>
        <c:scaling>
          <c:orientation val="minMax"/>
        </c:scaling>
        <c:delete val="0"/>
        <c:axPos val="b"/>
        <c:crossAx val="102"/>
        <c:crosses val="autoZero"/>
        <c:auto val="1"/>
        <c:lblAlgn val="ctr"/>
        <c:lblOffset val="100"/>
        <c:noMultiLvlLbl val="0"/>
      </c:catAx>
      <c:valAx>
        <c:axId val="102"/>
        <c:scaling>
          <c:orientation val="minMax"/>
        </c:scaling>
        <c:delete val="0"/>
        <c:axPos val="l"/>
        <c:majorGridlines/>
        <c:numFmt formatCode="#,##0" sourceLinked="0"/>
        <c:title>
          <c:tx>
            <c:rich>
              <a:bodyPr/>
              <a:lstStyle/>
              <a:p>
                <a:r>
                  <a:t>金额（万元）</a:t>
                </a:r>
              </a:p>
            </c:rich>
          </c:tx>
        </c:title>
        <c:crossAx val="10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渠道占比（百分比堆叠）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直营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Sheet1!$A$2:$A$9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4"/>
                <c:pt idx="0">
                  <c:v>420</c:v>
                </c:pt>
                <c:pt idx="1">
                  <c:v>500</c:v>
                </c:pt>
                <c:pt idx="2">
                  <c:v>380</c:v>
                </c:pt>
                <c:pt idx="3">
                  <c:v>610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分销</c:v>
                </c:pt>
              </c:strCache>
            </c:strRef>
          </c:tx>
          <c:spPr>
            <a:solidFill>
              <a:schemeClr val="accent4"/>
            </a:solidFill>
          </c:spPr>
          <c:cat>
            <c:strRef>
              <c:f>Sheet1!$A$2:$A$9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4"/>
                <c:pt idx="0">
                  <c:v>300</c:v>
                </c:pt>
                <c:pt idx="1">
                  <c:v>260</c:v>
                </c:pt>
                <c:pt idx="2">
                  <c:v>420</c:v>
                </c:pt>
                <c:pt idx="3">
                  <c:v>350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线上</c:v>
                </c:pt>
              </c:strCache>
            </c:strRef>
          </c:tx>
          <c:spPr>
            <a:solidFill>
              <a:schemeClr val="accent6"/>
            </a:solidFill>
          </c:spPr>
          <c:cat>
            <c:strRef>
              <c:f>Sheet1!$A$2:$A$9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4"/>
                <c:pt idx="0">
                  <c:v>180</c:v>
                </c:pt>
                <c:pt idx="1">
                  <c:v>340</c:v>
                </c:pt>
                <c:pt idx="2">
                  <c:v>260</c:v>
                </c:pt>
                <c:pt idx="3">
                  <c:v>480</c:v>
                </c:pt>
              </c:numCache>
            </c:numRef>
          </c:val>
          <c:smooth val="0"/>
        </c:ser>
        <c:gapWidth val="80"/>
        <c:overlap val="100"/>
        <c:axId val="201"/>
        <c:axId val="202"/>
      </c:barChart>
      <c:catAx>
        <c:axId val="201"/>
        <c:scaling>
          <c:orientation val="minMax"/>
        </c:scaling>
        <c:delete val="0"/>
        <c:axPos val="b"/>
        <c:crossAx val="202"/>
        <c:crosses val="autoZero"/>
        <c:auto val="1"/>
        <c:lblAlgn val="ctr"/>
        <c:lblOffset val="100"/>
        <c:noMultiLvlLbl val="0"/>
      </c:catAx>
      <c:valAx>
        <c:axId val="202"/>
        <c:scaling>
          <c:orientation val="minMax"/>
        </c:scaling>
        <c:delete val="0"/>
        <c:axPos val="l"/>
        <c:majorGridlines/>
        <c:numFmt formatCode="0%" sourceLinked="0"/>
        <c:crossAx val="201"/>
        <c:crosses val="autoZero"/>
        <c:crossBetween val="between"/>
      </c:valAx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人力投入（堆叠条形）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研发</c:v>
                </c:pt>
              </c:strCache>
            </c:strRef>
          </c:tx>
          <c:spPr>
            <a:solidFill>
              <a:schemeClr val="accent5"/>
            </a:solidFill>
          </c:spPr>
          <c:cat>
            <c:strRef>
              <c:f>Sheet1!$A$2:$A$9</c:f>
              <c:strCache>
                <c:ptCount val="3"/>
                <c:pt idx="0">
                  <c:v>平台</c:v>
                </c:pt>
                <c:pt idx="1">
                  <c:v>交付</c:v>
                </c:pt>
                <c:pt idx="2">
                  <c:v>增长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3"/>
                <c:pt idx="0">
                  <c:v>18</c:v>
                </c:pt>
                <c:pt idx="1">
                  <c:v>9</c:v>
                </c:pt>
                <c:pt idx="2">
                  <c:v>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设计</c:v>
                </c:pt>
              </c:strCache>
            </c:strRef>
          </c:tx>
          <c:spPr>
            <a:solidFill>
              <a:schemeClr val="accent3"/>
            </a:solidFill>
          </c:spPr>
          <c:cat>
            <c:strRef>
              <c:f>Sheet1!$A$2:$A$9</c:f>
              <c:strCache>
                <c:ptCount val="3"/>
                <c:pt idx="0">
                  <c:v>平台</c:v>
                </c:pt>
                <c:pt idx="1">
                  <c:v>交付</c:v>
                </c:pt>
                <c:pt idx="2">
                  <c:v>增长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7</c:v>
                </c:pt>
              </c:numCache>
            </c:numRef>
          </c:val>
          <c:smooth val="0"/>
        </c:ser>
        <c:gapWidth val="60"/>
        <c:overlap val="100"/>
        <c:axId val="301"/>
        <c:axId val="302"/>
      </c:barChart>
      <c:catAx>
        <c:axId val="301"/>
        <c:scaling>
          <c:orientation val="minMax"/>
        </c:scaling>
        <c:delete val="0"/>
        <c:axPos val="l"/>
        <c:crossAx val="302"/>
      </c:catAx>
      <c:valAx>
        <c:axId val="302"/>
        <c:scaling>
          <c:orientation val="minMax"/>
        </c:scaling>
        <c:delete val="0"/>
        <c:axPos val="b"/>
        <c:majorGridlines/>
        <c:crossAx val="30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月度净增（折线 + 标记）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新增用户</c:v>
                </c:pt>
              </c:strCache>
            </c:strRef>
          </c:tx>
          <c:spPr>
            <a:ln w="28575">
              <a:solidFill>
                <a:schemeClr val="accent1"/>
              </a:solidFill>
            </a:ln>
          </c:spPr>
          <c:marker>
            <c:symbol val="circle"/>
            <c:size val="7"/>
          </c:marke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120</c:v>
                </c:pt>
                <c:pt idx="1">
                  <c:v>168</c:v>
                </c:pt>
                <c:pt idx="2">
                  <c:v>145</c:v>
                </c:pt>
                <c:pt idx="3">
                  <c:v>210</c:v>
                </c:pt>
                <c:pt idx="4">
                  <c:v>198</c:v>
                </c:pt>
                <c:pt idx="5">
                  <c:v>265</c:v>
                </c:pt>
                <c:pt idx="6">
                  <c:v>240</c:v>
                </c:pt>
                <c:pt idx="7">
                  <c:v>310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净增（含流失）</c:v>
                </c:pt>
              </c:strCache>
            </c:strRef>
          </c:tx>
          <c:spPr>
            <a:ln w="28575">
              <a:solidFill>
                <a:schemeClr val="accent2"/>
              </a:solidFill>
            </a:ln>
          </c:spPr>
          <c:marker>
            <c:symbol val="diamond"/>
            <c:size val="7"/>
          </c:marke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40</c:v>
                </c:pt>
                <c:pt idx="1">
                  <c:v>-18</c:v>
                </c:pt>
                <c:pt idx="2">
                  <c:v>62</c:v>
                </c:pt>
                <c:pt idx="4">
                  <c:v>30</c:v>
                </c:pt>
                <c:pt idx="5">
                  <c:v>96</c:v>
                </c:pt>
                <c:pt idx="6">
                  <c:v>-12</c:v>
                </c:pt>
                <c:pt idx="7">
                  <c:v>140</c:v>
                </c:pt>
              </c:numCache>
            </c:numRef>
          </c:val>
          <c:smooth val="1"/>
        </c:ser>
        <c:marker val="1"/>
        <c:axId val="401"/>
        <c:axId val="402"/>
      </c:lineChart>
      <c:catAx>
        <c:axId val="401"/>
        <c:scaling>
          <c:orientation val="minMax"/>
        </c:scaling>
        <c:delete val="0"/>
        <c:axPos val="b"/>
        <c:crossAx val="402"/>
        <c:crosses val="autoZero"/>
        <c:auto val="1"/>
        <c:lblAlgn val="ctr"/>
        <c:lblOffset val="100"/>
        <c:noMultiLvlLbl val="0"/>
      </c:catAx>
      <c:valAx>
        <c:axId val="402"/>
        <c:scaling>
          <c:orientation val="minMax"/>
        </c:scaling>
        <c:delete val="0"/>
        <c:axPos val="l"/>
        <c:majorGridlines/>
        <c:numFmt formatCode="#,##0" sourceLinked="0"/>
        <c:crossAx val="401"/>
        <c:crosses val="autoZero"/>
        <c:crossBetween val="between"/>
      </c:valAx>
    </c:plotArea>
    <c:legend>
      <c:legendPos val="t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区域收入分布（饼图）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Sheet1!$A$1</c:f>
              <c:strCache>
                <c:ptCount val="1"/>
                <c:pt idx="0">
                  <c:v>2025 年</c:v>
                </c:pt>
              </c:strCache>
            </c:strRef>
          </c:tx>
          <c:dPt>
            <c:idx val="0"/>
            <c:bubble3D val="0"/>
            <c:explosion val="12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chemeClr val="accent6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</c:spPr>
            <c:txPr>
              <a:bodyPr/>
              <a:lstStyle/>
              <a:p>
                <a:pPr>
                  <a:defRPr sz="900"/>
                </a:pPr>
                <a:endParaRPr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</c:dLbls>
          <c:cat>
            <c:strRef>
              <c:f>Sheet1!$A$2:$A$6</c:f>
              <c:strCache>
                <c:ptCount val="5"/>
                <c:pt idx="0">
                  <c:v>华东</c:v>
                </c:pt>
                <c:pt idx="1">
                  <c:v>华北</c:v>
                </c:pt>
                <c:pt idx="2">
                  <c:v>华南</c:v>
                </c:pt>
                <c:pt idx="3">
                  <c:v>西部</c:v>
                </c:pt>
                <c:pt idx="4">
                  <c:v>海外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3200</c:v>
                </c:pt>
                <c:pt idx="1">
                  <c:v>2400</c:v>
                </c:pt>
                <c:pt idx="2">
                  <c:v>1800</c:v>
                </c:pt>
                <c:pt idx="3">
                  <c:v>900</c:v>
                </c:pt>
                <c:pt idx="4">
                  <c:v>700</c:v>
                </c:pt>
              </c:numCache>
            </c:numRef>
          </c:val>
        </c:ser>
        <c:firstSliceAng val="0"/>
      </c:pieChart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两年对比（环形图）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Sheet1!$A$1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Sheet1!$A$2:$A$9</c:f>
              <c:strCache>
                <c:ptCount val="5"/>
                <c:pt idx="0">
                  <c:v>华东</c:v>
                </c:pt>
                <c:pt idx="1">
                  <c:v>华北</c:v>
                </c:pt>
                <c:pt idx="2">
                  <c:v>华南</c:v>
                </c:pt>
                <c:pt idx="3">
                  <c:v>西部</c:v>
                </c:pt>
                <c:pt idx="4">
                  <c:v>海外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5"/>
                <c:pt idx="0">
                  <c:v>2800</c:v>
                </c:pt>
                <c:pt idx="1">
                  <c:v>2100</c:v>
                </c:pt>
                <c:pt idx="2">
                  <c:v>1500</c:v>
                </c:pt>
                <c:pt idx="3">
                  <c:v>800</c:v>
                </c:pt>
                <c:pt idx="4">
                  <c:v>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Sheet1!$A$2:$A$9</c:f>
              <c:strCache>
                <c:ptCount val="5"/>
                <c:pt idx="0">
                  <c:v>华东</c:v>
                </c:pt>
                <c:pt idx="1">
                  <c:v>华北</c:v>
                </c:pt>
                <c:pt idx="2">
                  <c:v>华南</c:v>
                </c:pt>
                <c:pt idx="3">
                  <c:v>西部</c:v>
                </c:pt>
                <c:pt idx="4">
                  <c:v>海外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5"/>
                <c:pt idx="0">
                  <c:v>3200</c:v>
                </c:pt>
                <c:pt idx="1">
                  <c:v>2400</c:v>
                </c:pt>
                <c:pt idx="2">
                  <c:v>1800</c:v>
                </c:pt>
                <c:pt idx="3">
                  <c:v>900</c:v>
                </c:pt>
                <c:pt idx="4">
                  <c:v>700</c:v>
                </c:pt>
              </c:numCache>
            </c:numRef>
          </c:val>
          <c:smooth val="0"/>
        </c:ser>
        <c:firstSliceAng val="0"/>
        <c:holeSize val="45"/>
      </c:doughnutChart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投放效率（散点图）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A 组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6"/>
          </c:marker>
          <c:xVal>
            <c:numRef>
              <c:f>Sheet1!$A$2:$A$9</c:f>
              <c:numCache>
                <c:formatCode>0.0</c:formatCode>
                <c:ptCount val="7"/>
                <c:pt idx="0">
                  <c:v>-4</c:v>
                </c:pt>
                <c:pt idx="1">
                  <c:v>-2</c:v>
                </c:pt>
                <c:pt idx="2">
                  <c:v>0</c:v>
                </c:pt>
                <c:pt idx="3">
                  <c:v>1.5</c:v>
                </c:pt>
                <c:pt idx="4">
                  <c:v>3</c:v>
                </c:pt>
                <c:pt idx="5">
                  <c:v>5.5</c:v>
                </c:pt>
                <c:pt idx="6">
                  <c:v>8</c:v>
                </c:pt>
              </c:numCache>
            </c:numRef>
          </c:xVal>
          <c:yVal>
            <c:numRef>
              <c:f>Sheet1!$B$2:$B$9</c:f>
              <c:numCache>
                <c:formatCode>0.00</c:formatCode>
                <c:ptCount val="7"/>
                <c:pt idx="0">
                  <c:v>-2.4</c:v>
                </c:pt>
                <c:pt idx="1">
                  <c:v>-0.8</c:v>
                </c:pt>
                <c:pt idx="2">
                  <c:v>0.6</c:v>
                </c:pt>
                <c:pt idx="3">
                  <c:v>1.9</c:v>
                </c:pt>
                <c:pt idx="4">
                  <c:v>2.4</c:v>
                </c:pt>
                <c:pt idx="5">
                  <c:v>3.8</c:v>
                </c:pt>
                <c:pt idx="6">
                  <c:v>4.1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B 组</c:v>
                </c:pt>
              </c:strCache>
            </c:strRef>
          </c:tx>
          <c:spPr>
            <a:ln>
              <a:noFill/>
            </a:ln>
          </c:spPr>
          <c:marker>
            <c:symbol val="triangle"/>
            <c:size val="7"/>
          </c:marker>
          <c:xVal>
            <c:numRef>
              <c:f>Sheet1!$A$2:$A$9</c:f>
              <c:numCache>
                <c:formatCode>0.0</c:formatCode>
                <c:ptCount val="7"/>
                <c:pt idx="0">
                  <c:v>-3</c:v>
                </c:pt>
                <c:pt idx="1">
                  <c:v>-1</c:v>
                </c:pt>
                <c:pt idx="2">
                  <c:v>1</c:v>
                </c:pt>
                <c:pt idx="3">
                  <c:v>2.5</c:v>
                </c:pt>
                <c:pt idx="4">
                  <c:v>4</c:v>
                </c:pt>
                <c:pt idx="5">
                  <c:v>6</c:v>
                </c:pt>
                <c:pt idx="6">
                  <c:v>7.5</c:v>
                </c:pt>
              </c:numCache>
            </c:numRef>
          </c:xVal>
          <c:yVal>
            <c:numRef>
              <c:f>Sheet1!$B$2:$B$9</c:f>
              <c:numCache>
                <c:formatCode>0.00</c:formatCode>
                <c:ptCount val="7"/>
                <c:pt idx="0">
                  <c:v>1.2</c:v>
                </c:pt>
                <c:pt idx="1">
                  <c:v>2.6</c:v>
                </c:pt>
                <c:pt idx="2">
                  <c:v>0.4</c:v>
                </c:pt>
                <c:pt idx="3">
                  <c:v>-1.1</c:v>
                </c:pt>
                <c:pt idx="4">
                  <c:v>3.2</c:v>
                </c:pt>
                <c:pt idx="5">
                  <c:v>1.4</c:v>
                </c:pt>
                <c:pt idx="6">
                  <c:v>5.2</c:v>
                </c:pt>
              </c:numCache>
            </c:numRef>
          </c:yVal>
          <c:smooth val="0"/>
        </c:ser>
        <c:axId val="701"/>
        <c:axId val="702"/>
      </c:scatterChart>
      <c:valAx>
        <c:axId val="701"/>
        <c:scaling>
          <c:orientation val="minMax"/>
        </c:scaling>
        <c:delete val="0"/>
        <c:axPos val="b"/>
        <c:majorGridlines/>
        <c:numFmt formatCode="0.0" sourceLinked="0"/>
        <c:crossAx val="702"/>
        <c:crosses val="autoZero"/>
        <c:crossBetween val="between"/>
      </c:valAx>
      <c:valAx>
        <c:axId val="702"/>
        <c:scaling>
          <c:orientation val="minMax"/>
        </c:scaling>
        <c:delete val="0"/>
        <c:axPos val="l"/>
        <c:majorGridlines/>
        <c:numFmt formatCode="0.00" sourceLinked="0"/>
        <c:crossAx val="70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负载构成（堆叠面积）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CPU</c:v>
                </c:pt>
              </c:strCache>
            </c:strRef>
          </c:tx>
          <c:spPr>
            <a:solidFill>
              <a:schemeClr val="accent5"/>
            </a:solidFill>
          </c:spP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</c:v>
                </c:pt>
                <c:pt idx="1">
                  <c:v>28</c:v>
                </c:pt>
                <c:pt idx="2">
                  <c:v>26</c:v>
                </c:pt>
                <c:pt idx="3">
                  <c:v>35</c:v>
                </c:pt>
                <c:pt idx="4">
                  <c:v>30</c:v>
                </c:pt>
                <c:pt idx="5">
                  <c:v>42</c:v>
                </c:pt>
                <c:pt idx="6">
                  <c:v>38</c:v>
                </c:pt>
                <c:pt idx="7">
                  <c:v>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内存</c:v>
                </c:pt>
              </c:strCache>
            </c:strRef>
          </c:tx>
          <c:spPr>
            <a:solidFill>
              <a:schemeClr val="accent6"/>
            </a:solidFill>
          </c:spP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18</c:v>
                </c:pt>
                <c:pt idx="2">
                  <c:v>24</c:v>
                </c:pt>
                <c:pt idx="3">
                  <c:v>20</c:v>
                </c:pt>
                <c:pt idx="4">
                  <c:v>27</c:v>
                </c:pt>
                <c:pt idx="5">
                  <c:v>25</c:v>
                </c:pt>
                <c:pt idx="6">
                  <c:v>33</c:v>
                </c:pt>
                <c:pt idx="7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IO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6</c:v>
                </c:pt>
                <c:pt idx="2">
                  <c:v>12</c:v>
                </c:pt>
                <c:pt idx="3">
                  <c:v>9</c:v>
                </c:pt>
                <c:pt idx="4">
                  <c:v>14</c:v>
                </c:pt>
                <c:pt idx="5">
                  <c:v>11</c:v>
                </c:pt>
                <c:pt idx="6">
                  <c:v>16</c:v>
                </c:pt>
                <c:pt idx="7">
                  <c:v>19</c:v>
                </c:pt>
              </c:numCache>
            </c:numRef>
          </c:val>
          <c:smooth val="0"/>
        </c:ser>
        <c:axId val="801"/>
        <c:axId val="802"/>
      </c:areaChart>
      <c:catAx>
        <c:axId val="801"/>
        <c:scaling>
          <c:orientation val="minMax"/>
        </c:scaling>
        <c:delete val="0"/>
        <c:axPos val="b"/>
        <c:crossAx val="802"/>
      </c:catAx>
      <c:valAx>
        <c:axId val="802"/>
        <c:scaling>
          <c:orientation val="minMax"/>
        </c:scaling>
        <c:delete val="0"/>
        <c:axPos val="l"/>
        <c:majorGridlines/>
        <c:numFmt formatCode="0" sourceLinked="0"/>
        <c:crossAx val="80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能力雷达（多系列）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Sheet1!$A$1</c:f>
              <c:strCache>
                <c:ptCount val="1"/>
                <c:pt idx="0">
                  <c:v>当前版本</c:v>
                </c:pt>
              </c:strCache>
            </c:strRef>
          </c:tx>
          <c:cat>
            <c:strRef>
              <c:f>Sheet1!$A$2:$A$9</c:f>
              <c:strCache>
                <c:ptCount val="6"/>
                <c:pt idx="0">
                  <c:v>速度</c:v>
                </c:pt>
                <c:pt idx="1">
                  <c:v>质量</c:v>
                </c:pt>
                <c:pt idx="2">
                  <c:v>成本</c:v>
                </c:pt>
                <c:pt idx="3">
                  <c:v>体验</c:v>
                </c:pt>
                <c:pt idx="4">
                  <c:v>稳定性</c:v>
                </c:pt>
                <c:pt idx="5">
                  <c:v>扩展性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6"/>
                <c:pt idx="0">
                  <c:v>70</c:v>
                </c:pt>
                <c:pt idx="1">
                  <c:v>85</c:v>
                </c:pt>
                <c:pt idx="2">
                  <c:v>60</c:v>
                </c:pt>
                <c:pt idx="3">
                  <c:v>90</c:v>
                </c:pt>
                <c:pt idx="4">
                  <c:v>75</c:v>
                </c:pt>
                <c:pt idx="5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目标</c:v>
                </c:pt>
              </c:strCache>
            </c:strRef>
          </c:tx>
          <c:cat>
            <c:strRef>
              <c:f>Sheet1!$A$2:$A$9</c:f>
              <c:strCache>
                <c:ptCount val="6"/>
                <c:pt idx="0">
                  <c:v>速度</c:v>
                </c:pt>
                <c:pt idx="1">
                  <c:v>质量</c:v>
                </c:pt>
                <c:pt idx="2">
                  <c:v>成本</c:v>
                </c:pt>
                <c:pt idx="3">
                  <c:v>体验</c:v>
                </c:pt>
                <c:pt idx="4">
                  <c:v>稳定性</c:v>
                </c:pt>
                <c:pt idx="5">
                  <c:v>扩展性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6"/>
                <c:pt idx="0">
                  <c:v>90</c:v>
                </c:pt>
                <c:pt idx="1">
                  <c:v>95</c:v>
                </c:pt>
                <c:pt idx="2">
                  <c:v>80</c:v>
                </c:pt>
                <c:pt idx="3">
                  <c:v>95</c:v>
                </c:pt>
                <c:pt idx="4">
                  <c:v>88</c:v>
                </c:pt>
                <c:pt idx="5">
                  <c:v>85</c:v>
                </c:pt>
              </c:numCache>
            </c:numRef>
          </c:val>
          <c:smooth val="0"/>
        </c:ser>
        <c:axId val="901"/>
        <c:axId val="902"/>
      </c:radarChart>
      <c:catAx>
        <c:axId val="901"/>
        <c:scaling>
          <c:orientation val="minMax"/>
        </c:scaling>
        <c:delete val="0"/>
        <c:axPos val="b"/>
        <c:crossAx val="902"/>
        <c:crosses val="autoZero"/>
        <c:auto val="1"/>
        <c:lblAlgn val="ctr"/>
        <c:lblOffset val="100"/>
        <c:noMultiLvlLbl val="0"/>
      </c:catAx>
      <c:valAx>
        <c:axId val="902"/>
        <c:scaling>
          <c:orientation val="minMax"/>
        </c:scaling>
        <c:delete val="0"/>
        <c:axPos val="l"/>
        <c:majorGridlines/>
        <c:crossAx val="901"/>
        <c:crosses val="autoZero"/>
        <c:crossBetween val="between"/>
      </c:valAx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能力雷达（多系列）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Sheet1!$A$1</c:f>
              <c:strCache>
                <c:ptCount val="1"/>
                <c:pt idx="0">
                  <c:v>当前版本</c:v>
                </c:pt>
              </c:strCache>
            </c:strRef>
          </c:tx>
          <c:cat>
            <c:strRef>
              <c:f>Sheet1!$A$2:$A$9</c:f>
              <c:strCache>
                <c:ptCount val="6"/>
                <c:pt idx="0">
                  <c:v>速度</c:v>
                </c:pt>
                <c:pt idx="1">
                  <c:v>质量</c:v>
                </c:pt>
                <c:pt idx="2">
                  <c:v>成本</c:v>
                </c:pt>
                <c:pt idx="3">
                  <c:v>体验</c:v>
                </c:pt>
                <c:pt idx="4">
                  <c:v>稳定性</c:v>
                </c:pt>
                <c:pt idx="5">
                  <c:v>扩展性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6"/>
                <c:pt idx="0">
                  <c:v>70</c:v>
                </c:pt>
                <c:pt idx="1">
                  <c:v>85</c:v>
                </c:pt>
                <c:pt idx="2">
                  <c:v>60</c:v>
                </c:pt>
                <c:pt idx="3">
                  <c:v>90</c:v>
                </c:pt>
                <c:pt idx="4">
                  <c:v>75</c:v>
                </c:pt>
                <c:pt idx="5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目标</c:v>
                </c:pt>
              </c:strCache>
            </c:strRef>
          </c:tx>
          <c:cat>
            <c:strRef>
              <c:f>Sheet1!$A$2:$A$9</c:f>
              <c:strCache>
                <c:ptCount val="6"/>
                <c:pt idx="0">
                  <c:v>速度</c:v>
                </c:pt>
                <c:pt idx="1">
                  <c:v>质量</c:v>
                </c:pt>
                <c:pt idx="2">
                  <c:v>成本</c:v>
                </c:pt>
                <c:pt idx="3">
                  <c:v>体验</c:v>
                </c:pt>
                <c:pt idx="4">
                  <c:v>稳定性</c:v>
                </c:pt>
                <c:pt idx="5">
                  <c:v>扩展性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6"/>
                <c:pt idx="0">
                  <c:v>90</c:v>
                </c:pt>
                <c:pt idx="1">
                  <c:v>95</c:v>
                </c:pt>
                <c:pt idx="2">
                  <c:v>80</c:v>
                </c:pt>
                <c:pt idx="3">
                  <c:v>95</c:v>
                </c:pt>
                <c:pt idx="4">
                  <c:v>88</c:v>
                </c:pt>
                <c:pt idx="5">
                  <c:v>85</c:v>
                </c:pt>
              </c:numCache>
            </c:numRef>
          </c:val>
          <c:smooth val="0"/>
        </c:ser>
        <c:axId val="901"/>
        <c:axId val="902"/>
      </c:radarChart>
      <c:catAx>
        <c:axId val="901"/>
        <c:scaling>
          <c:orientation val="minMax"/>
        </c:scaling>
        <c:delete val="0"/>
        <c:axPos val="b"/>
        <c:crossAx val="902"/>
        <c:crosses val="autoZero"/>
        <c:auto val="1"/>
        <c:lblAlgn val="ctr"/>
        <c:lblOffset val="100"/>
        <c:noMultiLvlLbl val="0"/>
      </c:catAx>
      <c:valAx>
        <c:axId val="902"/>
        <c:scaling>
          <c:orientation val="minMax"/>
        </c:scaling>
        <c:delete val="0"/>
        <c:axPos val="l"/>
        <c:majorGridlines/>
        <c:crossAx val="901"/>
        <c:crosses val="autoZero"/>
        <c:crossBetween val="between"/>
      </c:valAx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规模与转化（气泡图）</a:t>
            </a:r>
          </a:p>
        </c:rich>
      </c:tx>
    </c:title>
    <c:plotArea>
      <c:layout/>
      <c:bubbleChart>
        <c:varyColors val="0"/>
        <c:ser>
          <c:idx val="0"/>
          <c:order val="0"/>
          <c:tx>
            <c:v>直营</c:v>
          </c:tx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60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400</c:v>
                </c:pt>
                <c:pt idx="1">
                  <c:v>900</c:v>
                </c:pt>
                <c:pt idx="2">
                  <c:v>1600</c:v>
                </c:pt>
                <c:pt idx="3">
                  <c:v>2500</c:v>
                </c:pt>
              </c:numCache>
            </c:numRef>
          </c:bubbleSize>
        </c:ser>
        <c:ser>
          <c:idx val="1"/>
          <c:order val="1"/>
          <c:tx>
            <c:v>渠道</c:v>
          </c:tx>
          <c:xVal>
            <c:numRef>
              <c:f>Sheet1!$A$2:$A$5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42</c:v>
                </c:pt>
                <c:pt idx="2">
                  <c:v>38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600</c:v>
                </c:pt>
                <c:pt idx="1">
                  <c:v>1200</c:v>
                </c:pt>
                <c:pt idx="2">
                  <c:v>2100</c:v>
                </c:pt>
                <c:pt idx="3">
                  <c:v>3200</c:v>
                </c:pt>
              </c:numCache>
            </c:numRef>
          </c:bubbleSize>
        </c:ser>
        <c:bubbleScale val="100"/>
        <c:showNegBubbles val="0"/>
        <c:sizeRepresents val="area"/>
        <c:axId val="1101"/>
        <c:axId val="1102"/>
      </c:bubbleChart>
      <c:valAx>
        <c:axId val="1101"/>
        <c:scaling>
          <c:orientation val="minMax"/>
        </c:scaling>
        <c:delete val="0"/>
        <c:axPos val="b"/>
        <c:crossAx val="1102"/>
        <c:crosses val="autoZero"/>
      </c:valAx>
      <c:valAx>
        <c:axId val="1102"/>
        <c:scaling>
          <c:orientation val="minMax"/>
        </c:scaling>
        <c:delete val="0"/>
        <c:axPos val="l"/>
        <c:majorGridlines/>
        <c:crossAx val="1101"/>
        <c:crosses val="autoZero"/>
      </c:valAx>
    </c:plotArea>
    <c:plotVisOnly val="1"/>
    <c:dispBlanksAs val="gap"/>
  </c:chart>
  <c:spPr>
    <a:noFill/>
    <a:ln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销量与同比增长率（主次坐标轴）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销量（台）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Sheet1!$A$2:$A$9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6"/>
                <c:pt idx="0">
                  <c:v>1180</c:v>
                </c:pt>
                <c:pt idx="1">
                  <c:v>1420</c:v>
                </c:pt>
                <c:pt idx="2">
                  <c:v>1360</c:v>
                </c:pt>
                <c:pt idx="3">
                  <c:v>1980</c:v>
                </c:pt>
                <c:pt idx="4">
                  <c:v>2240</c:v>
                </c:pt>
                <c:pt idx="5">
                  <c:v>2610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目标（台）</c:v>
                </c:pt>
              </c:strCache>
            </c:strRef>
          </c:tx>
          <c:spPr>
            <a:solidFill>
              <a:schemeClr val="accent5"/>
            </a:solidFill>
          </c:spPr>
          <c:cat>
            <c:strRef>
              <c:f>Sheet1!$A$2:$A$9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6"/>
                <c:pt idx="0">
                  <c:v>1200</c:v>
                </c:pt>
                <c:pt idx="1">
                  <c:v>1400</c:v>
                </c:pt>
                <c:pt idx="2">
                  <c:v>1600</c:v>
                </c:pt>
                <c:pt idx="3">
                  <c:v>1800</c:v>
                </c:pt>
                <c:pt idx="4">
                  <c:v>2100</c:v>
                </c:pt>
                <c:pt idx="5">
                  <c:v>2400</c:v>
                </c:pt>
              </c:numCache>
            </c:numRef>
          </c:val>
          <c:smooth val="0"/>
        </c:ser>
        <c:gapWidth val="100"/>
        <c:overlap val="-15"/>
        <c:axId val="1001"/>
        <c:axId val="1002"/>
      </c:barChart>
      <c:lineChart>
        <c:grouping val="standard"/>
        <c:varyColors val="0"/>
        <c:ser>
          <c:idx val="2"/>
          <c:order val="2"/>
          <c:tx>
            <c:strRef>
              <c:f>Sheet1!$A$1</c:f>
              <c:strCache>
                <c:ptCount val="1"/>
                <c:pt idx="0">
                  <c:v>同比增长率</c:v>
                </c:pt>
              </c:strCache>
            </c:strRef>
          </c:tx>
          <c:spPr>
            <a:ln w="28575">
              <a:solidFill>
                <a:schemeClr val="accent2"/>
              </a:solidFill>
            </a:ln>
          </c:spPr>
          <c:marker>
            <c:symbol val="circle"/>
            <c:size val="7"/>
          </c:marker>
          <c:cat>
            <c:strRef>
              <c:f>Sheet1!$A$2:$A$9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Sheet1!$B$2:$B$9</c:f>
              <c:numCache>
                <c:formatCode>0%</c:formatCode>
                <c:ptCount val="6"/>
                <c:pt idx="0">
                  <c:v>0.082</c:v>
                </c:pt>
                <c:pt idx="1">
                  <c:v>0.115</c:v>
                </c:pt>
                <c:pt idx="2">
                  <c:v>0.094</c:v>
                </c:pt>
                <c:pt idx="3">
                  <c:v>0.203</c:v>
                </c:pt>
                <c:pt idx="4">
                  <c:v>0.248</c:v>
                </c:pt>
                <c:pt idx="5">
                  <c:v>0.291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crossAx val="1002"/>
        <c:crosses val="autoZero"/>
        <c:auto val="1"/>
        <c:lblAlgn val="ctr"/>
        <c:lblOffset val="100"/>
        <c:noMultiLvlLbl val="0"/>
      </c:catAx>
      <c:valAx>
        <c:axId val="100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销量（台）</a:t>
                </a:r>
              </a:p>
            </c:rich>
          </c:tx>
        </c:title>
        <c:numFmt formatCode="#,##0" sourceLinked="0"/>
        <c:crossAx val="1001"/>
        <c:crosses val="autoZero"/>
        <c:crossBetween val="between"/>
      </c:valAx>
      <c:catAx>
        <c:axId val="1003"/>
        <c:scaling>
          <c:orientation val="minMax"/>
        </c:scaling>
        <c:delete val="1"/>
        <c:axPos val="b"/>
        <c:crossAx val="1004"/>
      </c:catAx>
      <c:valAx>
        <c:axId val="1004"/>
        <c:scaling>
          <c:orientation val="minMax"/>
        </c:scaling>
        <c:delete val="0"/>
        <c:axPos val="r"/>
        <c:title>
          <c:tx>
            <c:rich>
              <a:bodyPr/>
              <a:lstStyle/>
              <a:p>
                <a:r>
                  <a:t>增长率</a:t>
                </a:r>
              </a:p>
            </c:rich>
          </c:tx>
        </c:title>
        <c:numFmt formatCode="0%" sourceLinked="0"/>
        <c:crossAx val="1003"/>
        <c:crosses val="max"/>
        <c:crossBetween val="between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区域销量（3D 簇状柱）</a:t>
            </a:r>
          </a:p>
        </c:rich>
      </c:tx>
      <c:overlay val="0"/>
    </c:title>
    <c:autoTitleDeleted val="0"/>
    <c:view3D>
      <c:rotX val="15"/>
      <c:rotY val="20"/>
      <c:depthPercent val="100"/>
      <c:rAngAx val="1"/>
    </c:view3D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上半年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Sheet1!$A$2:$A$9</c:f>
              <c:strCache>
                <c:ptCount val="4"/>
                <c:pt idx="0">
                  <c:v>华东</c:v>
                </c:pt>
                <c:pt idx="1">
                  <c:v>华北</c:v>
                </c:pt>
                <c:pt idx="2">
                  <c:v>华南</c:v>
                </c:pt>
                <c:pt idx="3">
                  <c:v>西部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4"/>
                <c:pt idx="0">
                  <c:v>860</c:v>
                </c:pt>
                <c:pt idx="1">
                  <c:v>1240</c:v>
                </c:pt>
                <c:pt idx="2">
                  <c:v>990</c:v>
                </c:pt>
                <c:pt idx="3">
                  <c:v>1480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下半年</c:v>
                </c:pt>
              </c:strCache>
            </c:strRef>
          </c:tx>
          <c:spPr>
            <a:solidFill>
              <a:schemeClr val="accent6"/>
            </a:solidFill>
          </c:spPr>
          <c:cat>
            <c:strRef>
              <c:f>Sheet1!$A$2:$A$9</c:f>
              <c:strCache>
                <c:ptCount val="4"/>
                <c:pt idx="0">
                  <c:v>华东</c:v>
                </c:pt>
                <c:pt idx="1">
                  <c:v>华北</c:v>
                </c:pt>
                <c:pt idx="2">
                  <c:v>华南</c:v>
                </c:pt>
                <c:pt idx="3">
                  <c:v>西部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4"/>
                <c:pt idx="0">
                  <c:v>1120</c:v>
                </c:pt>
                <c:pt idx="1">
                  <c:v>980</c:v>
                </c:pt>
                <c:pt idx="2">
                  <c:v>1360</c:v>
                </c:pt>
                <c:pt idx="3">
                  <c:v>1210</c:v>
                </c:pt>
              </c:numCache>
            </c:numRef>
          </c:val>
          <c:smooth val="0"/>
        </c:ser>
        <c:gapWidth val="90"/>
        <c:shape val="box"/>
        <c:axId val="1101"/>
        <c:axId val="1102"/>
        <c:axId val="1103"/>
      </c:bar3DChart>
      <c:catAx>
        <c:axId val="1101"/>
        <c:scaling>
          <c:orientation val="minMax"/>
        </c:scaling>
        <c:delete val="0"/>
        <c:axPos val="b"/>
        <c:crossAx val="1102"/>
        <c:crosses val="autoZero"/>
        <c:auto val="1"/>
        <c:lblAlgn val="ctr"/>
        <c:lblOffset val="100"/>
        <c:noMultiLvlLbl val="0"/>
      </c:catAx>
      <c:valAx>
        <c:axId val="1102"/>
        <c:scaling>
          <c:orientation val="minMax"/>
        </c:scaling>
        <c:delete val="0"/>
        <c:axPos val="l"/>
        <c:majorGridlines/>
        <c:numFmt formatCode="#,##0" sourceLinked="0"/>
        <c:crossAx val="1101"/>
        <c:crosses val="autoZero"/>
        <c:crossBetween val="between"/>
      </c:valAx>
      <c:serAx>
        <c:axId val="1103"/>
        <c:scaling>
          <c:orientation val="minMax"/>
        </c:scaling>
        <c:delete val="1"/>
        <c:axPos val="b"/>
        <c:crossAx val="1102"/>
      </c:ser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成本构成（3D 堆叠柱）</a:t>
            </a:r>
          </a:p>
        </c:rich>
      </c:tx>
      <c:overlay val="0"/>
    </c:title>
    <c:autoTitleDeleted val="0"/>
    <c:view3D>
      <c:rotX val="20"/>
      <c:rotY val="25"/>
      <c:depthPercent val="100"/>
      <c:rAngAx val="1"/>
    </c:view3D>
    <c:plotArea>
      <c:layout/>
      <c:bar3DChart>
        <c:barDir val="col"/>
        <c:grouping val="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原料</c:v>
                </c:pt>
              </c:strCache>
            </c:strRef>
          </c:tx>
          <c:spPr>
            <a:solidFill>
              <a:schemeClr val="accent5"/>
            </a:solidFill>
          </c:spPr>
          <c:cat>
            <c:strRef>
              <c:f>Sheet1!$A$2:$A$9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4"/>
                <c:pt idx="0">
                  <c:v>320</c:v>
                </c:pt>
                <c:pt idx="1">
                  <c:v>380</c:v>
                </c:pt>
                <c:pt idx="2">
                  <c:v>350</c:v>
                </c:pt>
                <c:pt idx="3">
                  <c:v>420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人工</c:v>
                </c:pt>
              </c:strCache>
            </c:strRef>
          </c:tx>
          <c:spPr>
            <a:solidFill>
              <a:schemeClr val="accent4"/>
            </a:solidFill>
          </c:spPr>
          <c:cat>
            <c:strRef>
              <c:f>Sheet1!$A$2:$A$9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4"/>
                <c:pt idx="0">
                  <c:v>180</c:v>
                </c:pt>
                <c:pt idx="1">
                  <c:v>210</c:v>
                </c:pt>
                <c:pt idx="2">
                  <c:v>240</c:v>
                </c:pt>
                <c:pt idx="3">
                  <c:v>260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物流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Sheet1!$A$2:$A$9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4"/>
                <c:pt idx="0">
                  <c:v>90</c:v>
                </c:pt>
                <c:pt idx="1">
                  <c:v>120</c:v>
                </c:pt>
                <c:pt idx="2">
                  <c:v>100</c:v>
                </c:pt>
                <c:pt idx="3">
                  <c:v>150</c:v>
                </c:pt>
              </c:numCache>
            </c:numRef>
          </c:val>
          <c:smooth val="0"/>
        </c:ser>
        <c:gapWidth val="70"/>
        <c:shape val="box"/>
        <c:axId val="1201"/>
        <c:axId val="1202"/>
        <c:axId val="1203"/>
      </c:bar3DChart>
      <c:catAx>
        <c:axId val="1201"/>
        <c:scaling>
          <c:orientation val="minMax"/>
        </c:scaling>
        <c:delete val="0"/>
        <c:axPos val="b"/>
        <c:crossAx val="1202"/>
        <c:crosses val="autoZero"/>
        <c:auto val="1"/>
        <c:lblAlgn val="ctr"/>
        <c:lblOffset val="100"/>
        <c:noMultiLvlLbl val="0"/>
      </c:catAx>
      <c:valAx>
        <c:axId val="1202"/>
        <c:scaling>
          <c:orientation val="minMax"/>
        </c:scaling>
        <c:delete val="0"/>
        <c:axPos val="l"/>
        <c:majorGridlines/>
        <c:numFmt formatCode="#,##0" sourceLinked="0"/>
        <c:crossAx val="1201"/>
        <c:crosses val="autoZero"/>
        <c:crossBetween val="between"/>
      </c:valAx>
      <c:serAx>
        <c:axId val="1203"/>
        <c:scaling>
          <c:orientation val="minMax"/>
        </c:scaling>
        <c:delete val="1"/>
        <c:axPos val="b"/>
        <c:crossAx val="1202"/>
      </c:ser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渠道占比（3D 饼图）</a:t>
            </a:r>
          </a:p>
        </c:rich>
      </c:tx>
      <c:overlay val="0"/>
    </c:title>
    <c:autoTitleDeleted val="0"/>
    <c:view3D>
      <c:rotX val="30"/>
      <c:rotY val="0"/>
      <c:depthPercent val="100"/>
      <c:rAngAx val="1"/>
    </c:view3D>
    <c:plotArea>
      <c:layout/>
      <c:pie3DChart>
        <c:varyColors val="1"/>
        <c:ser>
          <c:idx val="0"/>
          <c:order val="0"/>
          <c:tx>
            <c:strRef>
              <c:f>Sheet1!$A$1</c:f>
              <c:strCache>
                <c:ptCount val="1"/>
                <c:pt idx="0">
                  <c:v>2025 年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chemeClr val="accent6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</c:spPr>
            <c:txPr>
              <a:bodyPr/>
              <a:lstStyle/>
              <a:p>
                <a:pPr>
                  <a:defRPr sz="900"/>
                </a:pPr>
                <a:endParaRPr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</c:dLbls>
          <c:cat>
            <c:strRef>
              <c:f>Sheet1!$A$2:$A$6</c:f>
              <c:strCache>
                <c:ptCount val="5"/>
                <c:pt idx="0">
                  <c:v>华东</c:v>
                </c:pt>
                <c:pt idx="1">
                  <c:v>华北</c:v>
                </c:pt>
                <c:pt idx="2">
                  <c:v>华南</c:v>
                </c:pt>
                <c:pt idx="3">
                  <c:v>西部</c:v>
                </c:pt>
                <c:pt idx="4">
                  <c:v>海外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3200</c:v>
                </c:pt>
                <c:pt idx="1">
                  <c:v>2400</c:v>
                </c:pt>
                <c:pt idx="2">
                  <c:v>1800</c:v>
                </c:pt>
                <c:pt idx="3">
                  <c:v>900</c:v>
                </c:pt>
                <c:pt idx="4">
                  <c:v>700</c:v>
                </c:pt>
              </c:numCache>
            </c:numRef>
          </c:val>
        </c:ser>
      </c:pie3DChart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chemeClr val="tx2"/>
                </a:solidFill>
              </a:defRPr>
            </a:pPr>
            <a:r>
              <a:t>负载趋势（3D 折线）</a:t>
            </a:r>
          </a:p>
        </c:rich>
      </c:tx>
      <c:overlay val="0"/>
    </c:title>
    <c:autoTitleDeleted val="0"/>
    <c:view3D>
      <c:rotX val="15"/>
      <c:rotY val="20"/>
      <c:depthPercent val="100"/>
      <c:rAngAx val="1"/>
    </c:view3D>
    <c:plotArea>
      <c:layout/>
      <c:line3D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CPU</c:v>
                </c:pt>
              </c:strCache>
            </c:strRef>
          </c:tx>
          <c:spPr>
            <a:ln w="28575">
              <a:solidFill>
                <a:schemeClr val="accent1"/>
              </a:solidFill>
            </a:ln>
          </c:spPr>
          <c:marker>
            <c:symbol val="circle"/>
            <c:size val="6"/>
          </c:marke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22</c:v>
                </c:pt>
                <c:pt idx="1">
                  <c:v>28</c:v>
                </c:pt>
                <c:pt idx="2">
                  <c:v>26</c:v>
                </c:pt>
                <c:pt idx="3">
                  <c:v>35</c:v>
                </c:pt>
                <c:pt idx="4">
                  <c:v>30</c:v>
                </c:pt>
                <c:pt idx="5">
                  <c:v>42</c:v>
                </c:pt>
                <c:pt idx="6">
                  <c:v>38</c:v>
                </c:pt>
                <c:pt idx="7">
                  <c:v>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内存</c:v>
                </c:pt>
              </c:strCache>
            </c:strRef>
          </c:tx>
          <c:spPr>
            <a:ln w="28575">
              <a:solidFill>
                <a:schemeClr val="accent6"/>
              </a:solidFill>
            </a:ln>
          </c:spPr>
          <c:marker>
            <c:symbol val="square"/>
            <c:size val="6"/>
          </c:marker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15</c:v>
                </c:pt>
                <c:pt idx="1">
                  <c:v>18</c:v>
                </c:pt>
                <c:pt idx="2">
                  <c:v>24</c:v>
                </c:pt>
                <c:pt idx="3">
                  <c:v>20</c:v>
                </c:pt>
                <c:pt idx="4">
                  <c:v>27</c:v>
                </c:pt>
                <c:pt idx="5">
                  <c:v>25</c:v>
                </c:pt>
                <c:pt idx="6">
                  <c:v>33</c:v>
                </c:pt>
                <c:pt idx="7">
                  <c:v>30</c:v>
                </c:pt>
              </c:numCache>
            </c:numRef>
          </c:val>
          <c:smooth val="0"/>
        </c:ser>
        <c:axId val="1301"/>
        <c:axId val="1302"/>
        <c:axId val="1303"/>
      </c:line3DChart>
      <c:catAx>
        <c:axId val="1301"/>
        <c:scaling>
          <c:orientation val="minMax"/>
        </c:scaling>
        <c:delete val="0"/>
        <c:axPos val="b"/>
        <c:crossAx val="1302"/>
        <c:crosses val="autoZero"/>
        <c:auto val="1"/>
        <c:lblAlgn val="ctr"/>
        <c:lblOffset val="100"/>
        <c:noMultiLvlLbl val="0"/>
      </c:catAx>
      <c:valAx>
        <c:axId val="1302"/>
        <c:scaling>
          <c:orientation val="minMax"/>
        </c:scaling>
        <c:delete val="0"/>
        <c:axPos val="l"/>
        <c:majorGridlines/>
        <c:numFmt formatCode="0" sourceLinked="0"/>
        <c:crossAx val="1301"/>
        <c:crosses val="autoZero"/>
        <c:crossBetween val="between"/>
      </c:valAx>
      <c:serAx>
        <c:axId val="1303"/>
        <c:scaling>
          <c:orientation val="minMax"/>
        </c:scaling>
        <c:delete val="1"/>
        <c:axPos val="b"/>
        <c:crossAx val="1302"/>
      </c:ser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1000"/>
      </a:pPr>
      <a:endParaRPr lang="zh-CN"/>
    </a:p>
  </c:txPr>
</c:chartSpace>
</file>

<file path=ppt/charts/chartEx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6">
          <cx:pt idx="0">A</cx:pt>
          <cx:pt idx="1">B</cx:pt>
          <cx:pt idx="2">A</cx:pt>
          <cx:pt idx="3">A</cx:pt>
          <cx:pt idx="4">C</cx:pt>
        </cx:lvl>
        <cx:lvl ptCount="6">
          <cx:pt idx="0">Alpha</cx:pt>
          <cx:pt idx="2">Beta</cx:pt>
          <cx:pt idx="3">Alpha</cx:pt>
          <cx:pt idx="5">Beta</cx:pt>
        </cx:lvl>
        <cx:lvl ptCount="6">
          <cx:pt idx="0">North</cx:pt>
          <cx:pt idx="3">South</cx:pt>
        </cx:lvl>
      </cx:strDim>
      <cx:numDim type="size">
        <cx:lvl ptCount="6">
          <cx:pt idx="0">8</cx:pt>
          <cx:pt idx="1">4</cx:pt>
          <cx:pt idx="2">6</cx:pt>
          <cx:pt idx="3">5</cx:pt>
          <cx:pt idx="4">3</cx:pt>
          <cx:pt idx="5">2</cx:pt>
        </cx:lvl>
      </cx:numDim>
    </cx:data>
  </cx:chartData>
  <cx:chart>
    <cx:title>
      <cx:tx>
        <cx:rich>
          <a:bodyPr/>
          <a:p>
            <a:r>
              <a:t>treemap</a:t>
            </a:r>
          </a:p>
        </cx:rich>
      </cx:tx>
    </cx:title>
    <cx:plotArea>
      <cx:plotAreaRegion>
        <cx:series layoutId="treemap" formatIdx="0">
          <cx:tx>
            <cx:txData>
              <cx:v>Series 1</cx:v>
            </cx:txData>
          </cx:tx>
          <cx:dataId val="0"/>
          <cx:layoutPr/>
        </cx:series>
      </cx:plotAreaRegion>
    </cx:plotArea>
  </cx:chart>
</cx:chartSpace>
</file>

<file path=ppt/charts/chartEx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6">
          <cx:pt idx="0">A</cx:pt>
          <cx:pt idx="1">B</cx:pt>
          <cx:pt idx="2">A</cx:pt>
          <cx:pt idx="3">A</cx:pt>
          <cx:pt idx="4">C</cx:pt>
        </cx:lvl>
        <cx:lvl ptCount="6">
          <cx:pt idx="0">Alpha</cx:pt>
          <cx:pt idx="2">Beta</cx:pt>
          <cx:pt idx="3">Alpha</cx:pt>
          <cx:pt idx="5">Beta</cx:pt>
        </cx:lvl>
        <cx:lvl ptCount="6">
          <cx:pt idx="0">North</cx:pt>
          <cx:pt idx="3">South</cx:pt>
        </cx:lvl>
      </cx:strDim>
      <cx:numDim type="size">
        <cx:lvl ptCount="6">
          <cx:pt idx="0">8</cx:pt>
          <cx:pt idx="1">4</cx:pt>
          <cx:pt idx="2">6</cx:pt>
          <cx:pt idx="3">5</cx:pt>
          <cx:pt idx="4">3</cx:pt>
          <cx:pt idx="5">2</cx:pt>
        </cx:lvl>
      </cx:numDim>
    </cx:data>
  </cx:chartData>
  <cx:chart>
    <cx:title>
      <cx:tx>
        <cx:rich>
          <a:bodyPr/>
          <a:p>
            <a:r>
              <a:t>sunburst</a:t>
            </a:r>
          </a:p>
        </cx:rich>
      </cx:tx>
    </cx:title>
    <cx:plotArea>
      <cx:plotAreaRegion>
        <cx:series layoutId="sunburst" formatIdx="0">
          <cx:tx>
            <cx:txData>
              <cx:v>Series 1</cx:v>
            </cx:txData>
          </cx:tx>
          <cx:dataId val="0"/>
          <cx:layoutPr/>
        </cx:series>
      </cx:plotAreaRegion>
    </cx:plotArea>
  </cx:chart>
</cx:chartSpace>
</file>

<file path=ppt/charts/chartEx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1</cx:pt>
          <cx:pt idx="1">1</cx:pt>
          <cx:pt idx="2">2</cx:pt>
          <cx:pt idx="3">3</cx:pt>
          <cx:pt idx="4">3</cx:pt>
          <cx:pt idx="5">3</cx:pt>
          <cx:pt idx="6">4</cx:pt>
          <cx:pt idx="7">4</cx:pt>
          <cx:pt idx="8">5</cx:pt>
          <cx:pt idx="9">8</cx:pt>
        </cx:lvl>
      </cx:numDim>
    </cx:data>
  </cx:chartData>
  <cx:chart>
    <cx:title>
      <cx:tx>
        <cx:rich>
          <a:bodyPr/>
          <a:p>
            <a:r>
              <a:t>histogram</a:t>
            </a:r>
          </a:p>
        </cx:rich>
      </cx:tx>
    </cx:title>
    <cx:plotArea>
      <cx:plotAreaRegion>
        <cx:series layoutId="clusteredColumn" formatIdx="0">
          <cx:tx>
            <cx:txData>
              <cx:v>Series 1</cx:v>
            </cx:txData>
          </cx:tx>
          <cx:dataId val="0"/>
          <cx:layoutPr>
            <cx:binning intervalClosed="r">
              <cx:binSize>2</cx:binSize>
            </cx:binning>
          </cx:layoutPr>
        </cx:series>
      </cx:plotAreaRegion>
    </cx:plotArea>
  </cx:chart>
</cx:chartSpace>
</file>

<file path=ppt/charts/chartEx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1</cx:pt>
          <cx:pt idx="1">1</cx:pt>
          <cx:pt idx="2">2</cx:pt>
          <cx:pt idx="3">3</cx:pt>
          <cx:pt idx="4">3</cx:pt>
          <cx:pt idx="5">3</cx:pt>
          <cx:pt idx="6">4</cx:pt>
          <cx:pt idx="7">4</cx:pt>
          <cx:pt idx="8">5</cx:pt>
          <cx:pt idx="9">8</cx:pt>
        </cx:lvl>
      </cx:numDim>
    </cx:data>
  </cx:chartData>
  <cx:chart>
    <cx:title>
      <cx:tx>
        <cx:rich>
          <a:bodyPr/>
          <a:p>
            <a:r>
              <a:t>pareto</a:t>
            </a:r>
          </a:p>
        </cx:rich>
      </cx:tx>
    </cx:title>
    <cx:plotArea>
      <cx:plotAreaRegion>
        <cx:series layoutId="clusteredColumn" formatIdx="0">
          <cx:tx>
            <cx:txData>
              <cx:v>Series 1</cx:v>
            </cx:txData>
          </cx:tx>
          <cx:dataId val="0"/>
          <cx:layoutPr>
            <cx:binning intervalClosed="r">
              <cx:binSize>2</cx:binSize>
            </cx:binning>
          </cx:layoutPr>
        </cx:series>
        <cx:series layoutId="paretoLine" ownerIdx="0"/>
      </cx:plotAreaRegion>
    </cx:plotArea>
  </cx:chart>
</cx:chartSpace>
</file>

<file path=ppt/charts/chartEx5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1</cx:pt>
          <cx:pt idx="1">1</cx:pt>
          <cx:pt idx="2">2</cx:pt>
          <cx:pt idx="3">3</cx:pt>
          <cx:pt idx="4">3</cx:pt>
          <cx:pt idx="5">3</cx:pt>
          <cx:pt idx="6">4</cx:pt>
          <cx:pt idx="7">4</cx:pt>
          <cx:pt idx="8">5</cx:pt>
          <cx:pt idx="9">8</cx:pt>
        </cx:lvl>
      </cx:numDim>
    </cx:data>
    <cx:data id="1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2</cx:pt>
          <cx:pt idx="1">2</cx:pt>
          <cx:pt idx="2">3</cx:pt>
          <cx:pt idx="3">4</cx:pt>
          <cx:pt idx="4">4</cx:pt>
          <cx:pt idx="5">4</cx:pt>
          <cx:pt idx="6">5</cx:pt>
          <cx:pt idx="7">5</cx:pt>
          <cx:pt idx="8">6</cx:pt>
          <cx:pt idx="9">9</cx:pt>
        </cx:lvl>
      </cx:numDim>
    </cx:data>
    <cx:data id="2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3</cx:pt>
          <cx:pt idx="1">3</cx:pt>
          <cx:pt idx="2">4</cx:pt>
          <cx:pt idx="3">5</cx:pt>
          <cx:pt idx="4">5</cx:pt>
          <cx:pt idx="5">5</cx:pt>
          <cx:pt idx="6">6</cx:pt>
          <cx:pt idx="7">6</cx:pt>
          <cx:pt idx="8">7</cx:pt>
          <cx:pt idx="9">10</cx:pt>
        </cx:lvl>
      </cx:numDim>
    </cx:data>
  </cx:chartData>
  <cx:chart>
    <cx:title>
      <cx:tx>
        <cx:rich>
          <a:bodyPr/>
          <a:p>
            <a:r>
              <a:t>boxWhisker</a:t>
            </a:r>
          </a:p>
        </cx:rich>
      </cx:tx>
    </cx:title>
    <cx:plotArea>
      <cx:plotAreaRegion>
        <cx:series layoutId="boxWhisker" formatIdx="0">
          <cx:tx>
            <cx:txData>
              <cx:v>Series 1</cx:v>
            </cx:txData>
          </cx:tx>
          <cx:dataId val="0"/>
          <cx:layoutPr>
            <cx:statistics quartileMethod="exclusive"/>
          </cx:layoutPr>
        </cx:series>
        <cx:series layoutId="boxWhisker" formatIdx="1">
          <cx:tx>
            <cx:txData>
              <cx:v>Series 2</cx:v>
            </cx:txData>
          </cx:tx>
          <cx:dataId val="1"/>
          <cx:layoutPr>
            <cx:statistics quartileMethod="exclusive"/>
          </cx:layoutPr>
        </cx:series>
        <cx:series layoutId="boxWhisker" formatIdx="2">
          <cx:tx>
            <cx:txData>
              <cx:v>Series 3</cx:v>
            </cx:txData>
          </cx:tx>
          <cx:dataId val="2"/>
          <cx:layoutPr>
            <cx:statistics quartileMethod="exclusive"/>
          </cx:layoutPr>
        </cx:series>
      </cx:plotAreaRegion>
    </cx:plotArea>
  </cx:chart>
</cx:chartSpace>
</file>

<file path=ppt/charts/chartEx6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5">
          <cx:pt idx="0">Point 1</cx:pt>
          <cx:pt idx="1">Point 2</cx:pt>
          <cx:pt idx="2">Point 3</cx:pt>
          <cx:pt idx="3">Point 4</cx:pt>
          <cx:pt idx="4">Point 5</cx:pt>
        </cx:lvl>
      </cx:strDim>
      <cx:numDim type="val">
        <cx:lvl ptCount="5">
          <cx:pt idx="0">10</cx:pt>
          <cx:pt idx="1">-3</cx:pt>
          <cx:pt idx="2">6</cx:pt>
          <cx:pt idx="3">-2</cx:pt>
          <cx:pt idx="4">11</cx:pt>
        </cx:lvl>
      </cx:numDim>
    </cx:data>
  </cx:chartData>
  <cx:chart>
    <cx:title>
      <cx:tx>
        <cx:rich>
          <a:bodyPr/>
          <a:p>
            <a:r>
              <a:t>waterfall</a:t>
            </a:r>
          </a:p>
        </cx:rich>
      </cx:tx>
    </cx:title>
    <cx:plotArea>
      <cx:plotAreaRegion>
        <cx:series layoutId="waterfall" formatIdx="0">
          <cx:tx>
            <cx:txData>
              <cx:v>Series 1</cx:v>
            </cx:txData>
          </cx:tx>
          <cx:dataId val="0"/>
          <cx:layoutPr>
            <cx:subtotals>
              <cx:idx val="0"/>
              <cx:idx val="4"/>
            </cx:subtotals>
          </cx:layoutPr>
        </cx:series>
      </cx:plotAreaRegion>
    </cx:plotArea>
  </cx:chart>
</cx:chartSpace>
</file>

<file path=ppt/charts/chartEx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1</cx:pt>
          <cx:pt idx="1">1</cx:pt>
          <cx:pt idx="2">2</cx:pt>
          <cx:pt idx="3">3</cx:pt>
          <cx:pt idx="4">3</cx:pt>
          <cx:pt idx="5">3</cx:pt>
          <cx:pt idx="6">4</cx:pt>
          <cx:pt idx="7">4</cx:pt>
          <cx:pt idx="8">5</cx:pt>
          <cx:pt idx="9">8</cx:pt>
        </cx:lvl>
      </cx:numDim>
    </cx:data>
  </cx:chartData>
  <cx:chart>
    <cx:title>
      <cx:tx>
        <cx:rich>
          <a:bodyPr/>
          <a:p>
            <a:r>
              <a:t>funnel</a:t>
            </a:r>
          </a:p>
        </cx:rich>
      </cx:tx>
    </cx:title>
    <cx:plotArea>
      <cx:plotAreaRegion>
        <cx:series layoutId="funnel" formatIdx="0">
          <cx:tx>
            <cx:txData>
              <cx:v>Series 1</cx:v>
            </cx:txData>
          </cx:tx>
          <cx:dataId val="0"/>
          <cx:layoutPr/>
        </cx:series>
      </cx:plotAreaRegion>
    </cx:plotArea>
  </cx:chart>
</cx:chartSpace>
</file>

<file path=ppt/charts/chartEx8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lvl ptCount="10">
          <cx:pt idx="0">Point 1</cx:pt>
          <cx:pt idx="1">Point 2</cx:pt>
          <cx:pt idx="2">Point 3</cx:pt>
          <cx:pt idx="3">Point 4</cx:pt>
          <cx:pt idx="4">Point 5</cx:pt>
          <cx:pt idx="5">Point 6</cx:pt>
          <cx:pt idx="6">Point 7</cx:pt>
          <cx:pt idx="7">Point 8</cx:pt>
          <cx:pt idx="8">Point 9</cx:pt>
          <cx:pt idx="9">Point 10</cx:pt>
        </cx:lvl>
      </cx:strDim>
      <cx:numDim type="val">
        <cx:lvl ptCount="10">
          <cx:pt idx="0">1</cx:pt>
          <cx:pt idx="1">1</cx:pt>
          <cx:pt idx="2">2</cx:pt>
          <cx:pt idx="3">3</cx:pt>
          <cx:pt idx="4">3</cx:pt>
          <cx:pt idx="5">3</cx:pt>
          <cx:pt idx="6">4</cx:pt>
          <cx:pt idx="7">4</cx:pt>
          <cx:pt idx="8">5</cx:pt>
          <cx:pt idx="9">8</cx:pt>
        </cx:lvl>
      </cx:numDim>
    </cx:data>
  </cx:chartData>
  <cx:chart>
    <cx:title>
      <cx:tx>
        <cx:rich>
          <a:bodyPr/>
          <a:p>
            <a:r>
              <a:t>regionMap</a:t>
            </a:r>
          </a:p>
        </cx:rich>
      </cx:tx>
    </cx:title>
    <cx:plotArea>
      <cx:plotAreaRegion>
        <cx:series layoutId="regionMap" formatIdx="0">
          <cx:tx>
            <cx:txData>
              <cx:v>Series 1</cx:v>
            </cx:txData>
          </cx:tx>
          <cx:dataId val="0"/>
          <cx:layoutPr/>
        </cx:series>
      </cx:plotAreaRegion>
    </cx:plotArea>
  </cx:chart>
</cx:chartSpace>
</file>

<file path=ppt/comments/comment1.xml><?xml version="1.0" encoding="utf-8"?>
<p:cmLst xmlns:p="http://schemas.openxmlformats.org/presentationml/2006/main">
  <p:cm authorId="0" dt="2026-01-02T03:04:05Z" idx="1">
    <p:pos x="952500" y="952500"/>
    <p:text>第一条 &lt;script&gt; &amp; English</p:text>
    <p:extLst>
      <p:ext uri="comments-fixture">
        <keep:data xmlns:keep="urn:comments-test"/>
      </p:ext>
    </p:extLst>
  </p:cm>
  <p:cm authorId="1" idx="1">
    <p:pos x="-95250" y="4762500"/>
    <p:text>第二条
保留换行</p:text>
  </p:cm>
</p:cmLst>
</file>

<file path=ppt/comments/comment2.xml><?xml version="1.0" encoding="utf-8"?>
<p:cmLst xmlns:p="http://schemas.openxmlformats.org/presentationml/2006/main">
  <p:cm authorId="0" idx="3">
    <p:pos x="1905000" y="1905000"/>
    <p:text>跨页批注</p:text>
  </p:cm>
</p:cmLst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Chart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 b="1">
          <a:solidFill>
            <a:schemeClr val="tx2"/>
          </a:solidFill>
          <a:latin typeface="+mj-lt"/>
          <a:ea typeface="+mj-ea"/>
        </a:defRPr>
      </a:lvl1pPr>
    </p:titleStyle>
    <p:bodyStyle>
      <a:lvl1pPr>
        <a:defRPr sz="1800">
          <a:solidFill>
            <a:schemeClr val="tx1"/>
          </a:solidFill>
        </a:defRPr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Modern" Type="http://schemas.microsoft.com/office/2014/relationships/chartEx" Target="../charts/chartEx1.xml"/><Relationship Id="rIdModernPreview" Type="http://schemas.openxmlformats.org/officeDocument/2006/relationships/image" Target="../media/chartex.png"/><Relationship Id="rIdComments" Type="http://schemas.openxmlformats.org/officeDocument/2006/relationships/comments" Target="../comments/commen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Modern" Type="http://schemas.microsoft.com/office/2014/relationships/chartEx" Target="../charts/chartEx2.xml"/><Relationship Id="rIdModernPreview" Type="http://schemas.openxmlformats.org/officeDocument/2006/relationships/image" Target="../media/chartex.png"/><Relationship Id="rIdComments" Type="http://schemas.openxmlformats.org/officeDocument/2006/relationships/comments" Target="../comments/commen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Modern" Type="http://schemas.microsoft.com/office/2014/relationships/chartEx" Target="../charts/chartEx3.xml"/><Relationship Id="rIdModernPreview" Type="http://schemas.openxmlformats.org/officeDocument/2006/relationships/image" Target="../media/chartex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Modern" Type="http://schemas.microsoft.com/office/2014/relationships/chartEx" Target="../charts/chartEx4.xml"/><Relationship Id="rIdModernPreview" Type="http://schemas.openxmlformats.org/officeDocument/2006/relationships/image" Target="../media/chartex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Modern" Type="http://schemas.microsoft.com/office/2014/relationships/chartEx" Target="../charts/chartEx5.xml"/><Relationship Id="rIdModernPreview" Type="http://schemas.openxmlformats.org/officeDocument/2006/relationships/image" Target="../media/chartex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Modern" Type="http://schemas.microsoft.com/office/2014/relationships/chartEx" Target="../charts/chartEx6.xml"/><Relationship Id="rIdModernPreview" Type="http://schemas.openxmlformats.org/officeDocument/2006/relationships/image" Target="../media/chartex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Modern" Type="http://schemas.microsoft.com/office/2014/relationships/chartEx" Target="../charts/chartEx7.xml"/><Relationship Id="rIdModernPreview" Type="http://schemas.openxmlformats.org/officeDocument/2006/relationships/image" Target="../media/charte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Modern" Type="http://schemas.microsoft.com/office/2014/relationships/chartEx" Target="../charts/chartEx8.xml"/><Relationship Id="rIdModernPreview" Type="http://schemas.openxmlformats.org/officeDocument/2006/relationships/image" Target="../media/chartex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MixedImage" Type="http://schemas.openxmlformats.org/officeDocument/2006/relationships/image" Target="../media/ramp.png"/><Relationship Id="rIdMixedaudio" Type="http://schemas.openxmlformats.org/officeDocument/2006/relationships/audio" Target="../media/mixed.wav"/><Relationship Id="rIdMixedvideo" Type="http://schemas.openxmlformats.org/officeDocument/2006/relationships/video" Target="../media/mixed.mp4"/><Relationship Id="rIdMixedPoster" Type="http://schemas.openxmlformats.org/officeDocument/2006/relationships/image" Target="../media/chartex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簇状柱状图 · 数据标签 / 网格线 / 轴标题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762000" y="1143000"/>
          <a:ext cx="10668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treemap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treemap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百分比堆叠柱 + 堆叠条形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4572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1"/>
          <p:cNvGraphicFramePr/>
          <p:nvPr/>
        </p:nvGraphicFramePr>
        <p:xfrm>
          <a:off x="60960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sunburst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sunburst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折线图 · 标记 / 平滑 / 缺口 / 负值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762000" y="1143000"/>
          <a:ext cx="10668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histogram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histogram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饼图 + 环形图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4572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1"/>
          <p:cNvGraphicFramePr/>
          <p:nvPr/>
        </p:nvGraphicFramePr>
        <p:xfrm>
          <a:off x="60960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pareto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pareto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散点图 · 双数值轴 / 负值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762000" y="1143000"/>
          <a:ext cx="10668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boxWhisker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boxWhisker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堆叠面积 + 雷达图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457200" y="1143000"/>
          <a:ext cx="6858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1"/>
          <p:cNvGraphicFramePr/>
          <p:nvPr/>
        </p:nvGraphicFramePr>
        <p:xfrm>
          <a:off x="7620000" y="1143000"/>
          <a:ext cx="3810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waterfall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waterfall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雷达图：标记 / 填充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457200" y="1143000"/>
          <a:ext cx="54864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1"/>
          <p:cNvGraphicFramePr/>
          <p:nvPr/>
        </p:nvGraphicFramePr>
        <p:xfrm>
          <a:off x="6248400" y="1143000"/>
          <a:ext cx="51816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funnel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funnel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次坐标轴 · 柱状（销量）+ 折线（增长率 %）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762000" y="1143000"/>
          <a:ext cx="10668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modern="http://schemas.microsoft.com/office/drawing/2015/10/21/chartex">
        <mc:Choice Requires="modern">
          <p:graphicFrame>
            <p:nvGraphicFramePr>
              <p:cNvPr id="906" name="regionMap"/>
              <p:cNvGraphicFramePr/>
              <p:nvPr/>
            </p:nvGraphicFramePr>
            <p:xfrm>
              <a:off x="285750" y="285750"/>
              <a:ext cx="5524500" cy="3429000"/>
            </p:xfrm>
            <a:graphic>
              <a:graphicData uri="http://schemas.microsoft.com/office/drawing/2014/chartex">
                <cx:chart xmlns:cx="http://schemas.microsoft.com/office/drawing/2014/chartex" r:id="rIdModern"/>
              </a:graphicData>
            </a:graphic>
          </p:graphicFrame>
        </mc:Choice>
        <mc:Fallback>
          <p:pic>
            <p:nvPicPr>
              <p:cNvPr id="906" name="regionMap"/>
              <p:cNvPicPr/>
              <p:nvPr/>
            </p:nvPicPr>
            <p:blipFill>
              <a:blip r:embed="rIdModernPreview"/>
              <a:stretch>
                <a:fillRect/>
              </a:stretch>
            </p:blipFill>
            <p:spPr>
              <a:xfrm>
                <a:off x="285750" y="285750"/>
                <a:ext cx="5524500" cy="3429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3D 柱状图 · 簇状 / 堆叠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4572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1"/>
          <p:cNvGraphicFramePr/>
          <p:nvPr/>
        </p:nvGraphicFramePr>
        <p:xfrm>
          <a:off x="60960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1" name="plain-shape"/>
          <p:cNvSpPr/>
          <p:nvPr/>
        </p:nvSpPr>
        <p:spPr>
          <a:xfrm>
            <a:off x="381000" y="381000"/>
            <a:ext cx="1905000" cy="952500"/>
          </a:xfrm>
          <a:prstGeom prst="rect">
            <a:avLst/>
          </a:prstGeom>
          <a:solidFill>
            <a:srgbClr val="4285F4"/>
          </a:solidFill>
        </p:spPr>
        <p:txBody>
          <a:bodyPr anchor="ctr"/>
          <a:lstStyle/>
          <a:p>
            <a:endParaRPr/>
          </a:p>
        </p:txBody>
      </p:sp>
      <p:sp>
        <p:nvSpPr>
          <p:cNvPr id="102" name="rich-shape"/>
          <p:cNvSpPr/>
          <p:nvPr/>
        </p:nvSpPr>
        <p:spPr>
          <a:xfrm>
            <a:off x="3238500" y="381000"/>
            <a:ext cx="1905000" cy="952500"/>
          </a:xfrm>
          <a:prstGeom prst="rect">
            <a:avLst/>
          </a:prstGeom>
          <a:solidFill>
            <a:srgbClr val="F97316"/>
          </a:solidFill>
          <a:scene3d>
            <a:camera prst="orthographicFront"/>
            <a:lightRig rig="threePt" dir="t"/>
          </a:scene3d>
          <a:sp3d extrusionH="95250" prstMaterial="metal">
            <a:bevelT w="38100" h="38100"/>
          </a:sp3d>
        </p:spPr>
        <p:txBody>
          <a:bodyPr anchor="ctr"/>
          <a:lstStyle/>
          <a:p>
            <a:endParaRPr/>
          </a:p>
        </p:txBody>
      </p:sp>
      <p:pic>
        <p:nvPicPr>
          <p:cNvPr id="901" name="picture-901" descr="灰阶渐变图片"/>
          <p:cNvPicPr/>
          <p:nvPr/>
        </p:nvPicPr>
        <p:blipFill>
          <a:blip r:embed="rIdMixedImage">
            <a:extLst>
              <a:ext uri="appearance-test">
                <test:keep xmlns:test="urn:appearance"/>
              </a:ext>
            </a:extLst>
          </a:blip>
          <a:srcRect l="10000"/>
          <a:stretch>
            <a:fillRect/>
          </a:stretch>
        </p:blipFill>
        <p:spPr>
          <a:xfrm>
            <a:off x="381000" y="1714500"/>
            <a:ext cx="1524000" cy="952500"/>
          </a:xfrm>
          <a:prstGeom prst="rect">
            <a:avLst/>
          </a:prstGeom>
        </p:spPr>
      </p:pic>
      <p:pic>
        <p:nvPicPr>
          <p:cNvPr id="902" name="picture-902" descr="灰阶渐变图片"/>
          <p:cNvPicPr/>
          <p:nvPr/>
        </p:nvPicPr>
        <p:blipFill>
          <a:blip r:embed="rIdMixedImage">
            <a:alphaModFix amt="60000"/>
            <a:grayscl/>
            <a:extLst>
              <a:ext uri="appearance-test">
                <test:keep xmlns:test="urn:appearance"/>
              </a:ext>
            </a:extLst>
          </a:blip>
          <a:srcRect l="10000"/>
          <a:stretch>
            <a:fillRect/>
          </a:stretch>
        </p:blipFill>
        <p:spPr>
          <a:xfrm>
            <a:off x="2286000" y="1714500"/>
            <a:ext cx="1524000" cy="952500"/>
          </a:xfrm>
          <a:prstGeom prst="rect">
            <a:avLst/>
          </a:prstGeom>
        </p:spPr>
      </p:pic>
      <p:pic>
        <p:nvPicPr>
          <p:cNvPr id="903" name="picture-903" descr="灰阶渐变图片"/>
          <p:cNvPicPr/>
          <p:nvPr/>
        </p:nvPicPr>
        <p:blipFill>
          <a:blip r:embed="rIdMixedImage">
            <a:duotone>
              <a:srgbClr val="112233"/>
              <a:srgbClr val="FFEEDD"/>
            </a:duotone>
            <a:extLst>
              <a:ext uri="appearance-test">
                <test:keep xmlns:test="urn:appearance"/>
              </a:ext>
            </a:extLst>
          </a:blip>
          <a:srcRect l="10000"/>
          <a:stretch>
            <a:fillRect/>
          </a:stretch>
        </p:blipFill>
        <p:spPr>
          <a:xfrm>
            <a:off x="4191000" y="1714500"/>
            <a:ext cx="1524000" cy="952500"/>
          </a:xfrm>
          <a:prstGeom prst="rect">
            <a:avLst/>
          </a:prstGeom>
        </p:spPr>
      </p:pic>
      <p:pic>
        <p:nvPicPr>
          <p:cNvPr id="970" name="mixed-audio"/>
          <p:cNvPicPr/>
          <p:nvPr>
            <a:audioFile r:link="rIdMixedaudio"/>
          </p:nvPr>
        </p:nvPicPr>
        <p:blipFill>
          <a:blip r:embed="rIdMixedPoster"/>
          <a:stretch>
            <a:fillRect/>
          </a:stretch>
        </p:blipFill>
        <p:spPr>
          <a:xfrm>
            <a:off x="6858000" y="4953000"/>
            <a:ext cx="1143000" cy="762000"/>
          </a:xfrm>
          <a:prstGeom prst="rect">
            <a:avLst/>
          </a:prstGeom>
        </p:spPr>
      </p:pic>
      <p:pic>
        <p:nvPicPr>
          <p:cNvPr id="971" name="mixed-video"/>
          <p:cNvPicPr/>
          <p:nvPr>
            <a:videoFile r:link="rIdMixedvideo"/>
          </p:nvPr>
        </p:nvPicPr>
        <p:blipFill>
          <a:blip r:embed="rIdMixedPoster"/>
          <a:stretch>
            <a:fillRect/>
          </a:stretch>
        </p:blipFill>
        <p:spPr>
          <a:xfrm>
            <a:off x="8382000" y="4953000"/>
            <a:ext cx="11430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609600" y="228600"/>
            <a:ext cx="10972800" cy="742950"/>
          </a:xfrm>
        </p:spPr>
        <p:txBody>
          <a:bodyPr anchor="ctr"/>
          <a:lstStyle/>
          <a:p>
            <a:r>
              <a:rPr sz="2800"/>
              <a:t>3D 饼图 + 3D 折线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4572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1"/>
          <p:cNvGraphicFramePr/>
          <p:nvPr/>
        </p:nvGraphicFramePr>
        <p:xfrm>
          <a:off x="6096000" y="1143000"/>
          <a:ext cx="5334000" cy="518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ChartFixture">
  <a:themeElements>
    <a:clrScheme name="ChartFixture">
      <a:dk1>
        <a:sysClr val="windowText" lastClr="20242B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hartFixtur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ChartFixtur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