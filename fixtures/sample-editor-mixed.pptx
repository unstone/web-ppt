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theme/theme1.xml" ContentType="application/vnd.openxmlformats-officedocument.theme+xml"/>
  <Default Extension="png" ContentType="image/png"/>
  <Override PartName="/ppt/charts/chartEx1.xml" ContentType="application/vnd.ms-office.chartex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sz="1800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年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1280</c:v>
                </c:pt>
                <c:pt idx="1">
                  <c:v>1640</c:v>
                </c:pt>
                <c:pt idx="3">
                  <c:v>2050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年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1510</c:v>
                </c:pt>
                <c:pt idx="1">
                  <c:v>1390</c:v>
                </c:pt>
                <c:pt idx="2">
                  <c:v>1880</c:v>
                </c:pt>
                <c:pt idx="3">
                  <c:v>2360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渠道占比（百分比堆叠）</a:t>
            </a:r>
          </a:p>
        </c:rich>
      </c:tx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直营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4"/>
                <c:pt idx="0">
                  <c:v>420</c:v>
                </c:pt>
                <c:pt idx="1">
                  <c:v>500</c:v>
                </c:pt>
                <c:pt idx="2">
                  <c:v>380</c:v>
                </c:pt>
                <c:pt idx="3">
                  <c:v>610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分销</c:v>
                </c:pt>
              </c:strCache>
            </c:strRef>
          </c:tx>
          <c:spPr>
            <a:solidFill>
              <a:schemeClr val="accent4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4"/>
                <c:pt idx="0">
                  <c:v>300</c:v>
                </c:pt>
                <c:pt idx="1">
                  <c:v>260</c:v>
                </c:pt>
                <c:pt idx="2">
                  <c:v>420</c:v>
                </c:pt>
                <c:pt idx="3">
                  <c:v>350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线上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4"/>
                <c:pt idx="0">
                  <c:v>180</c:v>
                </c:pt>
                <c:pt idx="1">
                  <c:v>340</c:v>
                </c:pt>
                <c:pt idx="2">
                  <c:v>260</c:v>
                </c:pt>
                <c:pt idx="3">
                  <c:v>480</c:v>
                </c:pt>
              </c:numCache>
            </c:numRef>
          </c:val>
          <c:smooth val="0"/>
        </c:ser>
        <c:gapWidth val="80"/>
        <c:overlap val="100"/>
        <c:axId val="201"/>
        <c:axId val="202"/>
      </c:barChart>
      <c:catAx>
        <c:axId val="201"/>
        <c:scaling>
          <c:orientation val="minMax"/>
        </c:scaling>
        <c:delete val="0"/>
        <c:axPos val="b"/>
        <c:crossAx val="202"/>
        <c:crosses val="autoZero"/>
        <c:auto val="1"/>
        <c:lblAlgn val="ctr"/>
        <c:lblOffset val="100"/>
        <c:noMultiLvlLbl val="0"/>
      </c:catAx>
      <c:valAx>
        <c:axId val="202"/>
        <c:scaling>
          <c:orientation val="minMax"/>
        </c:scaling>
        <c:delete val="0"/>
        <c:axPos val="l"/>
        <c:majorGridlines/>
        <c:numFmt formatCode="0%" sourceLinked="0"/>
        <c:crossAx val="20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人力投入（堆叠条形）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研发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3"/>
                <c:pt idx="0">
                  <c:v>平台</c:v>
                </c:pt>
                <c:pt idx="1">
                  <c:v>交付</c:v>
                </c:pt>
                <c:pt idx="2">
                  <c:v>增长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3"/>
                <c:pt idx="0">
                  <c:v>18</c:v>
                </c:pt>
                <c:pt idx="1">
                  <c:v>9</c:v>
                </c:pt>
                <c:pt idx="2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设计</c:v>
                </c:pt>
              </c:strCache>
            </c:strRef>
          </c:tx>
          <c:spPr>
            <a:solidFill>
              <a:schemeClr val="accent3"/>
            </a:solidFill>
          </c:spPr>
          <c:cat>
            <c:strRef>
              <c:f>Sheet1!$A$2:$A$9</c:f>
              <c:strCache>
                <c:ptCount val="3"/>
                <c:pt idx="0">
                  <c:v>平台</c:v>
                </c:pt>
                <c:pt idx="1">
                  <c:v>交付</c:v>
                </c:pt>
                <c:pt idx="2">
                  <c:v>增长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7</c:v>
                </c:pt>
              </c:numCache>
            </c:numRef>
          </c:val>
          <c:smooth val="0"/>
        </c:ser>
        <c:gapWidth val="60"/>
        <c:overlap val="100"/>
        <c:axId val="301"/>
        <c:axId val="302"/>
      </c:barChart>
      <c:catAx>
        <c:axId val="301"/>
        <c:scaling>
          <c:orientation val="minMax"/>
        </c:scaling>
        <c:delete val="0"/>
        <c:axPos val="l"/>
        <c:crossAx val="302"/>
      </c:catAx>
      <c:valAx>
        <c:axId val="302"/>
        <c:scaling>
          <c:orientation val="minMax"/>
        </c:scaling>
        <c:delete val="0"/>
        <c:axPos val="b"/>
        <c:majorGridlines/>
        <c:crossAx val="3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月度净增（折线 + 标记）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新增用户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circle"/>
            <c:size val="7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120</c:v>
                </c:pt>
                <c:pt idx="1">
                  <c:v>168</c:v>
                </c:pt>
                <c:pt idx="2">
                  <c:v>145</c:v>
                </c:pt>
                <c:pt idx="3">
                  <c:v>210</c:v>
                </c:pt>
                <c:pt idx="4">
                  <c:v>198</c:v>
                </c:pt>
                <c:pt idx="5">
                  <c:v>265</c:v>
                </c:pt>
                <c:pt idx="6">
                  <c:v>240</c:v>
                </c:pt>
                <c:pt idx="7">
                  <c:v>310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净增（含流失）</c:v>
                </c:pt>
              </c:strCache>
            </c:strRef>
          </c:tx>
          <c:spPr>
            <a:ln w="28575">
              <a:solidFill>
                <a:schemeClr val="accent2"/>
              </a:solidFill>
            </a:ln>
          </c:spPr>
          <c:marker>
            <c:symbol val="diamond"/>
            <c:size val="7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40</c:v>
                </c:pt>
                <c:pt idx="1">
                  <c:v>-18</c:v>
                </c:pt>
                <c:pt idx="2">
                  <c:v>62</c:v>
                </c:pt>
                <c:pt idx="4">
                  <c:v>30</c:v>
                </c:pt>
                <c:pt idx="5">
                  <c:v>96</c:v>
                </c:pt>
                <c:pt idx="6">
                  <c:v>-12</c:v>
                </c:pt>
                <c:pt idx="7">
                  <c:v>140</c:v>
                </c:pt>
              </c:numCache>
            </c:numRef>
          </c:val>
          <c:smooth val="1"/>
        </c:ser>
        <c:marker val="1"/>
        <c:axId val="401"/>
        <c:axId val="402"/>
      </c:lineChart>
      <c:catAx>
        <c:axId val="401"/>
        <c:scaling>
          <c:orientation val="minMax"/>
        </c:scaling>
        <c:delete val="0"/>
        <c:axPos val="b"/>
        <c:crossAx val="402"/>
        <c:crosses val="autoZero"/>
        <c:auto val="1"/>
        <c:lblAlgn val="ctr"/>
        <c:lblOffset val="100"/>
        <c:noMultiLvlLbl val="0"/>
      </c:catAx>
      <c:valAx>
        <c:axId val="402"/>
        <c:scaling>
          <c:orientation val="minMax"/>
        </c:scaling>
        <c:delete val="0"/>
        <c:axPos val="l"/>
        <c:majorGridlines/>
        <c:numFmt formatCode="#,##0" sourceLinked="0"/>
        <c:crossAx val="401"/>
        <c:crosses val="autoZero"/>
        <c:crossBetween val="between"/>
      </c:valAx>
    </c:plotArea>
    <c:legend>
      <c:legendPos val="t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区域收入分布（饼图）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2025 年</c:v>
                </c:pt>
              </c:strCache>
            </c:strRef>
          </c:tx>
          <c:dPt>
            <c:idx val="0"/>
            <c:bubble3D val="0"/>
            <c:explosion val="12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chemeClr val="accent6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</c:spPr>
            <c:txPr>
              <a:bodyPr/>
              <a:lstStyle/>
              <a:p>
                <a:pPr>
                  <a:defRPr sz="900"/>
                </a:pPr>
                <a:endParaRPr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Sheet1!$A$2:$A$6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3200</c:v>
                </c:pt>
                <c:pt idx="1">
                  <c:v>2400</c:v>
                </c:pt>
                <c:pt idx="2">
                  <c:v>1800</c:v>
                </c:pt>
                <c:pt idx="3">
                  <c:v>900</c:v>
                </c:pt>
                <c:pt idx="4">
                  <c:v>700</c:v>
                </c:pt>
              </c:numCache>
            </c:numRef>
          </c:val>
        </c:ser>
        <c:firstSliceAng val="0"/>
      </c:pieChart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两年对比（环形图）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2024</c:v>
                </c:pt>
              </c:strCache>
            </c:strRef>
          </c:tx>
          <c:cat>
            <c:strRef>
              <c:f>Sheet1!$A$2:$A$9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5"/>
                <c:pt idx="0">
                  <c:v>2800</c:v>
                </c:pt>
                <c:pt idx="1">
                  <c:v>2100</c:v>
                </c:pt>
                <c:pt idx="2">
                  <c:v>1500</c:v>
                </c:pt>
                <c:pt idx="3">
                  <c:v>800</c:v>
                </c:pt>
                <c:pt idx="4">
                  <c:v>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Sheet1!$A$2:$A$9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5"/>
                <c:pt idx="0">
                  <c:v>3200</c:v>
                </c:pt>
                <c:pt idx="1">
                  <c:v>2400</c:v>
                </c:pt>
                <c:pt idx="2">
                  <c:v>1800</c:v>
                </c:pt>
                <c:pt idx="3">
                  <c:v>900</c:v>
                </c:pt>
                <c:pt idx="4">
                  <c:v>700</c:v>
                </c:pt>
              </c:numCache>
            </c:numRef>
          </c:val>
          <c:smooth val="0"/>
        </c:ser>
        <c:firstSliceAng val="0"/>
        <c:holeSize val="45"/>
      </c:doughnutChart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投放效率（散点图）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A 组</c:v>
                </c:pt>
              </c:strCache>
            </c:strRef>
          </c:tx>
          <c:spPr>
            <a:ln w="19050">
              <a:solidFill>
                <a:schemeClr val="accent1"/>
              </a:solidFill>
            </a:ln>
          </c:spPr>
          <c:marker>
            <c:symbol val="circle"/>
            <c:size val="6"/>
          </c:marker>
          <c:xVal>
            <c:numRef>
              <c:f>Sheet1!$A$2:$A$9</c:f>
              <c:numCache>
                <c:formatCode>0.0</c:formatCode>
                <c:ptCount val="7"/>
                <c:pt idx="0">
                  <c:v>-4</c:v>
                </c:pt>
                <c:pt idx="1">
                  <c:v>-2</c:v>
                </c:pt>
                <c:pt idx="2">
                  <c:v>0</c:v>
                </c:pt>
                <c:pt idx="3">
                  <c:v>1.5</c:v>
                </c:pt>
                <c:pt idx="4">
                  <c:v>3</c:v>
                </c:pt>
                <c:pt idx="5">
                  <c:v>5.5</c:v>
                </c:pt>
                <c:pt idx="6">
                  <c:v>8</c:v>
                </c:pt>
              </c:numCache>
            </c:numRef>
          </c:xVal>
          <c:yVal>
            <c:numRef>
              <c:f>Sheet1!$B$2:$B$9</c:f>
              <c:numCache>
                <c:formatCode>0.00</c:formatCode>
                <c:ptCount val="7"/>
                <c:pt idx="0">
                  <c:v>-2.4</c:v>
                </c:pt>
                <c:pt idx="1">
                  <c:v>-0.8</c:v>
                </c:pt>
                <c:pt idx="2">
                  <c:v>0.6</c:v>
                </c:pt>
                <c:pt idx="3">
                  <c:v>1.9</c:v>
                </c:pt>
                <c:pt idx="4">
                  <c:v>2.4</c:v>
                </c:pt>
                <c:pt idx="5">
                  <c:v>3.8</c:v>
                </c:pt>
                <c:pt idx="6">
                  <c:v>4.1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B 组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7"/>
          </c:marker>
          <c:xVal>
            <c:numRef>
              <c:f>Sheet1!$A$2:$A$9</c:f>
              <c:numCache>
                <c:formatCode>0.0</c:formatCode>
                <c:ptCount val="7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2.5</c:v>
                </c:pt>
                <c:pt idx="4">
                  <c:v>4</c:v>
                </c:pt>
                <c:pt idx="5">
                  <c:v>6</c:v>
                </c:pt>
                <c:pt idx="6">
                  <c:v>7.5</c:v>
                </c:pt>
              </c:numCache>
            </c:numRef>
          </c:xVal>
          <c:yVal>
            <c:numRef>
              <c:f>Sheet1!$B$2:$B$9</c:f>
              <c:numCache>
                <c:formatCode>0.00</c:formatCode>
                <c:ptCount val="7"/>
                <c:pt idx="0">
                  <c:v>1.2</c:v>
                </c:pt>
                <c:pt idx="1">
                  <c:v>2.6</c:v>
                </c:pt>
                <c:pt idx="2">
                  <c:v>0.4</c:v>
                </c:pt>
                <c:pt idx="3">
                  <c:v>-1.1</c:v>
                </c:pt>
                <c:pt idx="4">
                  <c:v>3.2</c:v>
                </c:pt>
                <c:pt idx="5">
                  <c:v>1.4</c:v>
                </c:pt>
                <c:pt idx="6">
                  <c:v>5.2</c:v>
                </c:pt>
              </c:numCache>
            </c:numRef>
          </c:yVal>
          <c:smooth val="0"/>
        </c:ser>
        <c:axId val="701"/>
        <c:axId val="702"/>
      </c:scatterChart>
      <c:valAx>
        <c:axId val="701"/>
        <c:scaling>
          <c:orientation val="minMax"/>
        </c:scaling>
        <c:delete val="0"/>
        <c:axPos val="b"/>
        <c:majorGridlines/>
        <c:numFmt formatCode="0.0" sourceLinked="0"/>
        <c:crossAx val="702"/>
        <c:crosses val="autoZero"/>
        <c:crossBetween val="between"/>
      </c:valAx>
      <c:valAx>
        <c:axId val="702"/>
        <c:scaling>
          <c:orientation val="minMax"/>
        </c:scaling>
        <c:delete val="0"/>
        <c:axPos val="l"/>
        <c:majorGridlines/>
        <c:numFmt formatCode="0.00" sourceLinked="0"/>
        <c:crossAx val="7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负载构成（堆叠面积）</a:t>
            </a:r>
          </a:p>
        </c:rich>
      </c:tx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CPU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28</c:v>
                </c:pt>
                <c:pt idx="2">
                  <c:v>26</c:v>
                </c:pt>
                <c:pt idx="3">
                  <c:v>35</c:v>
                </c:pt>
                <c:pt idx="4">
                  <c:v>30</c:v>
                </c:pt>
                <c:pt idx="5">
                  <c:v>42</c:v>
                </c:pt>
                <c:pt idx="6">
                  <c:v>38</c:v>
                </c:pt>
                <c:pt idx="7">
                  <c:v>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内存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18</c:v>
                </c:pt>
                <c:pt idx="2">
                  <c:v>24</c:v>
                </c:pt>
                <c:pt idx="3">
                  <c:v>20</c:v>
                </c:pt>
                <c:pt idx="4">
                  <c:v>27</c:v>
                </c:pt>
                <c:pt idx="5">
                  <c:v>25</c:v>
                </c:pt>
                <c:pt idx="6">
                  <c:v>33</c:v>
                </c:pt>
                <c:pt idx="7">
                  <c:v>30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IO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6</c:v>
                </c:pt>
                <c:pt idx="2">
                  <c:v>12</c:v>
                </c:pt>
                <c:pt idx="3">
                  <c:v>9</c:v>
                </c:pt>
                <c:pt idx="4">
                  <c:v>14</c:v>
                </c:pt>
                <c:pt idx="5">
                  <c:v>11</c:v>
                </c:pt>
                <c:pt idx="6">
                  <c:v>16</c:v>
                </c:pt>
                <c:pt idx="7">
                  <c:v>19</c:v>
                </c:pt>
              </c:numCache>
            </c:numRef>
          </c:val>
          <c:smooth val="0"/>
        </c:ser>
        <c:axId val="801"/>
        <c:axId val="802"/>
      </c:areaChart>
      <c:catAx>
        <c:axId val="801"/>
        <c:scaling>
          <c:orientation val="minMax"/>
        </c:scaling>
        <c:delete val="0"/>
        <c:axPos val="b"/>
        <c:crossAx val="802"/>
      </c:catAx>
      <c:valAx>
        <c:axId val="802"/>
        <c:scaling>
          <c:orientation val="minMax"/>
        </c:scaling>
        <c:delete val="0"/>
        <c:axPos val="l"/>
        <c:majorGridlines/>
        <c:numFmt formatCode="0" sourceLinked="0"/>
        <c:crossAx val="8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能力雷达（多系列）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strRef>
              <c:f>Sheet1!$A$1</c:f>
              <c:strCache>
                <c:ptCount val="1"/>
                <c:pt idx="0">
                  <c:v>当前版本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70</c:v>
                </c:pt>
                <c:pt idx="1">
                  <c:v>85</c:v>
                </c:pt>
                <c:pt idx="2">
                  <c:v>60</c:v>
                </c:pt>
                <c:pt idx="3">
                  <c:v>90</c:v>
                </c:pt>
                <c:pt idx="4">
                  <c:v>75</c:v>
                </c:pt>
                <c:pt idx="5">
                  <c:v>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目标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90</c:v>
                </c:pt>
                <c:pt idx="1">
                  <c:v>95</c:v>
                </c:pt>
                <c:pt idx="2">
                  <c:v>80</c:v>
                </c:pt>
                <c:pt idx="3">
                  <c:v>95</c:v>
                </c:pt>
                <c:pt idx="4">
                  <c:v>88</c:v>
                </c:pt>
                <c:pt idx="5">
                  <c:v>85</c:v>
                </c:pt>
              </c:numCache>
            </c:numRef>
          </c:val>
          <c:smooth val="0"/>
        </c:ser>
        <c:axId val="901"/>
        <c:axId val="902"/>
      </c:radarChart>
      <c:catAx>
        <c:axId val="901"/>
        <c:scaling>
          <c:orientation val="minMax"/>
        </c:scaling>
        <c:delete val="0"/>
        <c:axPos val="b"/>
        <c:crossAx val="902"/>
        <c:crosses val="autoZero"/>
        <c:auto val="1"/>
        <c:lblAlgn val="ctr"/>
        <c:lblOffset val="100"/>
        <c:noMultiLvlLbl val="0"/>
      </c:catAx>
      <c:valAx>
        <c:axId val="902"/>
        <c:scaling>
          <c:orientation val="minMax"/>
        </c:scaling>
        <c:delete val="0"/>
        <c:axPos val="l"/>
        <c:majorGridlines/>
        <c:crossAx val="90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能力雷达（多系列）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strRef>
              <c:f>Sheet1!$A$1</c:f>
              <c:strCache>
                <c:ptCount val="1"/>
                <c:pt idx="0">
                  <c:v>当前版本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70</c:v>
                </c:pt>
                <c:pt idx="1">
                  <c:v>85</c:v>
                </c:pt>
                <c:pt idx="2">
                  <c:v>60</c:v>
                </c:pt>
                <c:pt idx="3">
                  <c:v>90</c:v>
                </c:pt>
                <c:pt idx="4">
                  <c:v>75</c:v>
                </c:pt>
                <c:pt idx="5">
                  <c:v>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目标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90</c:v>
                </c:pt>
                <c:pt idx="1">
                  <c:v>95</c:v>
                </c:pt>
                <c:pt idx="2">
                  <c:v>80</c:v>
                </c:pt>
                <c:pt idx="3">
                  <c:v>95</c:v>
                </c:pt>
                <c:pt idx="4">
                  <c:v>88</c:v>
                </c:pt>
                <c:pt idx="5">
                  <c:v>85</c:v>
                </c:pt>
              </c:numCache>
            </c:numRef>
          </c:val>
          <c:smooth val="0"/>
        </c:ser>
        <c:axId val="901"/>
        <c:axId val="902"/>
      </c:radarChart>
      <c:catAx>
        <c:axId val="901"/>
        <c:scaling>
          <c:orientation val="minMax"/>
        </c:scaling>
        <c:delete val="0"/>
        <c:axPos val="b"/>
        <c:crossAx val="902"/>
        <c:crosses val="autoZero"/>
        <c:auto val="1"/>
        <c:lblAlgn val="ctr"/>
        <c:lblOffset val="100"/>
        <c:noMultiLvlLbl val="0"/>
      </c:catAx>
      <c:valAx>
        <c:axId val="902"/>
        <c:scaling>
          <c:orientation val="minMax"/>
        </c:scaling>
        <c:delete val="0"/>
        <c:axPos val="l"/>
        <c:majorGridlines/>
        <c:crossAx val="90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v>直营</c:v>
          </c:tx>
          <c:xVal>
            <c:numRef>
              <c:f>Sheet1!$A$2:$A$5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v>渠道</c:v>
          </c:tx>
          <c:xVal>
            <c:numRef>
              <c:f>Sheet1!$A$2:$A$5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销量与同比增长率（主次坐标轴）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销量（台）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Sheet1!$A$2:$A$9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6"/>
                <c:pt idx="0">
                  <c:v>1180</c:v>
                </c:pt>
                <c:pt idx="1">
                  <c:v>1420</c:v>
                </c:pt>
                <c:pt idx="2">
                  <c:v>1360</c:v>
                </c:pt>
                <c:pt idx="3">
                  <c:v>1980</c:v>
                </c:pt>
                <c:pt idx="4">
                  <c:v>2240</c:v>
                </c:pt>
                <c:pt idx="5">
                  <c:v>2610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目标（台）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6"/>
                <c:pt idx="0">
                  <c:v>1200</c:v>
                </c:pt>
                <c:pt idx="1">
                  <c:v>1400</c:v>
                </c:pt>
                <c:pt idx="2">
                  <c:v>1600</c:v>
                </c:pt>
                <c:pt idx="3">
                  <c:v>1800</c:v>
                </c:pt>
                <c:pt idx="4">
                  <c:v>2100</c:v>
                </c:pt>
                <c:pt idx="5">
                  <c:v>2400</c:v>
                </c:pt>
              </c:numCache>
            </c:numRef>
          </c:val>
          <c:smooth val="0"/>
        </c:ser>
        <c:gapWidth val="100"/>
        <c:overlap val="-15"/>
        <c:axId val="1001"/>
        <c:axId val="1002"/>
      </c:barChart>
      <c:lineChart>
        <c:grouping val="standard"/>
        <c:varyColors val="0"/>
        <c:ser>
          <c:idx val="2"/>
          <c:order val="2"/>
          <c:tx>
            <c:strRef>
              <c:f>Sheet1!$A$1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>
              <a:solidFill>
                <a:schemeClr val="accent2"/>
              </a:solidFill>
            </a:ln>
          </c:spPr>
          <c:marker>
            <c:symbol val="circle"/>
            <c:size val="7"/>
          </c:marker>
          <c:cat>
            <c:strRef>
              <c:f>Sheet1!$A$2:$A$9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6"/>
                <c:pt idx="0">
                  <c:v>0.082</c:v>
                </c:pt>
                <c:pt idx="1">
                  <c:v>0.115</c:v>
                </c:pt>
                <c:pt idx="2">
                  <c:v>0.094</c:v>
                </c:pt>
                <c:pt idx="3">
                  <c:v>0.203</c:v>
                </c:pt>
                <c:pt idx="4">
                  <c:v>0.248</c:v>
                </c:pt>
                <c:pt idx="5">
                  <c:v>0.291</c:v>
                </c:pt>
              </c:numCache>
            </c:numRef>
          </c:val>
          <c:smooth val="0"/>
        </c:ser>
        <c:marker val="1"/>
        <c:axId val="1003"/>
        <c:axId val="1004"/>
      </c:lineChart>
      <c:catAx>
        <c:axId val="1001"/>
        <c:scaling>
          <c:orientation val="minMax"/>
        </c:scaling>
        <c:delete val="0"/>
        <c:axPos val="b"/>
        <c:crossAx val="1002"/>
        <c:crosses val="autoZero"/>
        <c:auto val="1"/>
        <c:lblAlgn val="ctr"/>
        <c:lblOffset val="100"/>
        <c:noMultiLvlLbl val="0"/>
      </c:catAx>
      <c:valAx>
        <c:axId val="10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销量（台）</a:t>
                </a:r>
              </a:p>
            </c:rich>
          </c:tx>
        </c:title>
        <c:numFmt formatCode="#,##0" sourceLinked="0"/>
        <c:crossAx val="1001"/>
        <c:crosses val="autoZero"/>
        <c:crossBetween val="between"/>
      </c:valAx>
      <c:catAx>
        <c:axId val="1003"/>
        <c:scaling>
          <c:orientation val="minMax"/>
        </c:scaling>
        <c:delete val="1"/>
        <c:axPos val="b"/>
        <c:crossAx val="1004"/>
      </c:catAx>
      <c:valAx>
        <c:axId val="1004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r>
                  <a:t>增长率</a:t>
                </a:r>
              </a:p>
            </c:rich>
          </c:tx>
        </c:title>
        <c:numFmt formatCode="0%" sourceLinked="0"/>
        <c:crossAx val="1003"/>
        <c:crosses val="max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区域销量（3D 簇状柱）</a:t>
            </a:r>
          </a:p>
        </c:rich>
      </c:tx>
      <c:overlay val="0"/>
    </c:title>
    <c:autoTitleDeleted val="0"/>
    <c:view3D>
      <c:rotX val="15"/>
      <c:rotY val="20"/>
      <c:depthPercent val="100"/>
      <c:rAngAx val="1"/>
    </c:view3D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上半年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Sheet1!$A$2:$A$9</c:f>
              <c:strCache>
                <c:ptCount val="4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860</c:v>
                </c:pt>
                <c:pt idx="1">
                  <c:v>1240</c:v>
                </c:pt>
                <c:pt idx="2">
                  <c:v>990</c:v>
                </c:pt>
                <c:pt idx="3">
                  <c:v>1480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下半年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Sheet1!$A$2:$A$9</c:f>
              <c:strCache>
                <c:ptCount val="4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1120</c:v>
                </c:pt>
                <c:pt idx="1">
                  <c:v>980</c:v>
                </c:pt>
                <c:pt idx="2">
                  <c:v>1360</c:v>
                </c:pt>
                <c:pt idx="3">
                  <c:v>1210</c:v>
                </c:pt>
              </c:numCache>
            </c:numRef>
          </c:val>
          <c:smooth val="0"/>
        </c:ser>
        <c:gapWidth val="90"/>
        <c:shape val="box"/>
        <c:axId val="1101"/>
        <c:axId val="1102"/>
        <c:axId val="1103"/>
      </c:bar3DChart>
      <c:catAx>
        <c:axId val="1101"/>
        <c:scaling>
          <c:orientation val="minMax"/>
        </c:scaling>
        <c:delete val="0"/>
        <c:axPos val="b"/>
        <c:crossAx val="1102"/>
        <c:crosses val="autoZero"/>
        <c:auto val="1"/>
        <c:lblAlgn val="ctr"/>
        <c:lblOffset val="100"/>
        <c:noMultiLvlLbl val="0"/>
      </c:catAx>
      <c:valAx>
        <c:axId val="1102"/>
        <c:scaling>
          <c:orientation val="minMax"/>
        </c:scaling>
        <c:delete val="0"/>
        <c:axPos val="l"/>
        <c:majorGridlines/>
        <c:numFmt formatCode="#,##0" sourceLinked="0"/>
        <c:crossAx val="1101"/>
        <c:crosses val="autoZero"/>
        <c:crossBetween val="between"/>
      </c:valAx>
      <c:serAx>
        <c:axId val="1103"/>
        <c:scaling>
          <c:orientation val="minMax"/>
        </c:scaling>
        <c:delete val="1"/>
        <c:axPos val="b"/>
        <c:crossAx val="1102"/>
      </c:ser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成本构成（3D 堆叠柱）</a:t>
            </a:r>
          </a:p>
        </c:rich>
      </c:tx>
      <c:overlay val="0"/>
    </c:title>
    <c:autoTitleDeleted val="0"/>
    <c:view3D>
      <c:rotX val="20"/>
      <c:rotY val="25"/>
      <c:depthPercent val="100"/>
      <c:rAngAx val="1"/>
    </c:view3D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原料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320</c:v>
                </c:pt>
                <c:pt idx="1">
                  <c:v>380</c:v>
                </c:pt>
                <c:pt idx="2">
                  <c:v>350</c:v>
                </c:pt>
                <c:pt idx="3">
                  <c:v>420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chemeClr val="accent4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180</c:v>
                </c:pt>
                <c:pt idx="1">
                  <c:v>210</c:v>
                </c:pt>
                <c:pt idx="2">
                  <c:v>240</c:v>
                </c:pt>
                <c:pt idx="3">
                  <c:v>260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物流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90</c:v>
                </c:pt>
                <c:pt idx="1">
                  <c:v>120</c:v>
                </c:pt>
                <c:pt idx="2">
                  <c:v>100</c:v>
                </c:pt>
                <c:pt idx="3">
                  <c:v>150</c:v>
                </c:pt>
              </c:numCache>
            </c:numRef>
          </c:val>
          <c:smooth val="0"/>
        </c:ser>
        <c:gapWidth val="70"/>
        <c:shape val="box"/>
        <c:axId val="1201"/>
        <c:axId val="1202"/>
        <c:axId val="1203"/>
      </c:bar3DChart>
      <c:catAx>
        <c:axId val="1201"/>
        <c:scaling>
          <c:orientation val="minMax"/>
        </c:scaling>
        <c:delete val="0"/>
        <c:axPos val="b"/>
        <c:crossAx val="1202"/>
        <c:crosses val="autoZero"/>
        <c:auto val="1"/>
        <c:lblAlgn val="ctr"/>
        <c:lblOffset val="100"/>
        <c:noMultiLvlLbl val="0"/>
      </c:catAx>
      <c:valAx>
        <c:axId val="1202"/>
        <c:scaling>
          <c:orientation val="minMax"/>
        </c:scaling>
        <c:delete val="0"/>
        <c:axPos val="l"/>
        <c:majorGridlines/>
        <c:numFmt formatCode="#,##0" sourceLinked="0"/>
        <c:crossAx val="1201"/>
        <c:crosses val="autoZero"/>
        <c:crossBetween val="between"/>
      </c:valAx>
      <c:serAx>
        <c:axId val="1203"/>
        <c:scaling>
          <c:orientation val="minMax"/>
        </c:scaling>
        <c:delete val="1"/>
        <c:axPos val="b"/>
        <c:crossAx val="1202"/>
      </c:ser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渠道占比（3D 饼图）</a:t>
            </a:r>
          </a:p>
        </c:rich>
      </c:tx>
      <c:overlay val="0"/>
    </c:title>
    <c:autoTitleDeleted val="0"/>
    <c:view3D>
      <c:rotX val="30"/>
      <c:rotY val="0"/>
      <c:depthPercent val="100"/>
      <c:rAngAx val="1"/>
    </c:view3D>
    <c:plotArea>
      <c:layout/>
      <c:pie3D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2025 年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chemeClr val="accent6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</c:spPr>
            <c:txPr>
              <a:bodyPr/>
              <a:lstStyle/>
              <a:p>
                <a:pPr>
                  <a:defRPr sz="900"/>
                </a:pPr>
                <a:endParaRPr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Sheet1!$A$2:$A$6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3200</c:v>
                </c:pt>
                <c:pt idx="1">
                  <c:v>2400</c:v>
                </c:pt>
                <c:pt idx="2">
                  <c:v>1800</c:v>
                </c:pt>
                <c:pt idx="3">
                  <c:v>900</c:v>
                </c:pt>
                <c:pt idx="4">
                  <c:v>700</c:v>
                </c:pt>
              </c:numCache>
            </c:numRef>
          </c:val>
        </c:ser>
      </c:pie3DChart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负载趋势（3D 折线）</a:t>
            </a:r>
          </a:p>
        </c:rich>
      </c:tx>
      <c:overlay val="0"/>
    </c:title>
    <c:autoTitleDeleted val="0"/>
    <c:view3D>
      <c:rotX val="15"/>
      <c:rotY val="20"/>
      <c:depthPercent val="100"/>
      <c:rAngAx val="1"/>
    </c:view3D>
    <c:plotArea>
      <c:layout/>
      <c:line3D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CPU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circle"/>
            <c:size val="6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22</c:v>
                </c:pt>
                <c:pt idx="1">
                  <c:v>28</c:v>
                </c:pt>
                <c:pt idx="2">
                  <c:v>26</c:v>
                </c:pt>
                <c:pt idx="3">
                  <c:v>35</c:v>
                </c:pt>
                <c:pt idx="4">
                  <c:v>30</c:v>
                </c:pt>
                <c:pt idx="5">
                  <c:v>42</c:v>
                </c:pt>
                <c:pt idx="6">
                  <c:v>38</c:v>
                </c:pt>
                <c:pt idx="7">
                  <c:v>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内存</c:v>
                </c:pt>
              </c:strCache>
            </c:strRef>
          </c:tx>
          <c:spPr>
            <a:ln w="28575">
              <a:solidFill>
                <a:schemeClr val="accent6"/>
              </a:solidFill>
            </a:ln>
          </c:spPr>
          <c:marker>
            <c:symbol val="square"/>
            <c:size val="6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15</c:v>
                </c:pt>
                <c:pt idx="1">
                  <c:v>18</c:v>
                </c:pt>
                <c:pt idx="2">
                  <c:v>24</c:v>
                </c:pt>
                <c:pt idx="3">
                  <c:v>20</c:v>
                </c:pt>
                <c:pt idx="4">
                  <c:v>27</c:v>
                </c:pt>
                <c:pt idx="5">
                  <c:v>25</c:v>
                </c:pt>
                <c:pt idx="6">
                  <c:v>33</c:v>
                </c:pt>
                <c:pt idx="7">
                  <c:v>30</c:v>
                </c:pt>
              </c:numCache>
            </c:numRef>
          </c:val>
          <c:smooth val="0"/>
        </c:ser>
        <c:axId val="1301"/>
        <c:axId val="1302"/>
        <c:axId val="1303"/>
      </c:line3DChart>
      <c:catAx>
        <c:axId val="1301"/>
        <c:scaling>
          <c:orientation val="minMax"/>
        </c:scaling>
        <c:delete val="0"/>
        <c:axPos val="b"/>
        <c:crossAx val="1302"/>
        <c:crosses val="autoZero"/>
        <c:auto val="1"/>
        <c:lblAlgn val="ctr"/>
        <c:lblOffset val="100"/>
        <c:noMultiLvlLbl val="0"/>
      </c:catAx>
      <c:valAx>
        <c:axId val="1302"/>
        <c:scaling>
          <c:orientation val="minMax"/>
        </c:scaling>
        <c:delete val="0"/>
        <c:axPos val="l"/>
        <c:majorGridlines/>
        <c:numFmt formatCode="0" sourceLinked="0"/>
        <c:crossAx val="1301"/>
        <c:crosses val="autoZero"/>
        <c:crossBetween val="between"/>
      </c:valAx>
      <c:serAx>
        <c:axId val="1303"/>
        <c:scaling>
          <c:orientation val="minMax"/>
        </c:scaling>
        <c:delete val="1"/>
        <c:axPos val="b"/>
        <c:crossAx val="1302"/>
      </c:ser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Ex1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6">
          <cx:pt idx="0">A</cx:pt>
          <cx:pt idx="1">B</cx:pt>
          <cx:pt idx="2">A</cx:pt>
          <cx:pt idx="3">A</cx:pt>
          <cx:pt idx="4">C</cx:pt>
        </cx:lvl>
        <cx:lvl ptCount="6">
          <cx:pt idx="0">Alpha</cx:pt>
          <cx:pt idx="2">Beta</cx:pt>
          <cx:pt idx="3">Alpha</cx:pt>
          <cx:pt idx="5">Beta</cx:pt>
        </cx:lvl>
        <cx:lvl ptCount="6">
          <cx:pt idx="0">North</cx:pt>
          <cx:pt idx="3">South</cx:pt>
        </cx:lvl>
      </cx:strDim>
      <cx:numDim type="size">
        <cx:lvl ptCount="6">
          <cx:pt idx="0">8</cx:pt>
          <cx:pt idx="1">4</cx:pt>
          <cx:pt idx="2">6</cx:pt>
          <cx:pt idx="3">5</cx:pt>
          <cx:pt idx="4">3</cx:pt>
          <cx:pt idx="5">2</cx:pt>
        </cx:lvl>
      </cx:numDim>
    </cx:data>
  </cx:chartData>
  <cx:chart>
    <cx:title>
      <cx:tx>
        <cx:rich>
          <a:bodyPr/>
          <a:p>
            <a:r>
              <a:t>treemap</a:t>
            </a:r>
          </a:p>
        </cx:rich>
      </cx:tx>
    </cx:title>
    <cx:plotArea>
      <cx:plotAreaRegion>
        <cx:series layoutId="treemap" formatIdx="0">
          <cx:tx>
            <cx:txData>
              <cx:v>Series 1</cx:v>
            </cx:txData>
          </cx:tx>
          <cx:dataId val="0"/>
          <cx:layoutPr/>
        </cx:series>
      </cx:plotAreaRegion>
    </cx:plotArea>
  </cx:chart>
</cx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hart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 b="1">
          <a:solidFill>
            <a:schemeClr val="tx2"/>
          </a:solidFill>
          <a:latin typeface="+mj-lt"/>
          <a:ea typeface="+mj-ea"/>
        </a:defRPr>
      </a:lvl1pPr>
    </p:titleStyle>
    <p:bodyStyle>
      <a:lvl1pPr>
        <a:defRPr sz="1800">
          <a:solidFill>
            <a:schemeClr val="tx1"/>
          </a:solidFill>
        </a:defRPr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Modern" Type="http://schemas.microsoft.com/office/2014/relationships/chartEx" Target="../charts/chartEx1.xml"/><Relationship Id="rIdModernPreview" Type="http://schemas.openxmlformats.org/officeDocument/2006/relationships/image" Target="../media/chartex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簇状柱状图 · 数据标签 / 网格线 / 轴标题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906" name="treemap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Modern"/>
              </a:graphicData>
            </a:graphic>
          </p:graphicFrame>
        </mc:Choice>
        <mc:Fallback>
          <p:pic>
            <p:nvPicPr>
              <p:cNvPr id="906" name="treemap"/>
              <p:cNvPicPr/>
              <p:nvPr/>
            </p:nvPicPr>
            <p:blipFill>
              <a:blip r:embed="rIdModernPreview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百分比堆叠柱 + 堆叠条形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折线图 · 标记 / 平滑 / 缺口 / 负值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饼图 + 环形图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散点图 · 双数值轴 / 负值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堆叠面积 + 雷达图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685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7620000" y="1143000"/>
          <a:ext cx="3810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雷达图：标记 / 填充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4864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248400" y="1143000"/>
          <a:ext cx="51816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次坐标轴 · 柱状（销量）+ 折线（增长率 %）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3D 柱状图 · 簇状 / 堆叠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3D 饼图 + 3D 折线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Fixture">
  <a:themeElements>
    <a:clrScheme name="ChartFixture">
      <a:dk1>
        <a:sysClr val="windowText" lastClr="20242B"/>
      </a:dk1>
      <a:lt1>
        <a:sysClr val="window" lastClr="FFFFFF"/>
      </a:lt1>
      <a:dk2>
        <a:srgbClr val="1F3864"/>
      </a:dk2>
      <a:lt2>
        <a:srgbClr val="EEF3FB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hartFixture">
      <a:majorFont>
        <a:latin typeface="Trebuchet MS"/>
        <a:ea typeface="PingFang SC"/>
        <a:cs typeface=""/>
      </a:majorFont>
      <a:minorFont>
        <a:latin typeface="Helvetica"/>
        <a:ea typeface="PingFang SC"/>
        <a:cs typeface=""/>
      </a:minorFont>
    </a:fontScheme>
    <a:fmtScheme name="Chart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