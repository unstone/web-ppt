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AFF"/>
            </a:gs>
            <a:gs pos="100000">
              <a:srgbClr val="DDE7F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3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/>
          <a:lstStyle/>
          <a:p>
            <a:endParaRPr/>
          </a:p>
        </p:txBody>
      </p:sp>
      <p:sp>
        <p:nvSpPr>
          <p:cNvPr id="4" name="Body Placeholder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 b="1">
          <a:solidFill>
            <a:schemeClr val="tx2"/>
          </a:solidFill>
          <a:latin typeface="+mj-lt"/>
          <a:ea typeface="+mj-ea"/>
        </a:defRPr>
      </a:lvl1pPr>
    </p:titleStyle>
    <p:bodyStyle>
      <a:lvl1pPr marL="342900" indent="-342900">
        <a:spcBef>
          <a:spcPts val="600"/>
        </a:spcBef>
        <a:buChar char="•"/>
        <a:defRPr sz="2400">
          <a:solidFill>
            <a:schemeClr val="tx1"/>
          </a:solidFill>
          <a:latin typeface="+mn-lt"/>
          <a:ea typeface="+mn-ea"/>
        </a:defRPr>
      </a:lvl1pPr>
      <a:lvl2pPr marL="742950" indent="-285750">
        <a:spcBef>
          <a:spcPts val="400"/>
        </a:spcBef>
        <a:buChar char="–"/>
        <a:defRPr sz="2000">
          <a:solidFill>
            <a:schemeClr val="tx1">
              <a:lumMod val="65000"/>
              <a:lumOff val="35000"/>
            </a:schemeClr>
          </a:solidFill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Web PPT 渲染引擎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lstStyle/>
          <a:p>
            <a:r>
              <a:t>纯浏览器解析 OOXML（fflate + DOMParser），零服务端依赖</a:t>
            </a:r>
          </a:p>
          <a:p>
            <a:pPr lvl="1"/>
            <a:r>
              <a:t>形状 / 渐变 / 图片 / 表格 / 组合 / 母版继承</a:t>
            </a:r>
          </a:p>
          <a:p>
            <a:pPr lvl="1"/>
            <a:r>
              <a:t>统一 Schema，渲染层与解析层解耦</a:t>
            </a:r>
          </a:p>
          <a:p>
            <a:r>
              <a:t>混排：</a:t>
            </a:r>
            <a:r>
              <a:rPr b="1"/>
              <a:t>加粗</a:t>
            </a:r>
            <a:r>
              <a:rPr i="1"/>
              <a:t> 斜体 </a:t>
            </a:r>
            <a:r>
              <a:rPr u="sng">
                <a:solidFill>
                  <a:schemeClr val="accent2"/>
                </a:solidFill>
              </a:rPr>
              <a:t>主题色下划线</a:t>
            </a:r>
            <a:r>
              <a:rPr sz="1400"/>
              <a:t> 小字号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"/>
          <p:cNvSpPr/>
          <p:nvPr/>
        </p:nvSpPr>
        <p:spPr>
          <a:xfrm>
            <a:off x="600000" y="500000"/>
            <a:ext cx="3000000" cy="1600000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chemeClr val="accent5"/>
              </a:gs>
            </a:gsLst>
            <a:lin ang="2700000" scaled="1"/>
          </a:gradFill>
        </p:spPr>
        <p:txBody>
          <a:bodyPr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渐变圆角矩形</a:t>
            </a:r>
          </a:p>
        </p:txBody>
      </p:sp>
      <p:sp>
        <p:nvSpPr>
          <p:cNvPr id="3" name="Ellipse"/>
          <p:cNvSpPr/>
          <p:nvPr/>
        </p:nvSpPr>
        <p:spPr>
          <a:xfrm>
            <a:off x="4100000" y="500000"/>
            <a:ext cx="2300000" cy="16000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2"/>
            </a:solidFill>
          </a:ln>
        </p:spPr>
        <p:txBody>
          <a:bodyPr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椭圆+描边</a:t>
            </a:r>
          </a:p>
        </p:txBody>
      </p:sp>
      <p:sp>
        <p:nvSpPr>
          <p:cNvPr id="4" name="Star"/>
          <p:cNvSpPr/>
          <p:nvPr/>
        </p:nvSpPr>
        <p:spPr>
          <a:xfrm>
            <a:off x="6900000" y="400000"/>
            <a:ext cx="1800000" cy="1800000"/>
          </a:xfrm>
          <a:prstGeom prst="star5">
            <a:avLst/>
          </a:prstGeom>
          <a:solidFill>
            <a:schemeClr val="accent4"/>
          </a:solidFill>
        </p:spPr>
        <p:txBody>
          <a:bodyPr/>
          <a:lstStyle/>
          <a:p>
            <a:endParaRPr/>
          </a:p>
        </p:txBody>
      </p:sp>
      <p:sp>
        <p:nvSpPr>
          <p:cNvPr id="5" name="Arrow"/>
          <p:cNvSpPr/>
          <p:nvPr/>
        </p:nvSpPr>
        <p:spPr>
          <a:xfrm rot="1200000">
            <a:off x="9200000" y="700000"/>
            <a:ext cx="2300000" cy="1000000"/>
          </a:xfrm>
          <a:prstGeom prst="rightArrow">
            <a:avLst/>
          </a:prstGeom>
          <a:solidFill>
            <a:schemeClr val="accent6"/>
          </a:solidFill>
        </p:spPr>
        <p:txBody>
          <a:bodyPr/>
          <a:lstStyle/>
          <a:p>
            <a:endParaRPr/>
          </a:p>
        </p:txBody>
      </p:sp>
      <p:cxnSp>
        <p:nvCxnSpPr>
          <p:cNvPr id="6" name="Line"/>
          <p:cNvCxnSpPr/>
          <p:nvPr/>
        </p:nvCxnSpPr>
        <p:spPr>
          <a:xfrm>
            <a:off x="600000" y="2500000"/>
            <a:ext cx="11000000" cy="0"/>
          </a:xfrm>
          <a:prstGeom prst="line">
            <a:avLst/>
          </a:prstGeom>
          <a:ln w="28575">
            <a:solidFill>
              <a:schemeClr val="accent3"/>
            </a:solidFill>
            <a:prstDash val="sysDash"/>
          </a:ln>
        </p:spPr>
      </p:cxnSp>
      <p:sp>
        <p:nvSpPr>
          <p:cNvPr id="7" name="Bullets"/>
          <p:cNvSpPr txBox="1"/>
          <p:nvPr/>
        </p:nvSpPr>
        <p:spPr>
          <a:xfrm>
            <a:off x="600000" y="2800000"/>
            <a:ext cx="5400000" cy="3400000"/>
          </a:xfrm>
          <a:prstGeom prst="rect">
            <a:avLst/>
          </a:prstGeom>
          <a:noFill/>
        </p:spPr>
        <p:txBody>
          <a:bodyPr/>
          <a:lstStyle/>
          <a:p>
            <a:pPr marL="285750" indent="-285750">
              <a:buChar char="•"/>
            </a:pPr>
            <a:r>
              <a:rPr sz="1800"/>
              <a:t>字符项目符号第一条</a:t>
            </a:r>
          </a:p>
          <a:p>
            <a:pPr marL="285750" indent="-285750">
              <a:buChar char="•"/>
            </a:pPr>
            <a:r>
              <a:rPr sz="1800"/>
              <a:t>第二条，带换行</a:t>
            </a:r>
            <a:br/>
            <a:r>
              <a:rPr sz="1400"/>
              <a:t>（软换行后的小字）</a:t>
            </a:r>
          </a:p>
          <a:p>
            <a:pPr marL="342900" indent="-342900">
              <a:buAutoNum type="arabicPeriod"/>
            </a:pPr>
            <a:r>
              <a:rPr sz="1800"/>
              <a:t>自动编号一</a:t>
            </a:r>
          </a:p>
          <a:p>
            <a:pPr marL="342900" indent="-342900">
              <a:buAutoNum type="arabicPeriod"/>
            </a:pPr>
            <a:r>
              <a:rPr sz="1800"/>
              <a:t>自动编号二</a:t>
            </a:r>
          </a:p>
          <a:p>
            <a:pPr algn="r"/>
            <a:r>
              <a:rPr sz="1600" strike="sngStrike"/>
              <a:t>右对齐删除线</a:t>
            </a:r>
          </a:p>
        </p:txBody>
      </p:sp>
      <p:sp>
        <p:nvSpPr>
          <p:cNvPr id="8" name="FlippedTriangle"/>
          <p:cNvSpPr/>
          <p:nvPr/>
        </p:nvSpPr>
        <p:spPr>
          <a:xfrm flipV="1">
            <a:off x="6600000" y="3000000"/>
            <a:ext cx="1900000" cy="1500000"/>
          </a:xfrm>
          <a:prstGeom prst="triangle">
            <a:avLst/>
          </a:prstGeom>
          <a:solidFill>
            <a:schemeClr val="accent5">
              <a:alpha val="6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9" name="CustGeom"/>
          <p:cNvSpPr/>
          <p:nvPr/>
        </p:nvSpPr>
        <p:spPr>
          <a:xfrm>
            <a:off x="9000000" y="2900000"/>
            <a:ext cx="2400000" cy="3000000"/>
          </a:xfrm>
          <a:custGeom>
            <a:avLst/>
            <a:gdLst/>
            <a:ahLst/>
            <a:cxnLst/>
            <a:rect l="0" t="0" r="100" b="100"/>
            <a:pathLst>
              <a:path w="100" h="100">
                <a:moveTo>
                  <a:pt x="55" y="0"/>
                </a:moveTo>
                <a:lnTo>
                  <a:pt x="100" y="55"/>
                </a:lnTo>
                <a:lnTo>
                  <a:pt x="68" y="55"/>
                </a:lnTo>
                <a:lnTo>
                  <a:pt x="80" y="100"/>
                </a:lnTo>
                <a:lnTo>
                  <a:pt x="0" y="42"/>
                </a:lnTo>
                <a:lnTo>
                  <a:pt x="42" y="42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表格 · 图片 · 组合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700000" y="1900000"/>
          <a:ext cx="5600000" cy="2400000"/>
        </p:xfrm>
        <a:graphic>
          <a:graphicData uri="http://schemas.openxmlformats.org/drawingml/2006/table">
            <a:tbl>
              <a:tblPr/>
              <a:tblGrid>
                <a:gridCol w="2000000"/>
                <a:gridCol w="1800000"/>
                <a:gridCol w="1800000"/>
              </a:tblGrid>
              <a:tr h="800000">
                <a:tc>
                  <a:txBody>
                    <a:bodyPr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能力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.pptx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.ppt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800000">
                <a:tc>
                  <a:txBody>
                    <a:bodyPr/>
                    <a:p>
                      <a:r>
                        <a:rPr sz="1500"/>
                        <a:t>形状渲染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500"/>
                        <a:t>支持</a:t>
                      </a:r>
                    </a:p>
                  </a:txBody>
                  <a:tcPr>
                    <a:solidFill>
                      <a:srgbClr val="E9F0E4"/>
                    </a:solidFill>
                  </a:tcPr>
                </a:tc>
                <a:tc>
                  <a:txBody>
                    <a:bodyPr/>
                    <a:p>
                      <a:r>
                        <a:rPr sz="1500"/>
                        <a:t>路线图</a:t>
                      </a:r>
                    </a:p>
                  </a:txBody>
                  <a:tcPr/>
                </a:tc>
              </a:tr>
              <a:tr h="800000">
                <a:tc>
                  <a:txBody>
                    <a:bodyPr/>
                    <a:p>
                      <a:r>
                        <a:rPr sz="1500"/>
                        <a:t>文本提取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500"/>
                        <a:t>支持</a:t>
                      </a:r>
                    </a:p>
                  </a:txBody>
                  <a:tcPr>
                    <a:solidFill>
                      <a:srgbClr val="E9F0E4"/>
                    </a:solidFill>
                  </a:tcPr>
                </a:tc>
                <a:tc>
                  <a:txBody>
                    <a:bodyPr/>
                    <a:p>
                      <a:r>
                        <a:rPr sz="1500"/>
                        <a:t>实验性</a:t>
                      </a:r>
                    </a:p>
                  </a:txBody>
                  <a:tcPr>
                    <a:solidFill>
                      <a:srgbClr val="FBF3D9"/>
                    </a:solidFill>
                  </a:tcPr>
                </a:tc>
              </a:tr>
            </a:tbl>
          </a:graphicData>
        </a:graphic>
      </p:graphicFrame>
      <p:pic>
        <p:nvPicPr>
          <p:cNvPr id="4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800000" y="1900000"/>
            <a:ext cx="2300000" cy="1725000"/>
          </a:xfrm>
          <a:prstGeom prst="rect">
            <a:avLst/>
          </a:prstGeom>
        </p:spPr>
      </p:pic>
      <p:pic>
        <p:nvPicPr>
          <p:cNvPr id="5" name="CroppedPicture"/>
          <p:cNvPicPr/>
          <p:nvPr/>
        </p:nvPicPr>
        <p:blipFill>
          <a:blip r:embed="rId2"/>
          <a:srcRect l="25000" t="25000" r="25000" b="25000"/>
          <a:stretch>
            <a:fillRect/>
          </a:stretch>
        </p:blipFill>
        <p:spPr>
          <a:xfrm>
            <a:off x="9500000" y="1900000"/>
            <a:ext cx="1725000" cy="1725000"/>
          </a:xfrm>
          <a:prstGeom prst="rect">
            <a:avLst/>
          </a:prstGeom>
        </p:spPr>
      </p:pic>
      <p:grpSp>
        <p:nvGrpSpPr>
          <p:cNvPr id="6" name="Group"/>
          <p:cNvGrpSpPr/>
          <p:nvPr/>
        </p:nvGrpSpPr>
        <p:grpSpPr>
          <a:xfrm>
            <a:off x="6800000" y="4100000"/>
            <a:ext cx="4400000" cy="1700000"/>
            <a:chOff x="0" y="0"/>
            <a:chExt cx="2200000" cy="850000"/>
          </a:xfrm>
        </p:grpSpPr>
        <p:sp>
          <p:nvSpPr>
            <p:cNvPr id="7" name="GroupRect"/>
            <p:cNvSpPr/>
            <p:nvPr/>
          </p:nvSpPr>
          <p:spPr>
            <a:xfrm>
              <a:off x="0" y="0"/>
              <a:ext cx="1000000" cy="850000"/>
            </a:xfrm>
            <a:prstGeom prst="roundRect">
              <a:avLst/>
            </a:prstGeom>
            <a:solidFill>
              <a:schemeClr val="accent5"/>
            </a:solidFill>
          </p:spPr>
          <p:txBody>
            <a:bodyPr anchor="ctr"/>
            <a:lstStyle/>
            <a:p>
              <a:pPr algn="ctr"/>
              <a:r>
                <a:rPr sz="1200">
                  <a:solidFill>
                    <a:srgbClr val="FFFFFF"/>
                  </a:solidFill>
                </a:rPr>
                <a:t>组合内 A</a:t>
              </a:r>
            </a:p>
          </p:txBody>
        </p:sp>
        <p:sp>
          <p:nvSpPr>
            <p:cNvPr id="8" name="GroupEllipse"/>
            <p:cNvSpPr/>
            <p:nvPr/>
          </p:nvSpPr>
          <p:spPr>
            <a:xfrm>
              <a:off x="1200000" y="0"/>
              <a:ext cx="1000000" cy="850000"/>
            </a:xfrm>
            <a:prstGeom prst="ellipse">
              <a:avLst/>
            </a:prstGeom>
            <a:solidFill>
              <a:schemeClr val="accent6"/>
            </a:solidFill>
          </p:spPr>
          <p:txBody>
            <a:bodyPr anchor="ctr"/>
            <a:lstStyle/>
            <a:p>
              <a:pPr algn="ctr"/>
              <a:r>
                <a:rPr sz="1200">
                  <a:solidFill>
                    <a:srgbClr val="FFFFFF"/>
                  </a:solidFill>
                </a:rPr>
                <a:t>组合内 B</a:t>
              </a:r>
            </a:p>
          </p:txBody>
        </p:sp>
      </p:grpSp>
      <p:graphicFrame>
        <p:nvGraphicFramePr>
          <p:cNvPr id="9" name="ChartStub"/>
          <p:cNvGraphicFramePr/>
          <p:nvPr/>
        </p:nvGraphicFramePr>
        <p:xfrm>
          <a:off x="700000" y="4600000"/>
          <a:ext cx="5600000" cy="1500000"/>
        </p:xfrm>
        <a:graphic>
          <a:graphicData uri="http://schemas.openxmlformats.org/drawingml/2006/chart"/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ysClr val="windowText" lastClr="1A1A1A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ixture">
      <a:majorFont>
        <a:latin typeface="Trebuchet MS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