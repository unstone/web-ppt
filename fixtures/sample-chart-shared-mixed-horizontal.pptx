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xlsx" ContentType="application/vnd.openxmlformats-officedocument.spreadsheetml.sheet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charts/_rels/chart1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_rels/chart2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季度营收对比（簇状柱）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Sheet1!A3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cat>
            <c:multiLvlStrRef>
              <c:f>Sheet1!$B$1:$F$2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Sheet1!B3:F3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Sheet1!A4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</c:spPr>
          <c:cat>
            <c:multiLvlStrRef>
              <c:f>Sheet1!$B$1:$F$2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Sheet1!B4:F4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4">
                  <c:v>50</c:v>
                </c:pt>
              </c:numCache>
            </c:numRef>
          </c:val>
          <c:smooth val="0"/>
        </c:ser>
        <c:dLbls>
          <c:numFmt formatCode="#,##0" sourceLinked="0"/>
          <c:spPr>
            <a:noFill/>
          </c:spPr>
          <c:txPr>
            <a:bodyPr/>
            <a:lstStyle/>
            <a:p>
              <a:pPr>
                <a:defRPr sz="800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0"/>
        <c:axId val="101"/>
        <c:axId val="102"/>
      </c:barChart>
      <c:bubbleChart>
        <c:varyColors val="0"/>
        <c:ser>
          <c:idx val="2"/>
          <c:order val="2"/>
          <c:tx>
            <c:strRef>
              <c:f>Sheet1!M1</c:f>
              <c:strCache>
                <c:ptCount val="1"/>
                <c:pt idx="0">
                  <c:v>直营</c:v>
                </c:pt>
              </c:strCache>
            </c:strRef>
          </c:tx>
          <c:xVal>
            <c:numRef>
              <c:f>Sheet1!N1:Q1</c:f>
              <c:numCache>
                <c:formatCode>General</c:formatCode>
                <c:ptCount val="4"/>
                <c:pt idx="0">
                  <c:v>10</c:v>
                </c:pt>
                <c:pt idx="1">
                  <c:v>25</c:v>
                </c:pt>
                <c:pt idx="2">
                  <c:v>40</c:v>
                </c:pt>
                <c:pt idx="3">
                  <c:v>55</c:v>
                </c:pt>
              </c:numCache>
            </c:numRef>
          </c:xVal>
          <c:yVal>
            <c:numRef>
              <c:f>Sheet1!N2:Q2</c:f>
              <c:numCache>
                <c:formatCode>General</c:formatCode>
                <c:ptCount val="4"/>
                <c:pt idx="0">
                  <c:v>20</c:v>
                </c:pt>
                <c:pt idx="1">
                  <c:v>35</c:v>
                </c:pt>
                <c:pt idx="2">
                  <c:v>28</c:v>
                </c:pt>
                <c:pt idx="3">
                  <c:v>60</c:v>
                </c:pt>
              </c:numCache>
            </c:numRef>
          </c:yVal>
          <c:bubbleSize>
            <c:numRef>
              <c:f>Sheet1!N3:Q3</c:f>
              <c:numCache>
                <c:formatCode>General</c:formatCode>
                <c:ptCount val="4"/>
                <c:pt idx="0">
                  <c:v>400</c:v>
                </c:pt>
                <c:pt idx="1">
                  <c:v>900</c:v>
                </c:pt>
                <c:pt idx="2">
                  <c:v>1600</c:v>
                </c:pt>
                <c:pt idx="3">
                  <c:v>2500</c:v>
                </c:pt>
              </c:numCache>
            </c:numRef>
          </c:bubbleSize>
        </c:ser>
        <c:bubbleScale val="100"/>
        <c:showNegBubbles val="0"/>
        <c:sizeRepresents val="area"/>
        <c:axId val="1101"/>
        <c:axId val="1102"/>
      </c:bubbleChart>
      <c:catAx>
        <c:axId val="101"/>
        <c:scaling>
          <c:orientation val="minMax"/>
        </c:scaling>
        <c:delete val="0"/>
        <c:axPos val="b"/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#,##0" sourceLinked="0"/>
        <c:title>
          <c:tx>
            <c:rich>
              <a:bodyPr/>
              <a:lstStyle/>
              <a:p>
                <a:r>
                  <a:t>金额（万元）</a:t>
                </a:r>
              </a:p>
            </c:rich>
          </c:tx>
        </c:title>
        <c:crossAx val="101"/>
        <c:crosses val="autoZero"/>
        <c:crossBetween val="between"/>
      </c:valAx>
      <c:valAx>
        <c:axId val="1101"/>
        <c:scaling>
          <c:orientation val="minMax"/>
        </c:scaling>
        <c:delete val="0"/>
        <c:axPos val="b"/>
        <c:crossAx val="1102"/>
        <c:crosses val="autoZero"/>
      </c:valAx>
      <c:valAx>
        <c:axId val="1102"/>
        <c:scaling>
          <c:orientation val="minMax"/>
        </c:scaling>
        <c:delete val="0"/>
        <c:axPos val="l"/>
        <c:majorGridlines/>
        <c:crossAx val="1101"/>
        <c:crosses val="autoZero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季度营收对比（簇状柱）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Sheet1!A3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cat>
            <c:multiLvlStrRef>
              <c:f>Sheet1!$B$1:$F$2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Sheet1!B3:F3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Sheet1!A4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</c:spPr>
          <c:cat>
            <c:multiLvlStrRef>
              <c:f>Sheet1!$B$1:$F$2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Sheet1!B4:F4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4">
                  <c:v>50</c:v>
                </c:pt>
              </c:numCache>
            </c:numRef>
          </c:val>
          <c:smooth val="0"/>
        </c:ser>
        <c:dLbls>
          <c:numFmt formatCode="#,##0" sourceLinked="0"/>
          <c:spPr>
            <a:noFill/>
          </c:spPr>
          <c:txPr>
            <a:bodyPr/>
            <a:lstStyle/>
            <a:p>
              <a:pPr>
                <a:defRPr sz="800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0"/>
        <c:axId val="101"/>
        <c:axId val="102"/>
      </c:barChart>
      <c:bubbleChart>
        <c:varyColors val="0"/>
        <c:ser>
          <c:idx val="2"/>
          <c:order val="2"/>
          <c:tx>
            <c:strRef>
              <c:f>Sheet1!M1</c:f>
              <c:strCache>
                <c:ptCount val="1"/>
                <c:pt idx="0">
                  <c:v>直营</c:v>
                </c:pt>
              </c:strCache>
            </c:strRef>
          </c:tx>
          <c:xVal>
            <c:numRef>
              <c:f>Sheet1!N1:Q1</c:f>
              <c:numCache>
                <c:formatCode>General</c:formatCode>
                <c:ptCount val="4"/>
                <c:pt idx="0">
                  <c:v>10</c:v>
                </c:pt>
                <c:pt idx="1">
                  <c:v>25</c:v>
                </c:pt>
                <c:pt idx="2">
                  <c:v>40</c:v>
                </c:pt>
                <c:pt idx="3">
                  <c:v>55</c:v>
                </c:pt>
              </c:numCache>
            </c:numRef>
          </c:xVal>
          <c:yVal>
            <c:numRef>
              <c:f>Sheet1!N2:Q2</c:f>
              <c:numCache>
                <c:formatCode>General</c:formatCode>
                <c:ptCount val="4"/>
                <c:pt idx="0">
                  <c:v>20</c:v>
                </c:pt>
                <c:pt idx="1">
                  <c:v>35</c:v>
                </c:pt>
                <c:pt idx="2">
                  <c:v>28</c:v>
                </c:pt>
                <c:pt idx="3">
                  <c:v>60</c:v>
                </c:pt>
              </c:numCache>
            </c:numRef>
          </c:yVal>
          <c:bubbleSize>
            <c:numRef>
              <c:f>Sheet1!N3:Q3</c:f>
              <c:numCache>
                <c:formatCode>General</c:formatCode>
                <c:ptCount val="4"/>
                <c:pt idx="0">
                  <c:v>400</c:v>
                </c:pt>
                <c:pt idx="1">
                  <c:v>900</c:v>
                </c:pt>
                <c:pt idx="2">
                  <c:v>1600</c:v>
                </c:pt>
                <c:pt idx="3">
                  <c:v>2500</c:v>
                </c:pt>
              </c:numCache>
            </c:numRef>
          </c:bubbleSize>
        </c:ser>
        <c:bubbleScale val="100"/>
        <c:showNegBubbles val="0"/>
        <c:sizeRepresents val="area"/>
        <c:axId val="1101"/>
        <c:axId val="1102"/>
      </c:bubbleChart>
      <c:catAx>
        <c:axId val="101"/>
        <c:scaling>
          <c:orientation val="minMax"/>
        </c:scaling>
        <c:delete val="0"/>
        <c:axPos val="b"/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#,##0" sourceLinked="0"/>
        <c:title>
          <c:tx>
            <c:rich>
              <a:bodyPr/>
              <a:lstStyle/>
              <a:p>
                <a:r>
                  <a:t>金额（万元）</a:t>
                </a:r>
              </a:p>
            </c:rich>
          </c:tx>
        </c:title>
        <c:crossAx val="101"/>
        <c:crosses val="autoZero"/>
        <c:crossBetween val="between"/>
      </c:valAx>
      <c:valAx>
        <c:axId val="1101"/>
        <c:scaling>
          <c:orientation val="minMax"/>
        </c:scaling>
        <c:delete val="0"/>
        <c:axPos val="b"/>
        <c:crossAx val="1102"/>
        <c:crosses val="autoZero"/>
      </c:valAx>
      <c:valAx>
        <c:axId val="1102"/>
        <c:scaling>
          <c:orientation val="minMax"/>
        </c:scaling>
        <c:delete val="0"/>
        <c:axPos val="l"/>
        <c:majorGridlines/>
        <c:crossAx val="1101"/>
        <c:crosses val="autoZero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三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横向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hart Hierarchy">
  <a:themeElements>
    <a:clrScheme name="Chart Hierarchy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Chart Hierarchy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Chart Hierarch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