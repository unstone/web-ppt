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tableStyles.xml><?xml version="1.0" encoding="utf-8"?>
<a:tblStyleLst xmlns:a="http://schemas.openxmlformats.org/drawingml/2006/main" def="{A7D87910-7B6D-4B2F-9B21-54CB9C43E801}">
  <a:tblStyle styleId="{A7D87910-7B6D-4B2F-9B21-54CB9C43E801}" styleName="Editor Table Text">
    <a:firstRow>
      <a:tcTxStyle b="on"/>
    </a:firstRow>
  </a:tblStyle>
  <a:tblStyle styleId="{BFD9FC95-08A9-47D3-9785-8DB2E5A35D39}" styleName="Append Row Contract">
    <a:wholeTbl>
      <a:tcStyle>
        <a:fill>
          <a:solidFill>
            <a:srgbClr val="FFFFFF"/>
          </a:solidFill>
        </a:fill>
      </a:tcStyle>
    </a:wholeTbl>
    <a:firstRow>
      <a:tcStyle>
        <a:fill>
          <a:solidFill>
            <a:srgbClr val="DBEAFE"/>
          </a:solidFill>
        </a:fill>
      </a:tcStyle>
      <a:tcTxStyle b="on"/>
    </a:firstRow>
    <a:band1H>
      <a:tcStyle>
        <a:fill>
          <a:solidFill>
            <a:srgbClr val="DCFCE7"/>
          </a:solidFill>
        </a:fill>
      </a:tcStyle>
    </a:band1H>
    <a:band2H>
      <a:tcStyle>
        <a:fill>
          <a:solidFill>
            <a:srgbClr val="FEF3C7"/>
          </a:solidFill>
        </a:fill>
      </a:tcStyle>
    </a:band2H>
    <a:lastRow>
      <a:tcStyle>
        <a:fill>
          <a:solidFill>
            <a:srgbClr val="FCE7F3"/>
          </a:solidFill>
        </a:fill>
      </a:tcStyle>
      <a:tcTxStyle b="on"/>
    </a:lastRow>
  </a:tblStyle>
</a:tblStyle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表格文字综合"/>
          <p:cNvGraphicFramePr/>
          <p:nvPr/>
        </p:nvGraphicFramePr>
        <p:xfrm rot="120000" flipH="1" flipV="1">
          <a:off x="762000" y="762000"/>
          <a:ext cx="10287000" cy="4857750"/>
        </p:xfrm>
        <a:graphic>
          <a:graphicData uri="http://schemas.openxmlformats.org/drawingml/2006/table">
            <a:tbl>
              <a:tblPr firstRow="1" bandRow="1">
                <a:tableStyleId>{A7D87910-7B6D-4B2F-9B21-54CB9C43E801}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161925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DC2626"/>
                          </a:solidFill>
                        </a:rPr>
                        <a:t xml:space="preserve"> 前导 </a:t>
                      </a:r>
                      <!--table-rich-gap: keep-->
                      <a:r>
                        <a:rPr sz="1800" b="1">
                          <a:solidFill>
                            <a:srgbClr val="2563EB"/>
                          </a:solidFill>
                        </a:rPr>
                        <a:t>中文</a:t>
                      </a:r>
                    </a:p>
                    <a:p>
                      <a:pPr algn="ctr"/>
                      <a:r>
                        <a:rPr sz="1600" i="1"/>
                        <a:t>第二段</a:t>
                      </a:r>
                    </a:p>
                  </a:txBody>
                  <a:tcPr marL="171450" marR="76200" marT="95250" marB="57150" anchor="ctr"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900"/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sz="1700"/>
                        <a:t>横向合并起始格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>不可见占位</a:t>
                      </a:r>
                    </a:p>
                  </a:txBody>
                  <a:tcPr/>
                </a:tc>
              </a:tr>
              <a:tr h="1619250">
                <a:tc rowSpan="2">
                  <a:txBody>
                    <a:bodyPr/>
                    <a:lstStyle/>
                    <a:p>
                      <a:r>
                        <a:rPr sz="1700"/>
                        <a:t>纵向合并起始格</a:t>
                      </a:r>
                    </a:p>
                  </a:txBody>
                  <a:tcPr anchor="b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/>
                        <a:t>竖排中文ABC</a:t>
                      </a:r>
                    </a:p>
                  </a:txBody>
                  <a:tcPr vert="vert" anchor="ctr">
                    <a:solidFill>
                      <a:srgbClr val="FAE8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700"/>
                        <a:t>مرحبا RTL</a:t>
                      </a:r>
                    </a:p>
                  </a:txBody>
                  <a:tcPr anchor="ctr">
                    <a:solidFill>
                      <a:srgbClr val="ECFE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2200"/>
                        <a:t>裸 autofit 单元格需要实时计算比例，编辑面不能跳版。</a:t>
                      </a:r>
                    </a:p>
                  </a:txBody>
                  <a:tcPr vert="vert270" marL="171450" marR="76200" marT="95250" marB="57150">
                    <a:solidFill>
                      <a:srgbClr val="F5F3FF"/>
                    </a:solidFill>
                  </a:tcPr>
                </a:tc>
              </a:tr>
              <a:tr h="1619250">
                <a:tc vMerge="1">
                  <a:txBody>
                    <a:bodyPr/>
                    <a:lstStyle/>
                    <a:p>
                      <a:r>
                        <a:t>不可见占位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末行一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u="sng"/>
                        <a:t>末行二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末格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20x10 性能表"/>
          <p:cNvGraphicFramePr/>
          <p:nvPr/>
        </p:nvGraphicFramePr>
        <p:xfrm>
          <a:off x="381000" y="523875"/>
          <a:ext cx="11430000" cy="5715000"/>
        </p:xfrm>
        <a:graphic>
          <a:graphicData uri="http://schemas.openxmlformats.org/drawingml/2006/table">
            <a:tbl>
              <a:tblPr firstRow="1" bandRow="1">
                <a:tableStyleId>{A7D87910-7B6D-4B2F-9B21-54CB9C43E801}</a:tableStyleId>
              </a:tblPr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571500">
                <a:tc>
                  <a:txBody>
                    <a:bodyPr/>
                    <a:lstStyle/>
                    <a:p>
                      <a:r>
                        <a:rPr sz="700"/>
                        <a:t>0:0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0:19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1:0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1:19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2:0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2:19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3:0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3:19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4:0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4:19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5:0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5:19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6:0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6:19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7:0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7:19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8:0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8:19</a:t>
                      </a:r>
                    </a:p>
                  </a:txBody>
                  <a:tcPr marL="19050" marR="19050" marT="9525" marB="9525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700"/>
                        <a:t>9:0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9:9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9:10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9:11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9:12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9:13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9:14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9:15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9:16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9:17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9:18</a:t>
                      </a:r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r>
                        <a:rPr sz="700"/>
                        <a:t>9:19</a:t>
                      </a:r>
                    </a:p>
                  </a:txBody>
                  <a:tcPr marL="19050" marR="19050" marT="9525" marB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追加行样式"/>
          <p:cNvGraphicFramePr/>
          <p:nvPr/>
        </p:nvGraphicFramePr>
        <p:xfrm>
          <a:off x="1333500" y="857250"/>
          <a:ext cx="8382000" cy="2571750"/>
        </p:xfrm>
        <a:graphic>
          <a:graphicData uri="http://schemas.openxmlformats.org/drawingml/2006/table">
            <a:tbl>
              <a:tblPr firstRow="1" lastRow="1" bandRow="1">
                <a:tableStyleId>{BFD9FC95-08A9-47D3-9785-8DB2E5A35D39}</a:tableStyleId>
              </a:tblPr>
              <a:tblGrid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/>
                    <a:lstStyle/>
                    <a:p>
                      <a:r>
                        <a:t>标题一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标题二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标题三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标题四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t>条纹一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条纹二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条纹三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条纹四</a:t>
                      </a:r>
                    </a:p>
                  </a:txBody>
                  <a:tcPr/>
                </a:tc>
              </a:tr>
              <a:tr h="857250">
                <a:tc gridSpan="2">
                  <a:txBody>
                    <a:bodyPr/>
                    <a:lstStyle/>
                    <a:p>
                      <a:r>
                        <a:rPr sz="2100"/>
                        <a:t>末行合并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t>横向占位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/>
                        <a:t>末行三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 xmlns:a14="http://schemas.microsoft.com/office/drawing/2010/main" a14:paraId="00112233">
                      <a:r>
                        <a:rPr sz="1900"/>
                        <a:t>末格</a:t>
                      </a:r>
                      <mc:AlternateContent xmlns:mc="http://schemas.openxmlformats.org/markup-compatibility/2006">
                        <mc:Choice Requires="a14">
                          <a:r>
                            <a:t>兼容旧字</a:t>
                          </a:r>
                        </mc:Choice>
                        <mc:Fallback>
                          <a:r>
                            <a:t>回退旧字</a:t>
                          </a:r>
                        </mc:Fallback>
                      </mc:AlternateContent>
                    </a:p>
                  </a:txBody>
                  <a:tcPr/>
                </a:tc>
              </a:tr>
              <a:extLst>
                <a:ext uri="{4485728A-C22C-4D8B-9C62-18D05E3A3D8C}">
                  <a14:compatExt xmlns:a14="http://schemas.microsoft.com/office/drawing/2010/main" spid="_x0000_s2048"/>
                </a:ext>
              </a:extLst>
            </a:tbl>
          </a:graphicData>
        </a:graphic>
      </p:graphicFrame>
      <p:graphicFrame>
        <p:nvGraphicFramePr>
          <p:cNvPr id="104" name="仅行条纹"/>
          <p:cNvGraphicFramePr/>
          <p:nvPr/>
        </p:nvGraphicFramePr>
        <p:xfrm>
          <a:off x="1333500" y="4095750"/>
          <a:ext cx="4953000" cy="1333500"/>
        </p:xfrm>
        <a:graphic>
          <a:graphicData uri="http://schemas.openxmlformats.org/drawingml/2006/table">
            <a:tbl>
              <a:tblPr firstRow="1" bandRow="1">
                <a:tableStyleId>{BFD9FC95-08A9-47D3-9785-8DB2E5A35D39}</a:tableStyleId>
              </a:tblPr>
              <a:tblGrid>
                <a:gridCol w="2476500"/>
                <a:gridCol w="2476500"/>
              </a:tblGrid>
              <a:tr h="666750">
                <a:tc>
                  <a:txBody>
                    <a:bodyPr/>
                    <a:lstStyle/>
                    <a:p>
                      <a:r>
                        <a:t>条纹标题一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条纹标题二</a:t>
                      </a:r>
                    </a:p>
                  </a:txBody>
                  <a:tcPr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条纹起点一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条纹起点二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ditor Table Text">
  <a:themeElements>
    <a:clrScheme name="Editor Table Tex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able Tex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able Tex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