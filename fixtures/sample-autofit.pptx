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sz="1800"/>
    </a:defPPr>
  </p:defaultTextStyle>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3200" b="1">
          <a:solidFill>
            <a:schemeClr val="tx2"/>
          </a:solidFill>
        </a:defRPr>
      </a:lvl1pPr>
    </p:titleStyle>
    <p:bodyStyle>
      <a:lvl1pPr>
        <a:buNone/>
        <a:defRPr sz="1600">
          <a:solidFill>
            <a:schemeClr val="tx1"/>
          </a:solidFill>
        </a:defRPr>
      </a:lvl1pPr>
    </p:bodyStyle>
    <p:otherStyle>
      <a:lvl1pPr>
        <a:defRPr sz="1400"/>
      </a:lvl1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p"/>
          <p:cNvSpPr/>
          <p:nvPr/>
        </p:nvSpPr>
        <p:spPr>
          <a:xfrm>
            <a:off x="381000" y="571500"/>
            <a:ext cx="11430000" cy="571500"/>
          </a:xfrm>
          <a:prstGeom prst="rect">
            <a:avLst/>
          </a:prstGeom>
          <a:noFill/>
        </p:spPr>
        <p:txBody>
          <a:bodyPr anchor="ctr"/>
          <a:lstStyle/>
          <a:p>
            <a:r>
              <a:rPr sz="2400" b="1">
                <a:solidFill>
                  <a:schemeClr val="tx2"/>
                </a:solidFill>
              </a:rPr>
              <a:t>溢出 + 裸 normAutofit → 应缩小</a:t>
            </a:r>
          </a:p>
        </p:txBody>
      </p:sp>
      <p:sp>
        <p:nvSpPr>
          <p:cNvPr id="102" name="target"/>
          <p:cNvSpPr/>
          <p:nvPr/>
        </p:nvSpPr>
        <p:spPr>
          <a:xfrm>
            <a:off x="571500" y="1714500"/>
            <a:ext cx="4000500" cy="1333500"/>
          </a:xfrm>
          <a:prstGeom prst="rect">
            <a:avLst/>
          </a:prstGeom>
          <a:solidFill>
            <a:schemeClr val="accent1"/>
          </a:solidFill>
        </p:spPr>
        <p:txBody>
          <a:bodyPr>
            <a:normAutofit/>
          </a:bodyPr>
          <a:lstStyle/>
          <a:p>
            <a:r>
              <a:rPr sz="2000"/>
              <a:t>自动缩放回归：这一段文字在给定的文本框里按标称字号排版必定溢出，渲染器应当自行计算缩放比例把它塞进框内，而不是让它溢出到版面之外。真实演讲文件里大量文本框只写了裸的 normAutofit 而不带 fontScale，PowerPoint 与 LibreOffice 都会自行计算缩放；若照标称字号渲染，整段文字会盖住下方内容甚至跑出版面。</a:t>
            </a:r>
          </a:p>
        </p:txBody>
      </p:sp>
      <p:sp>
        <p:nvSpPr>
          <p:cNvPr id="103" name="sp"/>
          <p:cNvSpPr/>
          <p:nvPr/>
        </p:nvSpPr>
        <p:spPr>
          <a:xfrm>
            <a:off x="4953000" y="1714500"/>
            <a:ext cx="3810000" cy="1333500"/>
          </a:xfrm>
          <a:prstGeom prst="rect">
            <a:avLst/>
          </a:prstGeom>
          <a:noFill/>
        </p:spPr>
        <p:txBody>
          <a:bodyPr anchor="ctr"/>
          <a:lstStyle/>
          <a:p>
            <a:pPr algn="ctr"/>
            <a:r>
              <a:rPr sz="900">
                <a:solidFill>
                  <a:srgbClr val="606060"/>
                </a:solidFill>
              </a:rPr>
              <a:t>左侧框 420×140，标称 20pt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sp"/>
          <p:cNvSpPr/>
          <p:nvPr/>
        </p:nvSpPr>
        <p:spPr>
          <a:xfrm>
            <a:off x="381000" y="571500"/>
            <a:ext cx="11430000" cy="571500"/>
          </a:xfrm>
          <a:prstGeom prst="rect">
            <a:avLst/>
          </a:prstGeom>
          <a:noFill/>
        </p:spPr>
        <p:txBody>
          <a:bodyPr anchor="ctr"/>
          <a:lstStyle/>
          <a:p>
            <a:r>
              <a:rPr sz="2400" b="1">
                <a:solidFill>
                  <a:schemeClr val="tx2"/>
                </a:solidFill>
              </a:rPr>
              <a:t>放得下 + 裸 normAutofit → 不缩</a:t>
            </a:r>
          </a:p>
        </p:txBody>
      </p:sp>
      <p:sp>
        <p:nvSpPr>
          <p:cNvPr id="105" name="target"/>
          <p:cNvSpPr/>
          <p:nvPr/>
        </p:nvSpPr>
        <p:spPr>
          <a:xfrm>
            <a:off x="571500" y="1714500"/>
            <a:ext cx="4000500" cy="1333500"/>
          </a:xfrm>
          <a:prstGeom prst="rect">
            <a:avLst/>
          </a:prstGeom>
          <a:solidFill>
            <a:schemeClr val="accent1"/>
          </a:solidFill>
        </p:spPr>
        <p:txBody>
          <a:bodyPr>
            <a:normAutofit/>
          </a:bodyPr>
          <a:lstStyle/>
          <a:p>
            <a:r>
              <a:rPr sz="2000"/>
              <a:t>短文字，放得下</a:t>
            </a:r>
          </a:p>
        </p:txBody>
      </p:sp>
      <p:sp>
        <p:nvSpPr>
          <p:cNvPr id="106" name="sp"/>
          <p:cNvSpPr/>
          <p:nvPr/>
        </p:nvSpPr>
        <p:spPr>
          <a:xfrm>
            <a:off x="4953000" y="1714500"/>
            <a:ext cx="3810000" cy="1333500"/>
          </a:xfrm>
          <a:prstGeom prst="rect">
            <a:avLst/>
          </a:prstGeom>
          <a:noFill/>
        </p:spPr>
        <p:txBody>
          <a:bodyPr anchor="ctr"/>
          <a:lstStyle/>
          <a:p>
            <a:pPr algn="ctr"/>
            <a:r>
              <a:rPr sz="900">
                <a:solidFill>
                  <a:srgbClr val="606060"/>
                </a:solidFill>
              </a:rPr>
              <a:t>左侧框 420×140，标称 20pt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sp"/>
          <p:cNvSpPr/>
          <p:nvPr/>
        </p:nvSpPr>
        <p:spPr>
          <a:xfrm>
            <a:off x="381000" y="571500"/>
            <a:ext cx="11430000" cy="571500"/>
          </a:xfrm>
          <a:prstGeom prst="rect">
            <a:avLst/>
          </a:prstGeom>
          <a:noFill/>
        </p:spPr>
        <p:txBody>
          <a:bodyPr anchor="ctr"/>
          <a:lstStyle/>
          <a:p>
            <a:r>
              <a:rPr sz="2400" b="1">
                <a:solidFill>
                  <a:schemeClr val="tx2"/>
                </a:solidFill>
              </a:rPr>
              <a:t>溢出 + 无 autofit → 照常溢出</a:t>
            </a:r>
          </a:p>
        </p:txBody>
      </p:sp>
      <p:sp>
        <p:nvSpPr>
          <p:cNvPr id="108" name="target"/>
          <p:cNvSpPr/>
          <p:nvPr/>
        </p:nvSpPr>
        <p:spPr>
          <a:xfrm>
            <a:off x="571500" y="1714500"/>
            <a:ext cx="4000500" cy="1333500"/>
          </a:xfrm>
          <a:prstGeom prst="rect">
            <a:avLst/>
          </a:prstGeom>
          <a:solidFill>
            <a:schemeClr val="accent1"/>
          </a:solidFill>
        </p:spPr>
        <p:txBody>
          <a:bodyPr/>
          <a:lstStyle/>
          <a:p>
            <a:r>
              <a:rPr sz="2000"/>
              <a:t>自动缩放回归：这一段文字在给定的文本框里按标称字号排版必定溢出，渲染器应当自行计算缩放比例把它塞进框内，而不是让它溢出到版面之外。真实演讲文件里大量文本框只写了裸的 normAutofit 而不带 fontScale，PowerPoint 与 LibreOffice 都会自行计算缩放；若照标称字号渲染，整段文字会盖住下方内容甚至跑出版面。</a:t>
            </a:r>
          </a:p>
        </p:txBody>
      </p:sp>
      <p:sp>
        <p:nvSpPr>
          <p:cNvPr id="109" name="sp"/>
          <p:cNvSpPr/>
          <p:nvPr/>
        </p:nvSpPr>
        <p:spPr>
          <a:xfrm>
            <a:off x="4953000" y="1714500"/>
            <a:ext cx="3810000" cy="1333500"/>
          </a:xfrm>
          <a:prstGeom prst="rect">
            <a:avLst/>
          </a:prstGeom>
          <a:noFill/>
        </p:spPr>
        <p:txBody>
          <a:bodyPr anchor="ctr"/>
          <a:lstStyle/>
          <a:p>
            <a:pPr algn="ctr"/>
            <a:r>
              <a:rPr sz="900">
                <a:solidFill>
                  <a:srgbClr val="606060"/>
                </a:solidFill>
              </a:rPr>
              <a:t>左侧框 420×140，标称 20pt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p"/>
          <p:cNvSpPr/>
          <p:nvPr/>
        </p:nvSpPr>
        <p:spPr>
          <a:xfrm>
            <a:off x="381000" y="571500"/>
            <a:ext cx="11430000" cy="571500"/>
          </a:xfrm>
          <a:prstGeom prst="rect">
            <a:avLst/>
          </a:prstGeom>
          <a:noFill/>
        </p:spPr>
        <p:txBody>
          <a:bodyPr anchor="ctr"/>
          <a:lstStyle/>
          <a:p>
            <a:r>
              <a:rPr sz="2400" b="1">
                <a:solidFill>
                  <a:schemeClr val="tx2"/>
                </a:solidFill>
              </a:rPr>
              <a:t>溢出 + 显式 fontScale 50% → 用文件值</a:t>
            </a:r>
          </a:p>
        </p:txBody>
      </p:sp>
      <p:sp>
        <p:nvSpPr>
          <p:cNvPr id="111" name="target"/>
          <p:cNvSpPr/>
          <p:nvPr/>
        </p:nvSpPr>
        <p:spPr>
          <a:xfrm>
            <a:off x="571500" y="1714500"/>
            <a:ext cx="4000500" cy="1333500"/>
          </a:xfrm>
          <a:prstGeom prst="rect">
            <a:avLst/>
          </a:prstGeom>
          <a:solidFill>
            <a:schemeClr val="accent1"/>
          </a:solidFill>
        </p:spPr>
        <p:txBody>
          <a:bodyPr>
            <a:normAutofit fontScale="50000"/>
          </a:bodyPr>
          <a:lstStyle/>
          <a:p>
            <a:r>
              <a:rPr sz="2000"/>
              <a:t>自动缩放回归：这一段文字在给定的文本框里按标称字号排版必定溢出，渲染器应当自行计算缩放比例把它塞进框内，而不是让它溢出到版面之外。真实演讲文件里大量文本框只写了裸的 normAutofit 而不带 fontScale，PowerPoint 与 LibreOffice 都会自行计算缩放；若照标称字号渲染，整段文字会盖住下方内容甚至跑出版面。</a:t>
            </a:r>
          </a:p>
        </p:txBody>
      </p:sp>
      <p:sp>
        <p:nvSpPr>
          <p:cNvPr id="112" name="sp"/>
          <p:cNvSpPr/>
          <p:nvPr/>
        </p:nvSpPr>
        <p:spPr>
          <a:xfrm>
            <a:off x="4953000" y="1714500"/>
            <a:ext cx="3810000" cy="1333500"/>
          </a:xfrm>
          <a:prstGeom prst="rect">
            <a:avLst/>
          </a:prstGeom>
          <a:noFill/>
        </p:spPr>
        <p:txBody>
          <a:bodyPr anchor="ctr"/>
          <a:lstStyle/>
          <a:p>
            <a:pPr algn="ctr"/>
            <a:r>
              <a:rPr sz="900">
                <a:solidFill>
                  <a:srgbClr val="606060"/>
                </a:solidFill>
              </a:rPr>
              <a:t>左侧框 420×140，标称 20pt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sp"/>
          <p:cNvSpPr/>
          <p:nvPr/>
        </p:nvSpPr>
        <p:spPr>
          <a:xfrm>
            <a:off x="381000" y="571500"/>
            <a:ext cx="11430000" cy="571500"/>
          </a:xfrm>
          <a:prstGeom prst="rect">
            <a:avLst/>
          </a:prstGeom>
          <a:noFill/>
        </p:spPr>
        <p:txBody>
          <a:bodyPr anchor="ctr"/>
          <a:lstStyle/>
          <a:p>
            <a:r>
              <a:rPr sz="2400" b="1">
                <a:solidFill>
                  <a:schemeClr val="tx2"/>
                </a:solidFill>
              </a:rPr>
              <a:t>远超容量 → 缩到 25% 下限为止</a:t>
            </a:r>
          </a:p>
        </p:txBody>
      </p:sp>
      <p:sp>
        <p:nvSpPr>
          <p:cNvPr id="114" name="target"/>
          <p:cNvSpPr/>
          <p:nvPr/>
        </p:nvSpPr>
        <p:spPr>
          <a:xfrm>
            <a:off x="571500" y="1714500"/>
            <a:ext cx="4000500" cy="1333500"/>
          </a:xfrm>
          <a:prstGeom prst="rect">
            <a:avLst/>
          </a:prstGeom>
          <a:solidFill>
            <a:schemeClr val="accent1"/>
          </a:solidFill>
        </p:spPr>
        <p:txBody>
          <a:bodyPr>
            <a:normAutofit/>
          </a:bodyPr>
          <a:lstStyle/>
          <a:p>
            <a:r>
              <a:rPr sz="2000"/>
              <a:t>自动缩放回归：这一段文字在给定的文本框里按标称字号排版必定溢出，渲染器应当自行计算缩放比例把它塞进框内，而不是让它溢出到版面之外。真实演讲文件里大量文本框只写了裸的 normAutofit 而不带 fontScale，PowerPoint 与 LibreOffice 都会自行计算缩放；若照标称字号渲染，整段文字会盖住下方内容甚至跑出版面。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重复</a:t>
            </a:r>
          </a:p>
        </p:txBody>
      </p:sp>
      <p:sp>
        <p:nvSpPr>
          <p:cNvPr id="115" name="sp"/>
          <p:cNvSpPr/>
          <p:nvPr/>
        </p:nvSpPr>
        <p:spPr>
          <a:xfrm>
            <a:off x="4953000" y="1714500"/>
            <a:ext cx="3810000" cy="1333500"/>
          </a:xfrm>
          <a:prstGeom prst="rect">
            <a:avLst/>
          </a:prstGeom>
          <a:noFill/>
        </p:spPr>
        <p:txBody>
          <a:bodyPr anchor="ctr"/>
          <a:lstStyle/>
          <a:p>
            <a:pPr algn="ctr"/>
            <a:r>
              <a:rPr sz="900">
                <a:solidFill>
                  <a:srgbClr val="606060"/>
                </a:solidFill>
              </a:rPr>
              <a:t>左侧框 420×140，标称 20pt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p"/>
          <p:cNvSpPr/>
          <p:nvPr/>
        </p:nvSpPr>
        <p:spPr>
          <a:xfrm>
            <a:off x="381000" y="571500"/>
            <a:ext cx="11430000" cy="571500"/>
          </a:xfrm>
          <a:prstGeom prst="rect">
            <a:avLst/>
          </a:prstGeom>
          <a:noFill/>
        </p:spPr>
        <p:txBody>
          <a:bodyPr anchor="ctr"/>
          <a:lstStyle/>
          <a:p>
            <a:r>
              <a:rPr sz="2400" b="1">
                <a:solidFill>
                  <a:schemeClr val="tx2"/>
                </a:solidFill>
              </a:rPr>
              <a:t>行距 150% (spcPct) 与 24pt (spcPts) 对照</a:t>
            </a:r>
          </a:p>
        </p:txBody>
      </p:sp>
      <p:sp>
        <p:nvSpPr>
          <p:cNvPr id="117" name="target"/>
          <p:cNvSpPr/>
          <p:nvPr/>
        </p:nvSpPr>
        <p:spPr>
          <a:xfrm>
            <a:off x="571500" y="1714500"/>
            <a:ext cx="4000500" cy="1333500"/>
          </a:xfrm>
          <a:prstGeom prst="rect">
            <a:avLst/>
          </a:prstGeom>
          <a:solidFill>
            <a:schemeClr val="accent1"/>
          </a:solidFill>
        </p:spPr>
        <p:txBody>
          <a:bodyPr/>
          <a:lstStyle/>
          <a:p>
            <a:pPr>
              <a:lnSpc>
                <a:spcPct val="150000"/>
              </a:lnSpc>
            </a:pPr>
            <a:r>
              <a:rPr sz="1400"/>
              <a:t>百分比行距 150%：这一段有三行，用来验证行高的基准是字体行高而不是字号。</a:t>
            </a:r>
          </a:p>
          <a:p>
            <a:pPr>
              <a:lnSpc>
                <a:spcPts val="2400"/>
              </a:lnSpc>
            </a:pPr>
            <a:r>
              <a:rPr sz="1400"/>
              <a:t>绝对行距 24pt：同样三行，换算方式与百分比行距不同。</a:t>
            </a:r>
          </a:p>
        </p:txBody>
      </p:sp>
      <p:sp>
        <p:nvSpPr>
          <p:cNvPr id="118" name="sp"/>
          <p:cNvSpPr/>
          <p:nvPr/>
        </p:nvSpPr>
        <p:spPr>
          <a:xfrm>
            <a:off x="4953000" y="1714500"/>
            <a:ext cx="3810000" cy="1333500"/>
          </a:xfrm>
          <a:prstGeom prst="rect">
            <a:avLst/>
          </a:prstGeom>
          <a:noFill/>
        </p:spPr>
        <p:txBody>
          <a:bodyPr anchor="ctr"/>
          <a:lstStyle/>
          <a:p>
            <a:pPr algn="ctr"/>
            <a:r>
              <a:rPr sz="900">
                <a:solidFill>
                  <a:srgbClr val="606060"/>
                </a:solidFill>
              </a:rPr>
              <a:t>左侧框 420×140，标称 20pt</a:t>
            </a:r>
          </a:p>
        </p:txBody>
      </p:sp>
    </p:spTree>
  </p:cSld>
  <p:clrMapOvr>
    <a:masterClrMapping/>
  </p:clrMapOvr>
</p:sld>
</file>

<file path=ppt/theme/theme1.xml><?xml version="1.0" encoding="utf-8"?>
<a:theme xmlns:a="http://schemas.openxmlformats.org/drawingml/2006/main" name="Autofit">
  <a:themeElements>
    <a:clrScheme name="Autofit">
      <a:dk1>
        <a:sysClr val="windowText" lastClr="1A1A1A"/>
      </a:dk1>
      <a:lt1>
        <a:sysClr val="window" lastClr="FFFFFF"/>
      </a:lt1>
      <a:dk2>
        <a:srgbClr val="1F3864"/>
      </a:dk2>
      <a:lt2>
        <a:srgbClr val="F2F2F2"/>
      </a:lt2>
      <a:accent1>
        <a:srgbClr val="2E75B6"/>
      </a:accent1>
      <a:accent2>
        <a:srgbClr val="A6A6A6"/>
      </a:accent2>
      <a:accent3>
        <a:srgbClr val="70AD47"/>
      </a:accent3>
      <a:accent4>
        <a:srgbClr val="FFC000"/>
      </a:accent4>
      <a:accent5>
        <a:srgbClr val="ED7D31"/>
      </a:accent5>
      <a:accent6>
        <a:srgbClr val="7030A0"/>
      </a:accent6>
      <a:hlink>
        <a:srgbClr val="0563C1"/>
      </a:hlink>
      <a:folHlink>
        <a:srgbClr val="954F72"/>
      </a:folHlink>
    </a:clrScheme>
    <a:fontScheme name="Autofit">
      <a:majorFont>
        <a:latin typeface="Calibri Light"/>
        <a:ea typeface=""/>
        <a:cs typeface=""/>
      </a:majorFont>
      <a:minorFont>
        <a:latin typeface="Calibri"/>
        <a:ea typeface=""/>
        <a:cs typeface=""/>
      </a:minorFont>
    </a:fontScheme>
    <a:fmtScheme name="Autofit">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