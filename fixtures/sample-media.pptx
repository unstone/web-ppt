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ink/ink1.xml" ContentType="application/inkml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sz="1800"/>
    </a:defPPr>
  </p:defaultTextStyle>
  <p:extLst>
    <p:ext uri="{521415D9-36F7-43E2-AB2F-B90AF26B5E84}">
      <p14:sectionLst xmlns:p14="http://schemas.microsoft.com/office/powerpoint/2010/main">
        <p14:section name="媒体与墨迹" id="{3B3A1C00-8A0E-4F1B-9B3E-1F5A6C7D8E90}">
          <p14:sldIdLst>
            <p14:sldId id="256"/>
            <p14:sldId id="257"/>
          </p14:sldIdLst>
        </p14:section>
        <p14:section name="协作信息" id="{3B3A1C01-8A0E-4F1B-9B3E-1F5A6C7D8E91}">
          <p14:sldIdLst>
            <p14:sldId id="258"/>
          </p14:sldIdLst>
        </p14:section>
        <p14:section name="新增图表" id="{3B3A1C02-8A0E-4F1B-9B3E-1F5A6C7D8E92}">
          <p14:sldIdLst>
            <p14:sldId id="259"/>
            <p14:sldId id="260"/>
            <p14:sldId id="261"/>
            <p14:sldId id="262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陈磊" initials="CL" lastIdx="3" clrIdx="0"/>
  <p:cmAuthor id="1" name="评审组" initials="PS" lastIdx="1" clrIdx="1"/>
</p:cmAuthor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commentAuthors" Target="commentAuthors.xml"/><Relationship Id="rId10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 b="1">
                <a:solidFill>
                  <a:schemeClr val="tx2"/>
                </a:solidFill>
              </a:defRPr>
            </a:pPr>
            <a:r>
              <a:t>渠道投入 / 转化 / 规模（气泡图）</a:t>
            </a:r>
          </a:p>
        </c:rich>
      </c:tx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一线城市</c:v>
                </c:pt>
              </c:strCache>
            </c:strRef>
          </c:tx>
          <c:spPr>
            <a:solidFill>
              <a:schemeClr val="accent1"/>
            </a:solidFill>
            <a:ln w="12700">
              <a:solidFill>
                <a:srgbClr val="FFFFFF"/>
              </a:solidFill>
            </a:ln>
          </c:spPr>
          <c:invertIfNegative val="0"/>
          <c:xVal>
            <c:numRef>
              <c:f>Sheet1!$A$2:$A$9</c:f>
              <c:numCache>
                <c:formatCode>0.0</c:formatCode>
                <c:ptCount val="5"/>
                <c:pt idx="0">
                  <c:v>12</c:v>
                </c:pt>
                <c:pt idx="1">
                  <c:v>26</c:v>
                </c:pt>
                <c:pt idx="2">
                  <c:v>38</c:v>
                </c:pt>
                <c:pt idx="3">
                  <c:v>52</c:v>
                </c:pt>
                <c:pt idx="4">
                  <c:v>66</c:v>
                </c:pt>
              </c:numCache>
            </c:numRef>
          </c:xVal>
          <c:yVal>
            <c:numRef>
              <c:f>Sheet1!$B$2:$B$9</c:f>
              <c:numCache>
                <c:formatCode>0.0%</c:formatCode>
                <c:ptCount val="5"/>
                <c:pt idx="0">
                  <c:v>0.031</c:v>
                </c:pt>
                <c:pt idx="1">
                  <c:v>0.052</c:v>
                </c:pt>
                <c:pt idx="2">
                  <c:v>0.045</c:v>
                </c:pt>
                <c:pt idx="3">
                  <c:v>0.078</c:v>
                </c:pt>
                <c:pt idx="4">
                  <c:v>0.062</c:v>
                </c:pt>
              </c:numCache>
            </c:numRef>
          </c:yVal>
          <c:bubbleSize>
            <c:numRef>
              <c:f>Sheet1!$C$2:$C$9</c:f>
              <c:numCache>
                <c:formatCode>#,##0</c:formatCode>
                <c:ptCount val="5"/>
                <c:pt idx="0">
                  <c:v>820</c:v>
                </c:pt>
                <c:pt idx="1">
                  <c:v>1600</c:v>
                </c:pt>
                <c:pt idx="2">
                  <c:v>2400</c:v>
                </c:pt>
                <c:pt idx="3">
                  <c:v>4200</c:v>
                </c:pt>
                <c:pt idx="4">
                  <c:v>3100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新兴市场</c:v>
                </c:pt>
              </c:strCache>
            </c:strRef>
          </c:tx>
          <c:spPr>
            <a:solidFill>
              <a:schemeClr val="accent2"/>
            </a:solidFill>
            <a:ln w="12700">
              <a:solidFill>
                <a:srgbClr val="FFFFFF"/>
              </a:solidFill>
            </a:ln>
          </c:spPr>
          <c:invertIfNegative val="0"/>
          <c:xVal>
            <c:numRef>
              <c:f>Sheet1!$A$2:$A$9</c:f>
              <c:numCache>
                <c:formatCode>0.0</c:formatCode>
                <c:ptCount val="5"/>
                <c:pt idx="0">
                  <c:v>18</c:v>
                </c:pt>
                <c:pt idx="1">
                  <c:v>33</c:v>
                </c:pt>
                <c:pt idx="2">
                  <c:v>44</c:v>
                </c:pt>
                <c:pt idx="3">
                  <c:v>58</c:v>
                </c:pt>
                <c:pt idx="4">
                  <c:v>72</c:v>
                </c:pt>
              </c:numCache>
            </c:numRef>
          </c:xVal>
          <c:yVal>
            <c:numRef>
              <c:f>Sheet1!$B$2:$B$9</c:f>
              <c:numCache>
                <c:formatCode>0.0%</c:formatCode>
                <c:ptCount val="5"/>
                <c:pt idx="0">
                  <c:v>0.022</c:v>
                </c:pt>
                <c:pt idx="1">
                  <c:v>0.038</c:v>
                </c:pt>
                <c:pt idx="2">
                  <c:v>0.067</c:v>
                </c:pt>
                <c:pt idx="3">
                  <c:v>0.041</c:v>
                </c:pt>
                <c:pt idx="4">
                  <c:v>0.089</c:v>
                </c:pt>
              </c:numCache>
            </c:numRef>
          </c:yVal>
          <c:bubbleSize>
            <c:numRef>
              <c:f>Sheet1!$C$2:$C$9</c:f>
              <c:numCache>
                <c:formatCode>#,##0</c:formatCode>
                <c:ptCount val="5"/>
                <c:pt idx="0">
                  <c:v>1400</c:v>
                </c:pt>
                <c:pt idx="1">
                  <c:v>900</c:v>
                </c:pt>
                <c:pt idx="2">
                  <c:v>3600</c:v>
                </c:pt>
                <c:pt idx="3">
                  <c:v>2100</c:v>
                </c:pt>
                <c:pt idx="4">
                  <c:v>5200</c:v>
                </c:pt>
              </c:numCache>
            </c:numRef>
          </c:bubbleSize>
          <c:bubble3D val="0"/>
        </c:ser>
        <c:dLbls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showLegendKey val="0"/>
          <c:showVal val="0"/>
          <c:showCatName val="0"/>
          <c:showSerName val="0"/>
          <c:showPercent val="0"/>
          <c:showBubbleSize val="1"/>
        </c:dLbls>
        <c:bubbleScale val="100"/>
        <c:showNegBubbles val="0"/>
        <c:sizeRepresents val="area"/>
        <c:axId val="2101"/>
        <c:axId val="2102"/>
      </c:bubbleChart>
      <c:valAx>
        <c:axId val="2101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投放强度</a:t>
                </a:r>
              </a:p>
            </c:rich>
          </c:tx>
        </c:title>
        <c:numFmt formatCode="0" sourceLinked="0"/>
        <c:crossAx val="2102"/>
        <c:crosses val="autoZero"/>
        <c:crossBetween val="midCat"/>
      </c:valAx>
      <c:valAx>
        <c:axId val="21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转化率</a:t>
                </a:r>
              </a:p>
            </c:rich>
          </c:tx>
        </c:title>
        <c:numFmt formatCode="0%" sourceLinked="0"/>
        <c:crossAx val="2101"/>
        <c:crosses val="autoZero"/>
        <c:crossBetween val="midCat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950"/>
      </a:pPr>
      <a:endParaRPr lang="zh-CN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 b="1">
                <a:solidFill>
                  <a:schemeClr val="tx2"/>
                </a:solidFill>
              </a:defRPr>
            </a:pPr>
            <a:r>
              <a:t>半径正比模式（sizeRepresents=w）</a:t>
            </a:r>
          </a:p>
        </c:rich>
      </c:tx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样本</c:v>
                </c:pt>
              </c:strCache>
            </c:strRef>
          </c:tx>
          <c:spPr>
            <a:solidFill>
              <a:schemeClr val="accent5"/>
            </a:solidFill>
            <a:ln w="12700">
              <a:solidFill>
                <a:srgbClr val="FFFFFF"/>
              </a:solidFill>
            </a:ln>
          </c:spPr>
          <c:invertIfNegative val="0"/>
          <c:xVal>
            <c:numRef>
              <c:f>Sheet1!$A$2:$A$9</c:f>
              <c:numCache>
                <c:formatCode>0.0</c:formatCode>
                <c:ptCount val="5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  <c:pt idx="4">
                  <c:v>70</c:v>
                </c:pt>
              </c:numCache>
            </c:numRef>
          </c:xVal>
          <c:yVal>
            <c:numRef>
              <c:f>Sheet1!$B$2:$B$9</c:f>
              <c:numCache>
                <c:formatCode>0.0%</c:formatCode>
                <c:ptCount val="5"/>
                <c:pt idx="0">
                  <c:v>0.02</c:v>
                </c:pt>
                <c:pt idx="1">
                  <c:v>0.05</c:v>
                </c:pt>
                <c:pt idx="2">
                  <c:v>0.035</c:v>
                </c:pt>
                <c:pt idx="3">
                  <c:v>0.07</c:v>
                </c:pt>
                <c:pt idx="4">
                  <c:v>0.055</c:v>
                </c:pt>
              </c:numCache>
            </c:numRef>
          </c:yVal>
          <c:bubbleSize>
            <c:numRef>
              <c:f>Sheet1!$C$2:$C$9</c:f>
              <c:numCache>
                <c:formatCode>#,##0</c:formatCode>
                <c:ptCount val="5"/>
                <c:pt idx="0">
                  <c:v>400</c:v>
                </c:pt>
                <c:pt idx="1">
                  <c:v>1200</c:v>
                </c:pt>
                <c:pt idx="2">
                  <c:v>2000</c:v>
                </c:pt>
                <c:pt idx="3">
                  <c:v>3600</c:v>
                </c:pt>
                <c:pt idx="4">
                  <c:v>5000</c:v>
                </c:pt>
              </c:numCache>
            </c:numRef>
          </c:bubbleSize>
          <c:bubble3D val="0"/>
        </c:ser>
        <c:bubbleScale val="80"/>
        <c:showNegBubbles val="0"/>
        <c:sizeRepresents val="w"/>
        <c:axId val="2111"/>
        <c:axId val="2112"/>
      </c:bubbleChart>
      <c:valAx>
        <c:axId val="2111"/>
        <c:scaling>
          <c:orientation val="minMax"/>
        </c:scaling>
        <c:delete val="0"/>
        <c:axPos val="b"/>
        <c:majorGridlines/>
        <c:numFmt formatCode="0" sourceLinked="0"/>
        <c:crossAx val="2112"/>
        <c:crosses val="autoZero"/>
        <c:crossBetween val="midCat"/>
      </c:valAx>
      <c:valAx>
        <c:axId val="2112"/>
        <c:scaling>
          <c:orientation val="minMax"/>
        </c:scaling>
        <c:delete val="0"/>
        <c:axPos val="l"/>
        <c:majorGridlines/>
        <c:numFmt formatCode="0%" sourceLinked="0"/>
        <c:crossAx val="2111"/>
        <c:crosses val="autoZero"/>
        <c:crossBetween val="midCat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950"/>
      </a:pPr>
      <a:endParaRPr lang="zh-CN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 b="1">
                <a:solidFill>
                  <a:schemeClr val="tx2"/>
                </a:solidFill>
              </a:defRPr>
            </a:pPr>
            <a:r>
              <a:t>日 K 线（开高低收 + 涨跌柱）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strRef>
              <c:f>Sheet1!$A$1</c:f>
              <c:strCache>
                <c:ptCount val="1"/>
                <c:pt idx="0">
                  <c:v>开盘</c:v>
                </c:pt>
              </c:strCache>
            </c:strRef>
          </c:tx>
          <c:spPr>
            <a:ln w="9525">
              <a:noFill/>
            </a:ln>
          </c:spPr>
          <c:cat>
            <c:strRef>
              <c:f>Sheet1!$A$2:$A$11</c:f>
              <c:strCache>
                <c:ptCount val="10"/>
                <c:pt idx="0">
                  <c:v>9/1</c:v>
                </c:pt>
                <c:pt idx="1">
                  <c:v>9/2</c:v>
                </c:pt>
                <c:pt idx="2">
                  <c:v>9/3</c:v>
                </c:pt>
                <c:pt idx="3">
                  <c:v>9/4</c:v>
                </c:pt>
                <c:pt idx="4">
                  <c:v>9/5</c:v>
                </c:pt>
                <c:pt idx="5">
                  <c:v>9/8</c:v>
                </c:pt>
                <c:pt idx="6">
                  <c:v>9/9</c:v>
                </c:pt>
                <c:pt idx="7">
                  <c:v>9/10</c:v>
                </c:pt>
                <c:pt idx="8">
                  <c:v>9/11</c:v>
                </c:pt>
                <c:pt idx="9">
                  <c:v>9/12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128.4</c:v>
                </c:pt>
                <c:pt idx="1">
                  <c:v>131.2</c:v>
                </c:pt>
                <c:pt idx="2">
                  <c:v>129.8</c:v>
                </c:pt>
                <c:pt idx="3">
                  <c:v>133.5</c:v>
                </c:pt>
                <c:pt idx="4">
                  <c:v>136.1</c:v>
                </c:pt>
                <c:pt idx="5">
                  <c:v>134.2</c:v>
                </c:pt>
                <c:pt idx="6">
                  <c:v>138.6</c:v>
                </c:pt>
                <c:pt idx="7">
                  <c:v>141</c:v>
                </c:pt>
                <c:pt idx="8">
                  <c:v>139.4</c:v>
                </c:pt>
                <c:pt idx="9">
                  <c:v>143.2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最高</c:v>
                </c:pt>
              </c:strCache>
            </c:strRef>
          </c:tx>
          <c:spPr>
            <a:ln w="9525">
              <a:noFill/>
            </a:ln>
          </c:spPr>
          <c:cat>
            <c:strRef>
              <c:f>Sheet1!$A$2:$A$11</c:f>
              <c:strCache>
                <c:ptCount val="10"/>
                <c:pt idx="0">
                  <c:v>9/1</c:v>
                </c:pt>
                <c:pt idx="1">
                  <c:v>9/2</c:v>
                </c:pt>
                <c:pt idx="2">
                  <c:v>9/3</c:v>
                </c:pt>
                <c:pt idx="3">
                  <c:v>9/4</c:v>
                </c:pt>
                <c:pt idx="4">
                  <c:v>9/5</c:v>
                </c:pt>
                <c:pt idx="5">
                  <c:v>9/8</c:v>
                </c:pt>
                <c:pt idx="6">
                  <c:v>9/9</c:v>
                </c:pt>
                <c:pt idx="7">
                  <c:v>9/10</c:v>
                </c:pt>
                <c:pt idx="8">
                  <c:v>9/11</c:v>
                </c:pt>
                <c:pt idx="9">
                  <c:v>9/12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132.6</c:v>
                </c:pt>
                <c:pt idx="1">
                  <c:v>133.8</c:v>
                </c:pt>
                <c:pt idx="2">
                  <c:v>134.9</c:v>
                </c:pt>
                <c:pt idx="3">
                  <c:v>137.2</c:v>
                </c:pt>
                <c:pt idx="4">
                  <c:v>138.4</c:v>
                </c:pt>
                <c:pt idx="5">
                  <c:v>139.8</c:v>
                </c:pt>
                <c:pt idx="6">
                  <c:v>142.5</c:v>
                </c:pt>
                <c:pt idx="7">
                  <c:v>143.6</c:v>
                </c:pt>
                <c:pt idx="8">
                  <c:v>145.1</c:v>
                </c:pt>
                <c:pt idx="9">
                  <c:v>147.8</c:v>
                </c:pt>
              </c:numCache>
            </c:numRef>
          </c:val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最低</c:v>
                </c:pt>
              </c:strCache>
            </c:strRef>
          </c:tx>
          <c:spPr>
            <a:ln w="9525">
              <a:noFill/>
            </a:ln>
          </c:spPr>
          <c:cat>
            <c:strRef>
              <c:f>Sheet1!$A$2:$A$11</c:f>
              <c:strCache>
                <c:ptCount val="10"/>
                <c:pt idx="0">
                  <c:v>9/1</c:v>
                </c:pt>
                <c:pt idx="1">
                  <c:v>9/2</c:v>
                </c:pt>
                <c:pt idx="2">
                  <c:v>9/3</c:v>
                </c:pt>
                <c:pt idx="3">
                  <c:v>9/4</c:v>
                </c:pt>
                <c:pt idx="4">
                  <c:v>9/5</c:v>
                </c:pt>
                <c:pt idx="5">
                  <c:v>9/8</c:v>
                </c:pt>
                <c:pt idx="6">
                  <c:v>9/9</c:v>
                </c:pt>
                <c:pt idx="7">
                  <c:v>9/10</c:v>
                </c:pt>
                <c:pt idx="8">
                  <c:v>9/11</c:v>
                </c:pt>
                <c:pt idx="9">
                  <c:v>9/12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127.1</c:v>
                </c:pt>
                <c:pt idx="1">
                  <c:v>128.4</c:v>
                </c:pt>
                <c:pt idx="2">
                  <c:v>128.2</c:v>
                </c:pt>
                <c:pt idx="3">
                  <c:v>132</c:v>
                </c:pt>
                <c:pt idx="4">
                  <c:v>133</c:v>
                </c:pt>
                <c:pt idx="5">
                  <c:v>133.1</c:v>
                </c:pt>
                <c:pt idx="6">
                  <c:v>137.4</c:v>
                </c:pt>
                <c:pt idx="7">
                  <c:v>138.2</c:v>
                </c:pt>
                <c:pt idx="8">
                  <c:v>138</c:v>
                </c:pt>
                <c:pt idx="9">
                  <c:v>142.1</c:v>
                </c:pt>
              </c:numCache>
            </c:numRef>
          </c:val>
        </c:ser>
        <c:ser>
          <c:idx val="3"/>
          <c:order val="3"/>
          <c:tx>
            <c:strRef>
              <c:f>Sheet1!$A$1</c:f>
              <c:strCache>
                <c:ptCount val="1"/>
                <c:pt idx="0">
                  <c:v>收盘</c:v>
                </c:pt>
              </c:strCache>
            </c:strRef>
          </c:tx>
          <c:spPr>
            <a:ln w="9525">
              <a:noFill/>
            </a:ln>
          </c:spPr>
          <c:cat>
            <c:strRef>
              <c:f>Sheet1!$A$2:$A$11</c:f>
              <c:strCache>
                <c:ptCount val="10"/>
                <c:pt idx="0">
                  <c:v>9/1</c:v>
                </c:pt>
                <c:pt idx="1">
                  <c:v>9/2</c:v>
                </c:pt>
                <c:pt idx="2">
                  <c:v>9/3</c:v>
                </c:pt>
                <c:pt idx="3">
                  <c:v>9/4</c:v>
                </c:pt>
                <c:pt idx="4">
                  <c:v>9/5</c:v>
                </c:pt>
                <c:pt idx="5">
                  <c:v>9/8</c:v>
                </c:pt>
                <c:pt idx="6">
                  <c:v>9/9</c:v>
                </c:pt>
                <c:pt idx="7">
                  <c:v>9/10</c:v>
                </c:pt>
                <c:pt idx="8">
                  <c:v>9/11</c:v>
                </c:pt>
                <c:pt idx="9">
                  <c:v>9/12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131.3</c:v>
                </c:pt>
                <c:pt idx="1">
                  <c:v>129.6</c:v>
                </c:pt>
                <c:pt idx="2">
                  <c:v>133.7</c:v>
                </c:pt>
                <c:pt idx="3">
                  <c:v>136.4</c:v>
                </c:pt>
                <c:pt idx="4">
                  <c:v>134</c:v>
                </c:pt>
                <c:pt idx="5">
                  <c:v>138.9</c:v>
                </c:pt>
                <c:pt idx="6">
                  <c:v>141.2</c:v>
                </c:pt>
                <c:pt idx="7">
                  <c:v>139.1</c:v>
                </c:pt>
                <c:pt idx="8">
                  <c:v>143.6</c:v>
                </c:pt>
                <c:pt idx="9">
                  <c:v>146.9</c:v>
                </c:pt>
              </c:numCache>
            </c:numRef>
          </c:val>
        </c:ser>
        <c:hiLowLines>
          <c:spPr>
            <a:ln w="9525">
              <a:solidFill>
                <a:srgbClr val="55606E"/>
              </a:solidFill>
            </a:ln>
          </c:spPr>
        </c:hiLowLines>
        <c:upDownBars>
          <c:gapWidth val="120"/>
          <c:upBars>
            <c:spPr>
              <a:solidFill>
                <a:srgbClr val="FFFFFF"/>
              </a:solidFill>
              <a:ln w="9525">
                <a:solidFill>
                  <a:srgbClr val="C0392B"/>
                </a:solidFill>
              </a:ln>
            </c:spPr>
          </c:upBars>
          <c:downBars>
            <c:spPr>
              <a:solidFill>
                <a:srgbClr val="2E8B57"/>
              </a:solidFill>
              <a:ln w="9525">
                <a:solidFill>
                  <a:srgbClr val="1F6F45"/>
                </a:solidFill>
              </a:ln>
            </c:spPr>
          </c:downBars>
        </c:upDownBars>
        <c:axId val="2201"/>
        <c:axId val="2202"/>
      </c:stockChart>
      <c:catAx>
        <c:axId val="2201"/>
        <c:scaling>
          <c:orientation val="minMax"/>
        </c:scaling>
        <c:delete val="0"/>
        <c:axPos val="b"/>
        <c:crossAx val="2202"/>
        <c:crosses val="autoZero"/>
        <c:auto val="1"/>
        <c:lblAlgn val="ctr"/>
        <c:lblOffset val="100"/>
      </c:catAx>
      <c:valAx>
        <c:axId val="22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价格</a:t>
                </a:r>
              </a:p>
            </c:rich>
          </c:tx>
        </c:title>
        <c:numFmt formatCode="0.0" sourceLinked="0"/>
        <c:crossAx val="2201"/>
        <c:crosses val="autoZero"/>
        <c:crossBetween val="midCat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950"/>
      </a:pPr>
      <a:endParaRPr lang="zh-CN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 b="1">
                <a:solidFill>
                  <a:schemeClr val="tx2"/>
                </a:solidFill>
              </a:defRPr>
            </a:pPr>
            <a:r>
              <a:t>高低收（无涨跌柱 → OHLC 竖线）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strRef>
              <c:f>Sheet1!$A$1</c:f>
              <c:strCache>
                <c:ptCount val="1"/>
                <c:pt idx="0">
                  <c:v>最高</c:v>
                </c:pt>
              </c:strCache>
            </c:strRef>
          </c:tx>
          <c:spPr>
            <a:ln w="9525">
              <a:noFill/>
            </a:ln>
          </c:spPr>
          <c:cat>
            <c:strRef>
              <c:f>Sheet1!$A$2:$A$11</c:f>
              <c:strCache>
                <c:ptCount val="10"/>
                <c:pt idx="0">
                  <c:v>9/1</c:v>
                </c:pt>
                <c:pt idx="1">
                  <c:v>9/2</c:v>
                </c:pt>
                <c:pt idx="2">
                  <c:v>9/3</c:v>
                </c:pt>
                <c:pt idx="3">
                  <c:v>9/4</c:v>
                </c:pt>
                <c:pt idx="4">
                  <c:v>9/5</c:v>
                </c:pt>
                <c:pt idx="5">
                  <c:v>9/8</c:v>
                </c:pt>
                <c:pt idx="6">
                  <c:v>9/9</c:v>
                </c:pt>
                <c:pt idx="7">
                  <c:v>9/10</c:v>
                </c:pt>
                <c:pt idx="8">
                  <c:v>9/11</c:v>
                </c:pt>
                <c:pt idx="9">
                  <c:v>9/12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132.6</c:v>
                </c:pt>
                <c:pt idx="1">
                  <c:v>133.8</c:v>
                </c:pt>
                <c:pt idx="2">
                  <c:v>134.9</c:v>
                </c:pt>
                <c:pt idx="3">
                  <c:v>137.2</c:v>
                </c:pt>
                <c:pt idx="4">
                  <c:v>138.4</c:v>
                </c:pt>
                <c:pt idx="5">
                  <c:v>139.8</c:v>
                </c:pt>
                <c:pt idx="6">
                  <c:v>142.5</c:v>
                </c:pt>
                <c:pt idx="7">
                  <c:v>143.6</c:v>
                </c:pt>
                <c:pt idx="8">
                  <c:v>145.1</c:v>
                </c:pt>
                <c:pt idx="9">
                  <c:v>147.8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最低</c:v>
                </c:pt>
              </c:strCache>
            </c:strRef>
          </c:tx>
          <c:spPr>
            <a:ln w="9525">
              <a:noFill/>
            </a:ln>
          </c:spPr>
          <c:cat>
            <c:strRef>
              <c:f>Sheet1!$A$2:$A$11</c:f>
              <c:strCache>
                <c:ptCount val="10"/>
                <c:pt idx="0">
                  <c:v>9/1</c:v>
                </c:pt>
                <c:pt idx="1">
                  <c:v>9/2</c:v>
                </c:pt>
                <c:pt idx="2">
                  <c:v>9/3</c:v>
                </c:pt>
                <c:pt idx="3">
                  <c:v>9/4</c:v>
                </c:pt>
                <c:pt idx="4">
                  <c:v>9/5</c:v>
                </c:pt>
                <c:pt idx="5">
                  <c:v>9/8</c:v>
                </c:pt>
                <c:pt idx="6">
                  <c:v>9/9</c:v>
                </c:pt>
                <c:pt idx="7">
                  <c:v>9/10</c:v>
                </c:pt>
                <c:pt idx="8">
                  <c:v>9/11</c:v>
                </c:pt>
                <c:pt idx="9">
                  <c:v>9/12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127.1</c:v>
                </c:pt>
                <c:pt idx="1">
                  <c:v>128.4</c:v>
                </c:pt>
                <c:pt idx="2">
                  <c:v>128.2</c:v>
                </c:pt>
                <c:pt idx="3">
                  <c:v>132</c:v>
                </c:pt>
                <c:pt idx="4">
                  <c:v>133</c:v>
                </c:pt>
                <c:pt idx="5">
                  <c:v>133.1</c:v>
                </c:pt>
                <c:pt idx="6">
                  <c:v>137.4</c:v>
                </c:pt>
                <c:pt idx="7">
                  <c:v>138.2</c:v>
                </c:pt>
                <c:pt idx="8">
                  <c:v>138</c:v>
                </c:pt>
                <c:pt idx="9">
                  <c:v>142.1</c:v>
                </c:pt>
              </c:numCache>
            </c:numRef>
          </c:val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收盘</c:v>
                </c:pt>
              </c:strCache>
            </c:strRef>
          </c:tx>
          <c:spPr>
            <a:ln w="9525">
              <a:noFill/>
            </a:ln>
          </c:spPr>
          <c:cat>
            <c:strRef>
              <c:f>Sheet1!$A$2:$A$11</c:f>
              <c:strCache>
                <c:ptCount val="10"/>
                <c:pt idx="0">
                  <c:v>9/1</c:v>
                </c:pt>
                <c:pt idx="1">
                  <c:v>9/2</c:v>
                </c:pt>
                <c:pt idx="2">
                  <c:v>9/3</c:v>
                </c:pt>
                <c:pt idx="3">
                  <c:v>9/4</c:v>
                </c:pt>
                <c:pt idx="4">
                  <c:v>9/5</c:v>
                </c:pt>
                <c:pt idx="5">
                  <c:v>9/8</c:v>
                </c:pt>
                <c:pt idx="6">
                  <c:v>9/9</c:v>
                </c:pt>
                <c:pt idx="7">
                  <c:v>9/10</c:v>
                </c:pt>
                <c:pt idx="8">
                  <c:v>9/11</c:v>
                </c:pt>
                <c:pt idx="9">
                  <c:v>9/12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131.3</c:v>
                </c:pt>
                <c:pt idx="1">
                  <c:v>129.6</c:v>
                </c:pt>
                <c:pt idx="2">
                  <c:v>133.7</c:v>
                </c:pt>
                <c:pt idx="3">
                  <c:v>136.4</c:v>
                </c:pt>
                <c:pt idx="4">
                  <c:v>134</c:v>
                </c:pt>
                <c:pt idx="5">
                  <c:v>138.9</c:v>
                </c:pt>
                <c:pt idx="6">
                  <c:v>141.2</c:v>
                </c:pt>
                <c:pt idx="7">
                  <c:v>139.1</c:v>
                </c:pt>
                <c:pt idx="8">
                  <c:v>143.6</c:v>
                </c:pt>
                <c:pt idx="9">
                  <c:v>146.9</c:v>
                </c:pt>
              </c:numCache>
            </c:numRef>
          </c:val>
        </c:ser>
        <c:hiLowLines/>
        <c:axId val="2211"/>
        <c:axId val="2212"/>
      </c:stockChart>
      <c:catAx>
        <c:axId val="2211"/>
        <c:scaling>
          <c:orientation val="minMax"/>
        </c:scaling>
        <c:delete val="0"/>
        <c:axPos val="b"/>
        <c:crossAx val="2212"/>
        <c:crosses val="autoZero"/>
        <c:auto val="1"/>
        <c:lblAlgn val="ctr"/>
        <c:lblOffset val="100"/>
      </c:catAx>
      <c:valAx>
        <c:axId val="2212"/>
        <c:scaling>
          <c:orientation val="minMax"/>
        </c:scaling>
        <c:delete val="0"/>
        <c:axPos val="l"/>
        <c:majorGridlines/>
        <c:numFmt formatCode="0.0" sourceLinked="0"/>
        <c:crossAx val="2211"/>
        <c:crosses val="autoZero"/>
        <c:crossBetween val="midCat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950"/>
      </a:pPr>
      <a:endParaRPr lang="zh-CN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 b="1">
                <a:solidFill>
                  <a:schemeClr val="tx2"/>
                </a:solidFill>
              </a:defRPr>
            </a:pPr>
            <a:r>
              <a:t>渠道收入（子母饼：末 3 项拆到次饼）</a:t>
            </a:r>
          </a:p>
        </c:rich>
      </c:tx>
      <c:overlay val="0"/>
    </c:title>
    <c:autoTitleDeleted val="0"/>
    <c:plotArea>
      <c:layout/>
      <c:ofPieChart>
        <c:ofPieType val="pie"/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2025 年收入</c:v>
                </c:pt>
              </c:strCache>
            </c:strRef>
          </c:tx>
          <c:dLbls>
            <c:spPr>
              <a:noFill/>
            </c:spPr>
            <c:txPr>
              <a:bodyPr/>
              <a:lstStyle/>
              <a:p>
                <a:pPr>
                  <a:defRPr sz="800"/>
                </a:pPr>
                <a:endParaRPr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Sheet1!$A$2:$A$8</c:f>
              <c:strCache>
                <c:ptCount val="7"/>
                <c:pt idx="0">
                  <c:v>直营门店</c:v>
                </c:pt>
                <c:pt idx="1">
                  <c:v>电商自营</c:v>
                </c:pt>
                <c:pt idx="2">
                  <c:v>平台旗舰</c:v>
                </c:pt>
                <c:pt idx="3">
                  <c:v>经销代理</c:v>
                </c:pt>
                <c:pt idx="4">
                  <c:v>出口</c:v>
                </c:pt>
                <c:pt idx="5">
                  <c:v>批发</c:v>
                </c:pt>
                <c:pt idx="6">
                  <c:v>其他渠道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4200</c:v>
                </c:pt>
                <c:pt idx="1">
                  <c:v>3100</c:v>
                </c:pt>
                <c:pt idx="2">
                  <c:v>2400</c:v>
                </c:pt>
                <c:pt idx="3">
                  <c:v>900</c:v>
                </c:pt>
                <c:pt idx="4">
                  <c:v>520</c:v>
                </c:pt>
                <c:pt idx="5">
                  <c:v>380</c:v>
                </c:pt>
                <c:pt idx="6">
                  <c:v>210</c:v>
                </c:pt>
              </c:numCache>
            </c:numRef>
          </c:val>
        </c:ser>
        <c:gapWidth val="100"/>
        <c:splitType val="pos"/>
        <c:splitPos val="3"/>
        <c:secondPieSize val="70"/>
        <c:serLines/>
      </c:ofPieChart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950"/>
      </a:pPr>
      <a:endParaRPr lang="zh-CN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 b="1">
                <a:solidFill>
                  <a:schemeClr val="tx2"/>
                </a:solidFill>
              </a:defRPr>
            </a:pPr>
            <a:r>
              <a:t>复合条饼（占比 &lt; 6% 拆到次条）</a:t>
            </a:r>
          </a:p>
        </c:rich>
      </c:tx>
      <c:overlay val="0"/>
    </c:title>
    <c:autoTitleDeleted val="0"/>
    <c:plotArea>
      <c:layout/>
      <c:ofPieChart>
        <c:ofPieType val="bar"/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2025 年收入</c:v>
                </c:pt>
              </c:strCache>
            </c:strRef>
          </c:tx>
          <c:dLbls>
            <c:spPr>
              <a:noFill/>
            </c:spPr>
            <c:txPr>
              <a:bodyPr/>
              <a:lstStyle/>
              <a:p>
                <a:pPr>
                  <a:defRPr sz="800"/>
                </a:pPr>
                <a:endParaRPr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Sheet1!$A$2:$A$8</c:f>
              <c:strCache>
                <c:ptCount val="7"/>
                <c:pt idx="0">
                  <c:v>直营门店</c:v>
                </c:pt>
                <c:pt idx="1">
                  <c:v>电商自营</c:v>
                </c:pt>
                <c:pt idx="2">
                  <c:v>平台旗舰</c:v>
                </c:pt>
                <c:pt idx="3">
                  <c:v>经销代理</c:v>
                </c:pt>
                <c:pt idx="4">
                  <c:v>出口</c:v>
                </c:pt>
                <c:pt idx="5">
                  <c:v>批发</c:v>
                </c:pt>
                <c:pt idx="6">
                  <c:v>其他渠道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4200</c:v>
                </c:pt>
                <c:pt idx="1">
                  <c:v>3100</c:v>
                </c:pt>
                <c:pt idx="2">
                  <c:v>2400</c:v>
                </c:pt>
                <c:pt idx="3">
                  <c:v>900</c:v>
                </c:pt>
                <c:pt idx="4">
                  <c:v>520</c:v>
                </c:pt>
                <c:pt idx="5">
                  <c:v>380</c:v>
                </c:pt>
                <c:pt idx="6">
                  <c:v>210</c:v>
                </c:pt>
              </c:numCache>
            </c:numRef>
          </c:val>
        </c:ser>
        <c:gapWidth val="100"/>
        <c:splitType val="percent"/>
        <c:splitPos val="6"/>
        <c:secondPieSize val="85"/>
        <c:serLines/>
      </c:ofPieChart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950"/>
      </a:pPr>
      <a:endParaRPr lang="zh-CN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 b="1">
                <a:solidFill>
                  <a:schemeClr val="tx2"/>
                </a:solidFill>
              </a:defRPr>
            </a:pPr>
            <a:r>
              <a:t>反应转化率曲面（俯视等高线 · 自带色带）</a:t>
            </a:r>
          </a:p>
        </c:rich>
      </c:tx>
      <c:overlay val="0"/>
    </c:title>
    <c:autoTitleDeleted val="0"/>
    <c:plotArea>
      <c:layout/>
      <c:surface3DChart>
        <c:wireframe val="0"/>
        <c:ser>
          <c:idx val="0"/>
          <c:order val="0"/>
          <c:tx>
            <c:strRef>
              <c:f>Sheet1!$A$1</c:f>
              <c:strCache>
                <c:ptCount val="1"/>
                <c:pt idx="0">
                  <c:v>20℃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0.5h</c:v>
                </c:pt>
                <c:pt idx="1">
                  <c:v>1h</c:v>
                </c:pt>
                <c:pt idx="2">
                  <c:v>2h</c:v>
                </c:pt>
                <c:pt idx="3">
                  <c:v>4h</c:v>
                </c:pt>
                <c:pt idx="4">
                  <c:v>8h</c:v>
                </c:pt>
                <c:pt idx="5">
                  <c:v>12h</c:v>
                </c:pt>
                <c:pt idx="6">
                  <c:v>24h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26</c:v>
                </c:pt>
                <c:pt idx="3">
                  <c:v>38</c:v>
                </c:pt>
                <c:pt idx="4">
                  <c:v>52</c:v>
                </c:pt>
                <c:pt idx="5">
                  <c:v>61</c:v>
                </c:pt>
                <c:pt idx="6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30℃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0.5h</c:v>
                </c:pt>
                <c:pt idx="1">
                  <c:v>1h</c:v>
                </c:pt>
                <c:pt idx="2">
                  <c:v>2h</c:v>
                </c:pt>
                <c:pt idx="3">
                  <c:v>4h</c:v>
                </c:pt>
                <c:pt idx="4">
                  <c:v>8h</c:v>
                </c:pt>
                <c:pt idx="5">
                  <c:v>12h</c:v>
                </c:pt>
                <c:pt idx="6">
                  <c:v>24h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16</c:v>
                </c:pt>
                <c:pt idx="1">
                  <c:v>25</c:v>
                </c:pt>
                <c:pt idx="2">
                  <c:v>37</c:v>
                </c:pt>
                <c:pt idx="3">
                  <c:v>55</c:v>
                </c:pt>
                <c:pt idx="4">
                  <c:v>74</c:v>
                </c:pt>
                <c:pt idx="5">
                  <c:v>82</c:v>
                </c:pt>
                <c:pt idx="6">
                  <c:v>88</c:v>
                </c:pt>
              </c:numCache>
            </c:numRef>
          </c:val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40℃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0.5h</c:v>
                </c:pt>
                <c:pt idx="1">
                  <c:v>1h</c:v>
                </c:pt>
                <c:pt idx="2">
                  <c:v>2h</c:v>
                </c:pt>
                <c:pt idx="3">
                  <c:v>4h</c:v>
                </c:pt>
                <c:pt idx="4">
                  <c:v>8h</c:v>
                </c:pt>
                <c:pt idx="5">
                  <c:v>12h</c:v>
                </c:pt>
                <c:pt idx="6">
                  <c:v>24h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22</c:v>
                </c:pt>
                <c:pt idx="1">
                  <c:v>34</c:v>
                </c:pt>
                <c:pt idx="2">
                  <c:v>52</c:v>
                </c:pt>
                <c:pt idx="3">
                  <c:v>76</c:v>
                </c:pt>
                <c:pt idx="4">
                  <c:v>95</c:v>
                </c:pt>
                <c:pt idx="5">
                  <c:v>104</c:v>
                </c:pt>
                <c:pt idx="6">
                  <c:v>110</c:v>
                </c:pt>
              </c:numCache>
            </c:numRef>
          </c:val>
        </c:ser>
        <c:ser>
          <c:idx val="3"/>
          <c:order val="3"/>
          <c:tx>
            <c:strRef>
              <c:f>Sheet1!$A$1</c:f>
              <c:strCache>
                <c:ptCount val="1"/>
                <c:pt idx="0">
                  <c:v>50℃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0.5h</c:v>
                </c:pt>
                <c:pt idx="1">
                  <c:v>1h</c:v>
                </c:pt>
                <c:pt idx="2">
                  <c:v>2h</c:v>
                </c:pt>
                <c:pt idx="3">
                  <c:v>4h</c:v>
                </c:pt>
                <c:pt idx="4">
                  <c:v>8h</c:v>
                </c:pt>
                <c:pt idx="5">
                  <c:v>12h</c:v>
                </c:pt>
                <c:pt idx="6">
                  <c:v>24h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29</c:v>
                </c:pt>
                <c:pt idx="1">
                  <c:v>46</c:v>
                </c:pt>
                <c:pt idx="2">
                  <c:v>71</c:v>
                </c:pt>
                <c:pt idx="3">
                  <c:v>98</c:v>
                </c:pt>
                <c:pt idx="4">
                  <c:v>118</c:v>
                </c:pt>
                <c:pt idx="5">
                  <c:v>126</c:v>
                </c:pt>
                <c:pt idx="6">
                  <c:v>131</c:v>
                </c:pt>
              </c:numCache>
            </c:numRef>
          </c:val>
        </c:ser>
        <c:ser>
          <c:idx val="4"/>
          <c:order val="4"/>
          <c:tx>
            <c:strRef>
              <c:f>Sheet1!$A$1</c:f>
              <c:strCache>
                <c:ptCount val="1"/>
                <c:pt idx="0">
                  <c:v>60℃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0.5h</c:v>
                </c:pt>
                <c:pt idx="1">
                  <c:v>1h</c:v>
                </c:pt>
                <c:pt idx="2">
                  <c:v>2h</c:v>
                </c:pt>
                <c:pt idx="3">
                  <c:v>4h</c:v>
                </c:pt>
                <c:pt idx="4">
                  <c:v>8h</c:v>
                </c:pt>
                <c:pt idx="5">
                  <c:v>12h</c:v>
                </c:pt>
                <c:pt idx="6">
                  <c:v>24h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35</c:v>
                </c:pt>
                <c:pt idx="1">
                  <c:v>58</c:v>
                </c:pt>
                <c:pt idx="2">
                  <c:v>88</c:v>
                </c:pt>
                <c:pt idx="3">
                  <c:v>116</c:v>
                </c:pt>
                <c:pt idx="4">
                  <c:v>134</c:v>
                </c:pt>
                <c:pt idx="5">
                  <c:v>141</c:v>
                </c:pt>
                <c:pt idx="6">
                  <c:v>145</c:v>
                </c:pt>
              </c:numCache>
            </c:numRef>
          </c:val>
        </c:ser>
        <c:bandFmts>
          <c:bandFmt>
            <c:idx val="0"/>
            <c:spPr>
              <a:solidFill>
                <a:srgbClr val="1F4E79"/>
              </a:solidFill>
            </c:spPr>
          </c:bandFmt>
          <c:bandFmt>
            <c:idx val="1"/>
            <c:spPr>
              <a:solidFill>
                <a:srgbClr val="2E75B6"/>
              </a:solidFill>
            </c:spPr>
          </c:bandFmt>
          <c:bandFmt>
            <c:idx val="2"/>
            <c:spPr>
              <a:solidFill>
                <a:srgbClr val="9DC3E6"/>
              </a:solidFill>
            </c:spPr>
          </c:bandFmt>
          <c:bandFmt>
            <c:idx val="3"/>
            <c:spPr>
              <a:solidFill>
                <a:srgbClr val="C5E0B4"/>
              </a:solidFill>
            </c:spPr>
          </c:bandFmt>
          <c:bandFmt>
            <c:idx val="4"/>
            <c:spPr>
              <a:solidFill>
                <a:srgbClr val="FFE699"/>
              </a:solidFill>
            </c:spPr>
          </c:bandFmt>
          <c:bandFmt>
            <c:idx val="5"/>
            <c:spPr>
              <a:solidFill>
                <a:srgbClr val="F4B183"/>
              </a:solidFill>
            </c:spPr>
          </c:bandFmt>
          <c:bandFmt>
            <c:idx val="6"/>
            <c:spPr>
              <a:solidFill>
                <a:srgbClr val="C00000"/>
              </a:solidFill>
            </c:spPr>
          </c:bandFmt>
        </c:bandFmts>
        <c:axId val="2301"/>
        <c:axId val="2302"/>
        <c:axId val="2303"/>
      </c:surface3DChart>
      <c:catAx>
        <c:axId val="2301"/>
        <c:scaling>
          <c:orientation val="minMax"/>
        </c:scaling>
        <c:delete val="0"/>
        <c:axPos val="b"/>
        <c:crossAx val="2302"/>
        <c:crosses val="autoZero"/>
        <c:auto val="1"/>
        <c:lblAlgn val="ctr"/>
        <c:lblOffset val="100"/>
      </c:catAx>
      <c:valAx>
        <c:axId val="2302"/>
        <c:scaling>
          <c:orientation val="minMax"/>
        </c:scaling>
        <c:delete val="0"/>
        <c:axPos val="l"/>
        <c:majorGridlines/>
        <c:numFmt formatCode="0" sourceLinked="0"/>
        <c:crossAx val="2301"/>
        <c:crosses val="autoZero"/>
        <c:crossBetween val="midCat"/>
      </c:valAx>
      <c:serAx>
        <c:axId val="2303"/>
        <c:scaling>
          <c:orientation val="minMax"/>
        </c:scaling>
        <c:delete val="1"/>
        <c:axPos val="b"/>
        <c:crossAx val="2302"/>
      </c:serAx>
    </c:plotArea>
    <c:plotVisOnly val="1"/>
    <c:dispBlanksAs val="gap"/>
  </c:chart>
  <c:spPr>
    <a:noFill/>
    <a:ln>
      <a:noFill/>
    </a:ln>
  </c:spPr>
  <c:txPr>
    <a:bodyPr/>
    <a:lstStyle/>
    <a:p>
      <a:pPr>
        <a:defRPr sz="950"/>
      </a:pPr>
      <a:endParaRPr lang="zh-CN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 b="1">
                <a:solidFill>
                  <a:schemeClr val="tx2"/>
                </a:solidFill>
              </a:defRPr>
            </a:pPr>
            <a:r>
              <a:t>无 bandFmts → 内置色带</a:t>
            </a:r>
          </a:p>
        </c:rich>
      </c:tx>
      <c:overlay val="0"/>
    </c:title>
    <c:autoTitleDeleted val="0"/>
    <c:plotArea>
      <c:layout/>
      <c:surfaceChart>
        <c:wireframe val="0"/>
        <c:ser>
          <c:idx val="0"/>
          <c:order val="0"/>
          <c:tx>
            <c:strRef>
              <c:f>Sheet1!$A$1</c:f>
              <c:strCache>
                <c:ptCount val="1"/>
                <c:pt idx="0">
                  <c:v>20℃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0.5h</c:v>
                </c:pt>
                <c:pt idx="1">
                  <c:v>1h</c:v>
                </c:pt>
                <c:pt idx="2">
                  <c:v>2h</c:v>
                </c:pt>
                <c:pt idx="3">
                  <c:v>4h</c:v>
                </c:pt>
                <c:pt idx="4">
                  <c:v>8h</c:v>
                </c:pt>
                <c:pt idx="5">
                  <c:v>12h</c:v>
                </c:pt>
                <c:pt idx="6">
                  <c:v>24h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26</c:v>
                </c:pt>
                <c:pt idx="3">
                  <c:v>38</c:v>
                </c:pt>
                <c:pt idx="4">
                  <c:v>52</c:v>
                </c:pt>
                <c:pt idx="5">
                  <c:v>61</c:v>
                </c:pt>
                <c:pt idx="6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30℃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0.5h</c:v>
                </c:pt>
                <c:pt idx="1">
                  <c:v>1h</c:v>
                </c:pt>
                <c:pt idx="2">
                  <c:v>2h</c:v>
                </c:pt>
                <c:pt idx="3">
                  <c:v>4h</c:v>
                </c:pt>
                <c:pt idx="4">
                  <c:v>8h</c:v>
                </c:pt>
                <c:pt idx="5">
                  <c:v>12h</c:v>
                </c:pt>
                <c:pt idx="6">
                  <c:v>24h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16</c:v>
                </c:pt>
                <c:pt idx="1">
                  <c:v>25</c:v>
                </c:pt>
                <c:pt idx="2">
                  <c:v>37</c:v>
                </c:pt>
                <c:pt idx="3">
                  <c:v>55</c:v>
                </c:pt>
                <c:pt idx="4">
                  <c:v>74</c:v>
                </c:pt>
                <c:pt idx="5">
                  <c:v>82</c:v>
                </c:pt>
                <c:pt idx="6">
                  <c:v>88</c:v>
                </c:pt>
              </c:numCache>
            </c:numRef>
          </c:val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40℃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0.5h</c:v>
                </c:pt>
                <c:pt idx="1">
                  <c:v>1h</c:v>
                </c:pt>
                <c:pt idx="2">
                  <c:v>2h</c:v>
                </c:pt>
                <c:pt idx="3">
                  <c:v>4h</c:v>
                </c:pt>
                <c:pt idx="4">
                  <c:v>8h</c:v>
                </c:pt>
                <c:pt idx="5">
                  <c:v>12h</c:v>
                </c:pt>
                <c:pt idx="6">
                  <c:v>24h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22</c:v>
                </c:pt>
                <c:pt idx="1">
                  <c:v>34</c:v>
                </c:pt>
                <c:pt idx="2">
                  <c:v>52</c:v>
                </c:pt>
                <c:pt idx="3">
                  <c:v>76</c:v>
                </c:pt>
                <c:pt idx="4">
                  <c:v>95</c:v>
                </c:pt>
                <c:pt idx="5">
                  <c:v>104</c:v>
                </c:pt>
                <c:pt idx="6">
                  <c:v>110</c:v>
                </c:pt>
              </c:numCache>
            </c:numRef>
          </c:val>
        </c:ser>
        <c:ser>
          <c:idx val="3"/>
          <c:order val="3"/>
          <c:tx>
            <c:strRef>
              <c:f>Sheet1!$A$1</c:f>
              <c:strCache>
                <c:ptCount val="1"/>
                <c:pt idx="0">
                  <c:v>50℃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0.5h</c:v>
                </c:pt>
                <c:pt idx="1">
                  <c:v>1h</c:v>
                </c:pt>
                <c:pt idx="2">
                  <c:v>2h</c:v>
                </c:pt>
                <c:pt idx="3">
                  <c:v>4h</c:v>
                </c:pt>
                <c:pt idx="4">
                  <c:v>8h</c:v>
                </c:pt>
                <c:pt idx="5">
                  <c:v>12h</c:v>
                </c:pt>
                <c:pt idx="6">
                  <c:v>24h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29</c:v>
                </c:pt>
                <c:pt idx="1">
                  <c:v>46</c:v>
                </c:pt>
                <c:pt idx="2">
                  <c:v>71</c:v>
                </c:pt>
                <c:pt idx="3">
                  <c:v>98</c:v>
                </c:pt>
                <c:pt idx="4">
                  <c:v>118</c:v>
                </c:pt>
                <c:pt idx="5">
                  <c:v>126</c:v>
                </c:pt>
                <c:pt idx="6">
                  <c:v>131</c:v>
                </c:pt>
              </c:numCache>
            </c:numRef>
          </c:val>
        </c:ser>
        <c:ser>
          <c:idx val="4"/>
          <c:order val="4"/>
          <c:tx>
            <c:strRef>
              <c:f>Sheet1!$A$1</c:f>
              <c:strCache>
                <c:ptCount val="1"/>
                <c:pt idx="0">
                  <c:v>60℃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0.5h</c:v>
                </c:pt>
                <c:pt idx="1">
                  <c:v>1h</c:v>
                </c:pt>
                <c:pt idx="2">
                  <c:v>2h</c:v>
                </c:pt>
                <c:pt idx="3">
                  <c:v>4h</c:v>
                </c:pt>
                <c:pt idx="4">
                  <c:v>8h</c:v>
                </c:pt>
                <c:pt idx="5">
                  <c:v>12h</c:v>
                </c:pt>
                <c:pt idx="6">
                  <c:v>24h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35</c:v>
                </c:pt>
                <c:pt idx="1">
                  <c:v>58</c:v>
                </c:pt>
                <c:pt idx="2">
                  <c:v>88</c:v>
                </c:pt>
                <c:pt idx="3">
                  <c:v>116</c:v>
                </c:pt>
                <c:pt idx="4">
                  <c:v>134</c:v>
                </c:pt>
                <c:pt idx="5">
                  <c:v>141</c:v>
                </c:pt>
                <c:pt idx="6">
                  <c:v>145</c:v>
                </c:pt>
              </c:numCache>
            </c:numRef>
          </c:val>
        </c:ser>
        <c:axId val="2311"/>
        <c:axId val="2312"/>
        <c:axId val="2313"/>
      </c:surfaceChart>
      <c:catAx>
        <c:axId val="2311"/>
        <c:scaling>
          <c:orientation val="minMax"/>
        </c:scaling>
        <c:delete val="0"/>
        <c:axPos val="b"/>
        <c:crossAx val="2312"/>
        <c:crosses val="autoZero"/>
        <c:auto val="1"/>
        <c:lblAlgn val="ctr"/>
        <c:lblOffset val="100"/>
      </c:catAx>
      <c:valAx>
        <c:axId val="2312"/>
        <c:scaling>
          <c:orientation val="minMax"/>
        </c:scaling>
        <c:delete val="0"/>
        <c:axPos val="l"/>
        <c:majorGridlines/>
        <c:numFmt formatCode="0" sourceLinked="0"/>
        <c:crossAx val="2311"/>
        <c:crosses val="autoZero"/>
        <c:crossBetween val="midCat"/>
      </c:valAx>
      <c:serAx>
        <c:axId val="2313"/>
        <c:scaling>
          <c:orientation val="minMax"/>
        </c:scaling>
        <c:delete val="1"/>
        <c:axPos val="b"/>
        <c:crossAx val="2312"/>
      </c:serAx>
    </c:plotArea>
    <c:plotVisOnly val="1"/>
    <c:dispBlanksAs val="gap"/>
  </c:chart>
  <c:spPr>
    <a:noFill/>
    <a:ln>
      <a:noFill/>
    </a:ln>
  </c:spPr>
  <c:txPr>
    <a:bodyPr/>
    <a:lstStyle/>
    <a:p>
      <a:pPr>
        <a:defRPr sz="950"/>
      </a:pPr>
      <a:endParaRPr lang="zh-CN"/>
    </a:p>
  </c:txPr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8-18T09:24:11.482" idx="1">
    <p:pos x="2200000" y="1500000"/>
    <p:text>这一版的封面帧需要换成正式素材，注意保持 16:9。</p:text>
  </p:cm>
  <p:cm authorId="1" dt="2026-08-18T10:02:37.115" idx="2">
    <p:pos x="6900000" y="3100000"/>
    <p:text>数据来源要在附录里标注清楚。</p:text>
  </p:cm>
  <p:cm authorId="0" dt="2026-08-18T10:41:02.900" idx="3">
    <p:pos x="4300000" y="4700000"/>
    <p:text>这里可以再压缩两行。</p:text>
  </p:cm>
</p:cmLst>
</file>

<file path=ppt/ink/ink1.xml><?xml version="1.0" encoding="utf-8"?>
<inkml:ink xmlns:inkml="http://www.w3.org/2003/InkML">
  <inkml:definitions>
    <inkml:context xml:id="ctx0">
      <inkml:inkSource xml:id="src0">
        <inkml:traceFormat>
          <inkml:channel name="X" type="integer" max="32767" units="himetric"/>
          <inkml:channel name="Y" type="integer" max="32767" units="himetric"/>
          <inkml:channel name="F" type="integer" max="32767" units="dev"/>
        </inkml:traceFormat>
      </inkml:inkSource>
    </inkml:context>
    <inkml:brush xml:id="br0">
      <inkml:brushProperty name="width" value="72" units="himetric"/>
      <inkml:brushProperty name="height" value="72" units="himetric"/>
      <inkml:brushProperty name="color" value="#E8453C"/>
    </inkml:brush>
    <inkml:brush xml:id="br1">
      <inkml:brushProperty name="width" value="54" units="himetric"/>
      <inkml:brushProperty name="height" value="54" units="himetric"/>
      <inkml:brushProperty name="color" value="#2E7BE4"/>
    </inkml:brush>
    <inkml:brush xml:id="br2">
      <inkml:brushProperty name="width" value="46" units="himetric"/>
      <inkml:brushProperty name="height" value="46" units="himetric"/>
      <inkml:brushProperty name="color" value="#F2A93B"/>
    </inkml:brush>
  </inkml:definitions>
  <inkml:trace contextRef="#ctx0" brushRef="#br0">600 1500,'55 '62,55 62,55 62,55 62,55 62,55 62,55 62,55 62,55 62,55 62,55 62,55 62,78 -92,78 -92,78 -92,78 -92,78 -92,78 -92,78 -92,78 -92,78 -92,78 -92,78 -92,78 -92,78 -92,78 -92,78 -92,78 -92,78 -92,78 -92,78 -92,78 -92,78 -92,78 -92</inkml:trace>
  <inkml:trace contextRef="#ctx0" brushRef="#br1">3750 1700,'-11 '103,-32 101,-52 97,-72 92,-91 84,-107 76,-122 65,-134 53,-144 41,-151 28,-156 14,-156 0,-156 -14,-151 -28,-144 -41,-134 -53,-122 -65,-107 -76,-91 -84,-72 -92,-52 -97,-32 -101,-11 -103,11 -103,32 -101,52 -97,72 -92,91 -84,107 -76,122 -65,134 -53,144 -41,151 -28,156 -14,156 0,156 14,151 28,144 41,134 53,122 65,107 76,91 84,72 92,52 97,32 101,11 103</inkml:trace>
  <inkml:trace contextRef="#ctx0" brushRef="#br2">500 3050,'62 '41,62 37,62 29,62 18,62 5,62 -9,62 -21,62 -31,62 -38,62 -42,62 -40,62 -36,62 -26,62 -15,62 -1,62 12,62 24,62 33,62 40,62 42,62 39,62 33,62 24,62 11,62 -2,62 -15,62 -27,62 -35,62 -41,62 -41,62 -39,62 -31,62 -20,62 -8,62 6,62 18,62 29,62 38,62 41,62 41,62 37,62 28,62 17,62 5,62 -9,62 -22,62 -31,62 -39,62 -42,62 -40,62 -35,62 -26,62 -14,62 -1,62 13,62 24,62 34,62 40,62 42,62 39</inkml:trace>
</inkml:ink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Media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 anchor="ctr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chemeClr val="tx2"/>
          </a:solidFill>
          <a:latin typeface="+mj-lt"/>
          <a:ea typeface="+mj-ea"/>
        </a:defRPr>
      </a:lvl1pPr>
    </p:titleStyle>
    <p:bodyStyle>
      <a:lvl1pPr>
        <a:defRPr sz="1800">
          <a:solidFill>
            <a:schemeClr val="tx1"/>
          </a:solidFill>
        </a:defRPr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oster1.png"/><Relationship Id="rId3" Type="http://schemas.openxmlformats.org/officeDocument/2006/relationships/video" Target="../media/clip1.mp4"/><Relationship Id="rId4" Type="http://schemas.openxmlformats.org/officeDocument/2006/relationships/media" Target="../media/clip1.mp4"/><Relationship Id="rId5" Type="http://schemas.openxmlformats.org/officeDocument/2006/relationships/audio" Target="../media/tone1.wav"/><Relationship Id="rId6" Type="http://schemas.openxmlformats.org/officeDocument/2006/relationships/image" Target="../media/speaker1.png"/><Relationship Id="rId7" Type="http://schemas.openxmlformats.org/officeDocument/2006/relationships/media" Target="../media/tone1.wav"/><Relationship Id="rId8" Type="http://schemas.openxmlformats.org/officeDocument/2006/relationships/video" Target="https://example.com/media/promo.mp4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ustomXml" Target="../ink/ink1.xml"/><Relationship Id="rId3" Type="http://schemas.openxmlformats.org/officeDocument/2006/relationships/image" Target="../media/ink-fallback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 anchor="ctr"/>
          <a:lstStyle/>
          <a:p>
            <a:r>
              <a:rPr sz="2400"/>
              <a:t>媒体对象：封面帧 + 播放标识</a:t>
            </a:r>
          </a:p>
        </p:txBody>
      </p:sp>
      <p:sp>
        <p:nvSpPr>
          <p:cNvPr id="101" name="caption"/>
          <p:cNvSpPr/>
          <p:nvPr/>
        </p:nvSpPr>
        <p:spPr>
          <a:xfrm>
            <a:off x="571500" y="1219200"/>
            <a:ext cx="4381500" cy="2476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5A6172"/>
                </a:solidFill>
              </a:rPr>
              <a:t>内嵌视频（mp4）· 封面帧来自 blipFill</a:t>
            </a:r>
          </a:p>
        </p:txBody>
      </p:sp>
      <p:pic>
        <p:nvPicPr>
          <p:cNvPr id="501" name="产品演示.mp4"/>
          <p:cNvPicPr>
            <a:picLocks noChangeAspect="1"/>
          </p:cNvPicPr>
          <p:nvPr>
            <a:videoFile r:link="rId3"/>
            <a:extLst>
              <a:ext uri="{DAA4B4D4-6D71-4841-9C94-3DE7FCFB9230}">
                <p14:media xmlns:p14="http://schemas.microsoft.com/office/powerpoint/2010/main" r:embed="rId4"/>
              </a:ext>
            </a:extLst>
          </p:nvPr>
        </p:nvPicPr>
        <p:blipFill>
          <a:blip r:embed="rId2"/>
          <a:stretch>
            <a:fillRect/>
          </a:stretch>
        </p:blipFill>
        <p:spPr>
          <a:xfrm>
            <a:off x="571500" y="1524000"/>
            <a:ext cx="4381500" cy="2466975"/>
          </a:xfrm>
          <a:prstGeom prst="rect">
            <a:avLst/>
          </a:prstGeom>
        </p:spPr>
      </p:pic>
      <p:sp>
        <p:nvSpPr>
          <p:cNvPr id="102" name="caption"/>
          <p:cNvSpPr/>
          <p:nvPr/>
        </p:nvSpPr>
        <p:spPr>
          <a:xfrm>
            <a:off x="5334000" y="1219200"/>
            <a:ext cx="2857500" cy="2476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5A6172"/>
                </a:solidFill>
              </a:rPr>
              <a:t>内嵌音频（wav）· 喇叭图标为封面</a:t>
            </a:r>
          </a:p>
        </p:txBody>
      </p:sp>
      <p:pic>
        <p:nvPicPr>
          <p:cNvPr id="502" name="配音.wav"/>
          <p:cNvPicPr>
            <a:picLocks noChangeAspect="1"/>
          </p:cNvPicPr>
          <p:nvPr>
            <a:audioFile r:link="rId5"/>
            <a:extLst>
              <a:ext uri="{DAA4B4D4-6D71-4841-9C94-3DE7FCFB9230}">
                <p14:media xmlns:p14="http://schemas.microsoft.com/office/powerpoint/2010/main" r:embed="rId7"/>
              </a:ext>
            </a:extLst>
          </p:nvPr>
        </p:nvPicPr>
        <p:blipFill>
          <a:blip r:embed="rId6"/>
          <a:stretch>
            <a:fillRect/>
          </a:stretch>
        </p:blipFill>
        <p:spPr>
          <a:xfrm>
            <a:off x="6096000" y="1524000"/>
            <a:ext cx="1238250" cy="1238250"/>
          </a:xfrm>
          <a:prstGeom prst="rect">
            <a:avLst/>
          </a:prstGeom>
        </p:spPr>
      </p:pic>
      <p:sp>
        <p:nvSpPr>
          <p:cNvPr id="103" name="caption"/>
          <p:cNvSpPr/>
          <p:nvPr/>
        </p:nvSpPr>
        <p:spPr>
          <a:xfrm>
            <a:off x="8191500" y="1219200"/>
            <a:ext cx="3429000" cy="2476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5A6172"/>
                </a:solidFill>
              </a:rPr>
              <a:t>外链视频（r:link → https）</a:t>
            </a:r>
          </a:p>
        </p:txBody>
      </p:sp>
      <p:pic>
        <p:nvPicPr>
          <p:cNvPr id="503" name="外链宣传片"/>
          <p:cNvPicPr>
            <a:picLocks noChangeAspect="1"/>
          </p:cNvPicPr>
          <p:nvPr>
            <a:videoFile r:link="rId8"/>
          </p:nvPr>
        </p:nvPicPr>
        <p:blipFill>
          <a:blip r:embed="rId2"/>
          <a:stretch>
            <a:fillRect/>
          </a:stretch>
        </p:blipFill>
        <p:spPr>
          <a:xfrm>
            <a:off x="8191500" y="1524000"/>
            <a:ext cx="3238500" cy="1819275"/>
          </a:xfrm>
          <a:prstGeom prst="rect">
            <a:avLst/>
          </a:prstGeom>
        </p:spPr>
      </p:pic>
      <p:sp>
        <p:nvSpPr>
          <p:cNvPr id="104" name="caption"/>
          <p:cNvSpPr/>
          <p:nvPr/>
        </p:nvSpPr>
        <p:spPr>
          <a:xfrm>
            <a:off x="571500" y="4305300"/>
            <a:ext cx="4381500" cy="2476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5A6172"/>
                </a:solidFill>
              </a:rPr>
              <a:t>无封面帧的媒体：深色底板 + 标识</a:t>
            </a:r>
          </a:p>
        </p:txBody>
      </p:sp>
      <p:pic>
        <p:nvPicPr>
          <p:cNvPr id="504" name="无封面视频"/>
          <p:cNvPicPr>
            <a:picLocks noChangeAspect="1"/>
          </p:cNvPicPr>
          <p:nvPr>
            <a:videoFile r:link="rId3"/>
          </p:nvPr>
        </p:nvPicPr>
        <p:blipFill>
          <a:stretch>
            <a:fillRect/>
          </a:stretch>
        </p:blipFill>
        <p:spPr>
          <a:xfrm>
            <a:off x="571500" y="4610100"/>
            <a:ext cx="2857500" cy="1609725"/>
          </a:xfrm>
          <a:prstGeom prst="rect">
            <a:avLst/>
          </a:prstGeom>
        </p:spPr>
      </p:pic>
      <p:sp>
        <p:nvSpPr>
          <p:cNvPr id="105" name="caption"/>
          <p:cNvSpPr/>
          <p:nvPr/>
        </p:nvSpPr>
        <p:spPr>
          <a:xfrm>
            <a:off x="4000500" y="4305300"/>
            <a:ext cx="4381500" cy="2476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5A6172"/>
                </a:solidFill>
              </a:rPr>
              <a:t>无封面音频</a:t>
            </a:r>
          </a:p>
        </p:txBody>
      </p:sp>
      <p:pic>
        <p:nvPicPr>
          <p:cNvPr id="505" name="无封面音频"/>
          <p:cNvPicPr>
            <a:picLocks noChangeAspect="1"/>
          </p:cNvPicPr>
          <p:nvPr>
            <a:audioFile r:link="rId5"/>
          </p:nvPr>
        </p:nvPicPr>
        <p:blipFill>
          <a:stretch>
            <a:fillRect/>
          </a:stretch>
        </p:blipFill>
        <p:spPr>
          <a:xfrm>
            <a:off x="4476750" y="4610100"/>
            <a:ext cx="1428750" cy="1428750"/>
          </a:xfrm>
          <a:prstGeom prst="rect">
            <a:avLst/>
          </a:prstGeom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udio>
                                <p:cMediaNode vol="80000">
                                  <p:cTn id="5" fill="hold" display="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2"/>
                                  </p:tgtEl>
                                </p:cMediaNode>
                              </p:audio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audio>
                          <p:cMediaNode vol="50000" mute="1">
                            <p:cTn id="7" fill="hold" display="0" repeatCount="indefinite" nodeType="clickEffect">
                              <p:stCondLst>
                                <p:cond delay="0"/>
                              </p:stCondLst>
                            </p:cTn>
                            <p:tgtEl>
                              <p:spTgt spid="505"/>
                            </p:tgtEl>
                          </p:cMediaNode>
                        </p:audio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 anchor="ctr"/>
          <a:lstStyle/>
          <a:p>
            <a:r>
              <a:rPr sz="2400"/>
              <a:t>墨迹批注：InkML → SVG 路径</a:t>
            </a:r>
          </a:p>
        </p:txBody>
      </p:sp>
      <p:sp>
        <p:nvSpPr>
          <p:cNvPr id="106" name="caption"/>
          <p:cNvSpPr/>
          <p:nvPr/>
        </p:nvSpPr>
        <p:spPr>
          <a:xfrm>
            <a:off x="571500" y="1219200"/>
            <a:ext cx="5334000" cy="2476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5A6172"/>
                </a:solidFill>
              </a:rPr>
              <a:t>p14:contentPart → InkML（含差分编码 trace）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14:contentPart p14:bwMode="auto" r:id="rId2">
            <p14:nvContentPartPr>
              <p14:cNvPr id="506" name="墨迹 1"/>
              <p14:cNvContentPartPr/>
              <p14:nvPr/>
            </p14:nvContentPartPr>
            <p14:xfrm>
              <a:off x="571500" y="1619250"/>
              <a:ext cx="5334000" cy="3143250"/>
            </p14:xfrm>
          </p14:contentPart>
        </mc:Choice>
        <mc:Fallback>
          <p:pic>
            <p:nvPicPr>
              <p:cNvPr id="507" name="墨迹 1（Fallback 位图）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500" y="1619250"/>
                <a:ext cx="5334000" cy="3143250"/>
              </a:xfrm>
              <a:prstGeom prst="rect">
                <a:avLst/>
              </a:prstGeom>
            </p:spPr>
          </p:pic>
        </mc:Fallback>
      </mc:AlternateContent>
      <p:sp>
        <p:nvSpPr>
          <p:cNvPr id="107" name="caption"/>
          <p:cNvSpPr/>
          <p:nvPr/>
        </p:nvSpPr>
        <p:spPr>
          <a:xfrm>
            <a:off x="6477000" y="1219200"/>
            <a:ext cx="4572000" cy="2476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5A6172"/>
                </a:solidFill>
              </a:rPr>
              <a:t>InkML 缺失 → 回退 mc:Fallback 的位图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14:contentPart p14:bwMode="auto" r:id="rIdMissing">
            <p14:nvContentPartPr>
              <p14:cNvPr id="508" name="墨迹 2"/>
              <p14:cNvContentPartPr/>
              <p14:nvPr/>
            </p14:nvContentPartPr>
            <p14:xfrm>
              <a:off x="6477000" y="1619250"/>
              <a:ext cx="4572000" cy="2286000"/>
            </p14:xfrm>
          </p14:contentPart>
        </mc:Choice>
        <mc:Fallback>
          <p:pic>
            <p:nvPicPr>
              <p:cNvPr id="509" name="墨迹 2（Fallback 位图）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7000" y="1619250"/>
                <a:ext cx="4572000" cy="2286000"/>
              </a:xfrm>
              <a:prstGeom prst="rect">
                <a:avLst/>
              </a:prstGeom>
            </p:spPr>
          </p:pic>
        </mc:Fallback>
      </mc:AlternateContent>
      <p:sp>
        <p:nvSpPr>
          <p:cNvPr id="108" name="note"/>
          <p:cNvSpPr/>
          <p:nvPr/>
        </p:nvSpPr>
        <p:spPr>
          <a:xfrm>
            <a:off x="6477000" y="4191000"/>
            <a:ext cx="4572000" cy="1143000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B9CDEA"/>
            </a:solidFill>
          </a:ln>
        </p:spPr>
        <p:txBody>
          <a:bodyPr anchor="ctr"/>
          <a:lstStyle/>
          <a:p>
            <a:pPr algn="ctr"/>
            <a:r>
              <a:rPr sz="1000">
                <a:solidFill>
                  <a:srgbClr val="3C4759"/>
                </a:solidFill>
              </a:rPr>
              <a:t>墨迹按整体包围盒等比映射进 contentPart 的框内，笔宽随之缩放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 anchor="ctr"/>
          <a:lstStyle/>
          <a:p>
            <a:r>
              <a:rPr sz="2400"/>
              <a:t>批注：解析成结构化数据（默认不渲染标记）</a:t>
            </a:r>
          </a:p>
        </p:txBody>
      </p:sp>
      <p:sp>
        <p:nvSpPr>
          <p:cNvPr id="109" name="block1"/>
          <p:cNvSpPr/>
          <p:nvPr/>
        </p:nvSpPr>
        <p:spPr>
          <a:xfrm>
            <a:off x="1143000" y="1524000"/>
            <a:ext cx="4953000" cy="19050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0C674"/>
            </a:solidFill>
          </a:ln>
        </p:spPr>
        <p:txBody>
          <a:bodyPr anchor="ctr"/>
          <a:lstStyle/>
          <a:p>
            <a:pPr algn="ctr"/>
            <a:r>
              <a:rPr sz="1200">
                <a:solidFill>
                  <a:srgbClr val="6B4E12"/>
                </a:solidFill>
              </a:rPr>
              <a:t>批注 1 锚点在这一块附近</a:t>
            </a:r>
          </a:p>
        </p:txBody>
      </p:sp>
      <p:sp>
        <p:nvSpPr>
          <p:cNvPr id="110" name="block2"/>
          <p:cNvSpPr/>
          <p:nvPr/>
        </p:nvSpPr>
        <p:spPr>
          <a:xfrm>
            <a:off x="6667500" y="2857500"/>
            <a:ext cx="4000500" cy="171450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8FBFA3"/>
            </a:solidFill>
          </a:ln>
        </p:spPr>
        <p:txBody>
          <a:bodyPr anchor="ctr"/>
          <a:lstStyle/>
          <a:p>
            <a:pPr algn="ctr"/>
            <a:r>
              <a:rPr sz="1200">
                <a:solidFill>
                  <a:srgbClr val="234A34"/>
                </a:solidFill>
              </a:rPr>
              <a:t>批注 2 锚点在这一块附近</a:t>
            </a:r>
          </a:p>
        </p:txBody>
      </p:sp>
      <p:sp>
        <p:nvSpPr>
          <p:cNvPr id="111" name="caption"/>
          <p:cNvSpPr/>
          <p:nvPr/>
        </p:nvSpPr>
        <p:spPr>
          <a:xfrm>
            <a:off x="1143000" y="5715000"/>
            <a:ext cx="8572500" cy="2476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5A6172"/>
                </a:solidFill>
              </a:rPr>
              <a:t>RenderOptions.showComments = true 时才画黄色气泡标记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 anchor="ctr"/>
          <a:lstStyle/>
          <a:p>
            <a:r>
              <a:rPr sz="2400"/>
              <a:t>气泡图：xVal / yVal / bubbleSize</a:t>
            </a:r>
          </a:p>
        </p:txBody>
      </p:sp>
      <p:graphicFrame>
        <p:nvGraphicFramePr>
          <p:cNvPr id="510" name="Chart"/>
          <p:cNvGraphicFramePr/>
          <p:nvPr/>
        </p:nvGraphicFramePr>
        <p:xfrm>
          <a:off x="571500" y="1143000"/>
          <a:ext cx="66675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11" name="Chart"/>
          <p:cNvGraphicFramePr/>
          <p:nvPr/>
        </p:nvGraphicFramePr>
        <p:xfrm>
          <a:off x="7524750" y="1143000"/>
          <a:ext cx="40005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 anchor="ctr"/>
          <a:lstStyle/>
          <a:p>
            <a:r>
              <a:rPr sz="2400"/>
              <a:t>股价图：蜡烛（涨跌柱）与 OHLC 竖线</a:t>
            </a:r>
          </a:p>
        </p:txBody>
      </p:sp>
      <p:graphicFrame>
        <p:nvGraphicFramePr>
          <p:cNvPr id="512" name="Chart"/>
          <p:cNvGraphicFramePr/>
          <p:nvPr/>
        </p:nvGraphicFramePr>
        <p:xfrm>
          <a:off x="476250" y="1143000"/>
          <a:ext cx="561975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13" name="Chart"/>
          <p:cNvGraphicFramePr/>
          <p:nvPr/>
        </p:nvGraphicFramePr>
        <p:xfrm>
          <a:off x="6381750" y="1143000"/>
          <a:ext cx="5334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 anchor="ctr"/>
          <a:lstStyle/>
          <a:p>
            <a:r>
              <a:rPr sz="2400"/>
              <a:t>复合饼图：子母饼 / 复合条饼</a:t>
            </a:r>
          </a:p>
        </p:txBody>
      </p:sp>
      <p:graphicFrame>
        <p:nvGraphicFramePr>
          <p:cNvPr id="514" name="Chart"/>
          <p:cNvGraphicFramePr/>
          <p:nvPr/>
        </p:nvGraphicFramePr>
        <p:xfrm>
          <a:off x="381000" y="1143000"/>
          <a:ext cx="561975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15" name="Chart"/>
          <p:cNvGraphicFramePr/>
          <p:nvPr/>
        </p:nvGraphicFramePr>
        <p:xfrm>
          <a:off x="6191250" y="1143000"/>
          <a:ext cx="561975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 anchor="ctr"/>
          <a:lstStyle/>
          <a:p>
            <a:r>
              <a:rPr sz="2400"/>
              <a:t>曲面图：退化为俯视等高线网格</a:t>
            </a:r>
          </a:p>
        </p:txBody>
      </p:sp>
      <p:graphicFrame>
        <p:nvGraphicFramePr>
          <p:cNvPr id="516" name="Chart"/>
          <p:cNvGraphicFramePr/>
          <p:nvPr/>
        </p:nvGraphicFramePr>
        <p:xfrm>
          <a:off x="381000" y="1143000"/>
          <a:ext cx="561975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17" name="Chart"/>
          <p:cNvGraphicFramePr/>
          <p:nvPr/>
        </p:nvGraphicFramePr>
        <p:xfrm>
          <a:off x="6191250" y="1143000"/>
          <a:ext cx="561975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ediaFixture">
  <a:themeElements>
    <a:clrScheme name="MediaFixture">
      <a:dk1>
        <a:sysClr val="windowText" lastClr="20242B"/>
      </a:dk1>
      <a:lt1>
        <a:sysClr val="window" lastClr="FFFFFF"/>
      </a:lt1>
      <a:dk2>
        <a:srgbClr val="1F3864"/>
      </a:dk2>
      <a:lt2>
        <a:srgbClr val="EEF3FB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diaFixture">
      <a:majorFont>
        <a:latin typeface="Trebuchet MS"/>
        <a:ea typeface="PingFang SC"/>
        <a:cs typeface=""/>
      </a:majorFont>
      <a:minorFont>
        <a:latin typeface="Helvetica"/>
        <a:ea typeface="PingFang SC"/>
        <a:cs typeface=""/>
      </a:minorFont>
    </a:fontScheme>
    <a:fmtScheme name="Media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