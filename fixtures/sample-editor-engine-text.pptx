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ngine 跨行基准"/>
          <p:cNvSpPr/>
          <p:nvPr/>
        </p:nvSpPr>
        <p:spPr>
          <a:xfrm>
            <a:off x="476250" y="428625"/>
            <a:ext cx="3714750" cy="2571750"/>
          </a:xfrm>
          <a:prstGeom prst="rect">
            <a:avLst/>
          </a:prstGeom>
          <a:solidFill>
            <a:srgbClr val="F8FAFC"/>
          </a:solidFill>
        </p:spPr>
        <p:txBody>
          <a:bodyPr wrap="square" anchor="t"/>
          <a:lstStyle/>
          <a:p>
            <a:pPr algn="l"/>
            <a:r>
              <a:rPr sz="2000">
                <a:latin typeface="Arial"/>
                <a:ea typeface="Arial"/>
              </a:rPr>
              <a:t xml:space="preserve">中文，EnglishWords 日本語 mixed run wraps here </a:t>
            </a:r>
            <a:r>
              <a:rPr sz="2000" b="1">
                <a:latin typeface="Arial"/>
                <a:ea typeface="Arial"/>
              </a:rPr>
              <a:t>第二格式跨越视觉行</a:t>
            </a:r>
            <a:br>
              <a:rPr sz="2000" u="sng"/>
            </a:br>
            <a:r>
              <a:rPr sz="2000" i="1">
                <a:latin typeface="Arial"/>
                <a:ea typeface="Arial"/>
              </a:rPr>
              <a:t>硬换行后😀</a:t>
            </a:r>
            <a:r>
              <a:rPr sz="2000"/>
              <a:t/>
            </a:r>
          </a:p>
          <a:p>
            <a:pPr algn="ctr"/>
            <a:endParaRPr sz="1800"/>
          </a:p>
          <a:p>
            <a:pPr algn="r" rtl="1"/>
            <a:r>
              <a:rPr sz="1800"/>
              <a:t>مرحبا RTL 右到左</a:t>
            </a:r>
          </a:p>
          <a:p>
            <a:pPr marL="228600" indent="-228600">
              <a:buChar char="•"/>
            </a:pPr>
            <a:r>
              <a:rPr sz="1800"/>
              <a:t>项目符号不是正文字符</a:t>
            </a:r>
          </a:p>
        </p:txBody>
      </p:sp>
      <p:sp>
        <p:nvSpPr>
          <p:cNvPr id="102" name="Engine 竖排基准"/>
          <p:cNvSpPr/>
          <p:nvPr/>
        </p:nvSpPr>
        <p:spPr>
          <a:xfrm>
            <a:off x="4572000" y="428625"/>
            <a:ext cx="1809750" cy="2571750"/>
          </a:xfrm>
          <a:prstGeom prst="rect">
            <a:avLst/>
          </a:prstGeom>
          <a:solidFill>
            <a:srgbClr val="FFF7ED"/>
          </a:solidFill>
        </p:spPr>
        <p:txBody>
          <a:bodyPr vert="vert" wrap="square" anchor="ctr"/>
          <a:lstStyle/>
          <a:p>
            <a:pPr algn="ctr"/>
            <a:r>
              <a:rPr sz="1900"/>
              <a:t>竖排中文与ABC跨行编辑</a:t>
            </a:r>
          </a:p>
        </p:txBody>
      </p:sp>
      <p:sp>
        <p:nvSpPr>
          <p:cNvPr id="103" name="Engine 分栏基准"/>
          <p:cNvSpPr/>
          <p:nvPr/>
        </p:nvSpPr>
        <p:spPr>
          <a:xfrm>
            <a:off x="6762750" y="428625"/>
            <a:ext cx="4857750" cy="2571750"/>
          </a:xfrm>
          <a:prstGeom prst="rect">
            <a:avLst/>
          </a:prstGeom>
          <a:solidFill>
            <a:srgbClr val="EFF6FF"/>
          </a:solidFill>
        </p:spPr>
        <p:txBody>
          <a:bodyPr wrap="square" anchor="t" numCol="2" spcCol="171450"/>
          <a:lstStyle/>
          <a:p>
            <a:pPr algn="just"/>
            <a:r>
              <a:rPr sz="1600"/>
              <a:t>第一列和第二列必须由同一份 engine 行盒决定。多栏文字在浏览器自动分栏时容易与原生 SVG 的断点不同，编辑面不能再次猜测。第一列和第二列必须由同一份 engine 行盒决定。多栏文字在浏览器自动分栏时容易与原生 SVG 的断点不同，编辑面不能再次猜测。第一列和第二列必须由同一份 engine 行盒决定。多栏文字在浏览器自动分栏时容易与原生 SVG 的断点不同，编辑面不能再次猜测。第一列和第二列必须由同一份 engine 行盒决定。多栏文字在浏览器自动分栏时容易与原生 SVG 的断点不同，编辑面不能再次猜测。第一列和第二列必须由同一份 engine 行盒决定。多栏文字在浏览器自动分栏时容易与原生 SVG 的断点不同，编辑面不能再次猜测。第一列和第二列必须由同一份 engine 行盒决定。多栏文字在浏览器自动分栏时容易与原生 SVG 的断点不同，编辑面不能再次猜测。第一列和第二列必须由同一份 engine 行盒决定。多栏文字在浏览器自动分栏时容易与原生 SVG 的断点不同，编辑面不能再次猜测。</a:t>
            </a:r>
          </a:p>
        </p:txBody>
      </p:sp>
      <p:sp>
        <p:nvSpPr>
          <p:cNvPr id="104" name="Engine 公式基准"/>
          <p:cNvSpPr/>
          <p:nvPr/>
        </p:nvSpPr>
        <p:spPr>
          <a:xfrm>
            <a:off x="476250" y="3429000"/>
            <a:ext cx="4953000" cy="1428750"/>
          </a:xfrm>
          <a:prstGeom prst="rect">
            <a:avLst/>
          </a:prstGeom>
          <a:solidFill>
            <a:srgbClr val="F5F3FF"/>
          </a:solidFill>
        </p:spPr>
        <p:txBody>
          <a:bodyPr wrap="square" anchor="ctr"/>
          <a:lstStyle/>
          <a:p>
            <a:pPr algn="ctr"/>
            <a:r>
              <a:rPr sz="1900"/>
              <a:t>公式前</a:t>
            </a:r>
            <m:oMath xmlns:m="http://schemas.openxmlformats.org/officeDocument/2006/math">
              <m:f>
                <m:num>
                  <m:r>
                    <m:t>a</m:t>
                  </m:r>
                </m:num>
                <m:den>
                  <m:r>
                    <m:t>b</m:t>
                  </m:r>
                </m:den>
              </m:f>
            </m:oMath>
            <a:r>
              <a:rPr sz="1900"/>
              <a:t>公式后</a:t>
            </a:r>
          </a:p>
        </p:txBody>
      </p:sp>
      <p:sp>
        <p:nvSpPr>
          <p:cNvPr id="105" name="Engine 裸自动缩放"/>
          <p:cNvSpPr/>
          <p:nvPr/>
        </p:nvSpPr>
        <p:spPr>
          <a:xfrm>
            <a:off x="5810250" y="3429000"/>
            <a:ext cx="5810250" cy="1428750"/>
          </a:xfrm>
          <a:prstGeom prst="rect">
            <a:avLst/>
          </a:prstGeom>
          <a:solidFill>
            <a:srgbClr val="ECFDF5"/>
          </a:solidFill>
        </p:spPr>
        <p:txBody>
          <a:bodyPr wrap="square" anchor="t">
            <a:normAutofit/>
          </a:bodyPr>
          <a:lstStyle/>
          <a:p>
            <a:r>
              <a:rPr sz="2200"/>
              <a:t>裸 normAutofit 没有 fontScale，engine 编辑面必须与原生 SVG 共用实时求出的有效比例，不能进入编辑后突然恢复标称字号。这里放入足够长的中文与 English words 触发缩小。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Engine Text">
  <a:themeElements>
    <a:clrScheme name="Editor Engine Tex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Engine Tex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Engine Tex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