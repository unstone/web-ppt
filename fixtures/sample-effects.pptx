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228600" y="95250"/>
            <a:ext cx="8572500" cy="381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效果：外阴影 / 内阴影 / 发光 / 柔化边缘</a:t>
            </a:r>
            <a:r>
              <a:rPr sz="1100">
                <a:solidFill>
                  <a:srgbClr val="808080"/>
                </a:solidFill>
              </a:rPr>
              <a:t>   内阴影用 SVG filter 反转 alpha 实现</a:t>
            </a:r>
          </a:p>
        </p:txBody>
      </p:sp>
      <p:sp>
        <p:nvSpPr>
          <p:cNvPr id="102" name="外阴影"/>
          <p:cNvSpPr/>
          <p:nvPr/>
        </p:nvSpPr>
        <p:spPr>
          <a:xfrm>
            <a:off x="381000" y="857250"/>
            <a:ext cx="1905000" cy="1238250"/>
          </a:xfrm>
          <a:prstGeom prst="roundRect">
            <a:avLst/>
          </a:prstGeom>
          <a:solidFill>
            <a:schemeClr val="accent1"/>
          </a:solidFill>
          <a:effectLst>
            <a:outerShdw blurRad="76200" dist="63500" dir="2700000">
              <a:srgbClr val="000000">
                <a:alpha val="45000"/>
              </a:srgbClr>
            </a:out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03" name="sp"/>
          <p:cNvSpPr/>
          <p:nvPr/>
        </p:nvSpPr>
        <p:spPr>
          <a:xfrm>
            <a:off x="381000" y="2152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外阴影</a:t>
            </a:r>
          </a:p>
        </p:txBody>
      </p:sp>
      <p:sp>
        <p:nvSpPr>
          <p:cNvPr id="104" name="内阴影（右下）"/>
          <p:cNvSpPr/>
          <p:nvPr/>
        </p:nvSpPr>
        <p:spPr>
          <a:xfrm>
            <a:off x="2667000" y="857250"/>
            <a:ext cx="1905000" cy="1238250"/>
          </a:xfrm>
          <a:prstGeom prst="roundRect">
            <a:avLst/>
          </a:prstGeom>
          <a:solidFill>
            <a:schemeClr val="accent2"/>
          </a:solidFill>
          <a:effectLst>
            <a:innerShdw blurRad="63500" dist="50800" dir="2700000">
              <a:srgbClr val="000000">
                <a:alpha val="75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05" name="sp"/>
          <p:cNvSpPr/>
          <p:nvPr/>
        </p:nvSpPr>
        <p:spPr>
          <a:xfrm>
            <a:off x="2667000" y="2152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内阴影（右下）</a:t>
            </a:r>
          </a:p>
        </p:txBody>
      </p:sp>
      <p:sp>
        <p:nvSpPr>
          <p:cNvPr id="106" name="内阴影（左上）"/>
          <p:cNvSpPr/>
          <p:nvPr/>
        </p:nvSpPr>
        <p:spPr>
          <a:xfrm>
            <a:off x="4953000" y="857250"/>
            <a:ext cx="1905000" cy="1238250"/>
          </a:xfrm>
          <a:prstGeom prst="roundRect">
            <a:avLst/>
          </a:prstGeom>
          <a:solidFill>
            <a:schemeClr val="accent4"/>
          </a:solidFill>
          <a:effectLst>
            <a:innerShdw blurRad="50800" dist="44450" dir="13500000">
              <a:srgbClr val="000000">
                <a:alpha val="75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07" name="sp"/>
          <p:cNvSpPr/>
          <p:nvPr/>
        </p:nvSpPr>
        <p:spPr>
          <a:xfrm>
            <a:off x="4953000" y="2152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内阴影（左上）</a:t>
            </a:r>
          </a:p>
        </p:txBody>
      </p:sp>
      <p:sp>
        <p:nvSpPr>
          <p:cNvPr id="108" name="内阴影（无位移）"/>
          <p:cNvSpPr/>
          <p:nvPr/>
        </p:nvSpPr>
        <p:spPr>
          <a:xfrm>
            <a:off x="7239000" y="857250"/>
            <a:ext cx="1905000" cy="1238250"/>
          </a:xfrm>
          <a:prstGeom prst="ellipse">
            <a:avLst/>
          </a:prstGeom>
          <a:solidFill>
            <a:schemeClr val="accent6"/>
          </a:solidFill>
          <a:effectLst>
            <a:innerShdw blurRad="101600" dist="0" dir="0">
              <a:srgbClr val="000000">
                <a:alpha val="80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09" name="sp"/>
          <p:cNvSpPr/>
          <p:nvPr/>
        </p:nvSpPr>
        <p:spPr>
          <a:xfrm>
            <a:off x="7239000" y="2152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内阴影（无位移）</a:t>
            </a:r>
          </a:p>
        </p:txBody>
      </p:sp>
      <p:sp>
        <p:nvSpPr>
          <p:cNvPr id="110" name="内阴影（彩色）"/>
          <p:cNvSpPr/>
          <p:nvPr/>
        </p:nvSpPr>
        <p:spPr>
          <a:xfrm>
            <a:off x="9525000" y="857250"/>
            <a:ext cx="1905000" cy="1238250"/>
          </a:xfrm>
          <a:prstGeom prst="roundRect">
            <a:avLst/>
          </a:prstGeom>
          <a:solidFill>
            <a:schemeClr val="accent3"/>
          </a:solidFill>
          <a:effectLst>
            <a:innerShdw blurRad="76200" dist="38100" dir="5400000">
              <a:srgbClr val="1F3864">
                <a:alpha val="90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11" name="sp"/>
          <p:cNvSpPr/>
          <p:nvPr/>
        </p:nvSpPr>
        <p:spPr>
          <a:xfrm>
            <a:off x="9525000" y="2152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内阴影（彩色）</a:t>
            </a:r>
          </a:p>
        </p:txBody>
      </p:sp>
      <p:sp>
        <p:nvSpPr>
          <p:cNvPr id="112" name="发光"/>
          <p:cNvSpPr/>
          <p:nvPr/>
        </p:nvSpPr>
        <p:spPr>
          <a:xfrm>
            <a:off x="381000" y="3143250"/>
            <a:ext cx="1905000" cy="1238250"/>
          </a:xfrm>
          <a:prstGeom prst="roundRect">
            <a:avLst/>
          </a:prstGeom>
          <a:solidFill>
            <a:schemeClr val="accent2"/>
          </a:solidFill>
          <a:effectLst>
            <a:glow rad="152400">
              <a:schemeClr val="accent2">
                <a:alpha val="80000"/>
              </a:schemeClr>
            </a:glow>
          </a:effectLst>
        </p:spPr>
        <p:txBody>
          <a:bodyPr anchor="ctr"/>
          <a:lstStyle/>
          <a:p>
            <a:endParaRPr/>
          </a:p>
        </p:txBody>
      </p:sp>
      <p:sp>
        <p:nvSpPr>
          <p:cNvPr id="113" name="sp"/>
          <p:cNvSpPr/>
          <p:nvPr/>
        </p:nvSpPr>
        <p:spPr>
          <a:xfrm>
            <a:off x="381000" y="4438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发光</a:t>
            </a:r>
          </a:p>
        </p:txBody>
      </p:sp>
      <p:sp>
        <p:nvSpPr>
          <p:cNvPr id="114" name="柔化边缘"/>
          <p:cNvSpPr/>
          <p:nvPr/>
        </p:nvSpPr>
        <p:spPr>
          <a:xfrm>
            <a:off x="2667000" y="3143250"/>
            <a:ext cx="1905000" cy="1238250"/>
          </a:xfrm>
          <a:prstGeom prst="roundRect">
            <a:avLst/>
          </a:prstGeom>
          <a:solidFill>
            <a:schemeClr val="accent6"/>
          </a:solidFill>
          <a:effectLst>
            <a:softEdge rad="114300"/>
          </a:effectLst>
        </p:spPr>
        <p:txBody>
          <a:bodyPr anchor="ctr"/>
          <a:lstStyle/>
          <a:p>
            <a:endParaRPr/>
          </a:p>
        </p:txBody>
      </p:sp>
      <p:sp>
        <p:nvSpPr>
          <p:cNvPr id="115" name="sp"/>
          <p:cNvSpPr/>
          <p:nvPr/>
        </p:nvSpPr>
        <p:spPr>
          <a:xfrm>
            <a:off x="2667000" y="4438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柔化边缘</a:t>
            </a:r>
          </a:p>
        </p:txBody>
      </p:sp>
      <p:sp>
        <p:nvSpPr>
          <p:cNvPr id="116" name="内阴影 + 发光"/>
          <p:cNvSpPr/>
          <p:nvPr/>
        </p:nvSpPr>
        <p:spPr>
          <a:xfrm>
            <a:off x="4953000" y="3143250"/>
            <a:ext cx="1905000" cy="1238250"/>
          </a:xfrm>
          <a:prstGeom prst="roundRect">
            <a:avLst/>
          </a:prstGeom>
          <a:solidFill>
            <a:schemeClr val="accent5"/>
          </a:solidFill>
          <a:effectLst>
            <a:glow rad="76200">
              <a:schemeClr val="accent4"/>
            </a:glow>
            <a:innerShdw blurRad="63500" dist="44450" dir="2700000">
              <a:srgbClr val="000000">
                <a:alpha val="80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17" name="sp"/>
          <p:cNvSpPr/>
          <p:nvPr/>
        </p:nvSpPr>
        <p:spPr>
          <a:xfrm>
            <a:off x="4953000" y="4438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 + 发光</a:t>
            </a:r>
          </a:p>
        </p:txBody>
      </p:sp>
      <p:sp>
        <p:nvSpPr>
          <p:cNvPr id="118" name="内阴影（渐变填充）"/>
          <p:cNvSpPr/>
          <p:nvPr/>
        </p:nvSpPr>
        <p:spPr>
          <a:xfrm>
            <a:off x="7239000" y="3143250"/>
            <a:ext cx="1905000" cy="1238250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5400000"/>
          </a:gradFill>
          <a:effectLst>
            <a:innerShdw blurRad="76200" dist="50800" dir="2700000">
              <a:srgbClr val="000000">
                <a:alpha val="85000"/>
              </a:srgbClr>
            </a:inn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19" name="sp"/>
          <p:cNvSpPr/>
          <p:nvPr/>
        </p:nvSpPr>
        <p:spPr>
          <a:xfrm>
            <a:off x="7239000" y="4438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内阴影（渐变填充）</a:t>
            </a:r>
          </a:p>
        </p:txBody>
      </p:sp>
      <p:sp>
        <p:nvSpPr>
          <p:cNvPr id="120" name="内阴影 + 文字"/>
          <p:cNvSpPr/>
          <p:nvPr/>
        </p:nvSpPr>
        <p:spPr>
          <a:xfrm>
            <a:off x="9525000" y="3143250"/>
            <a:ext cx="1905000" cy="1238250"/>
          </a:xfrm>
          <a:prstGeom prst="roundRect">
            <a:avLst/>
          </a:prstGeom>
          <a:solidFill>
            <a:schemeClr val="accent4"/>
          </a:solidFill>
          <a:effectLst>
            <a:innerShdw blurRad="63500" dist="50800" dir="2700000">
              <a:srgbClr val="000000">
                <a:alpha val="70000"/>
              </a:srgbClr>
            </a:innerShdw>
          </a:effectLst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Inner</a:t>
            </a:r>
          </a:p>
        </p:txBody>
      </p:sp>
      <p:sp>
        <p:nvSpPr>
          <p:cNvPr id="121" name="sp"/>
          <p:cNvSpPr/>
          <p:nvPr/>
        </p:nvSpPr>
        <p:spPr>
          <a:xfrm>
            <a:off x="9525000" y="4438650"/>
            <a:ext cx="1905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内阴影 + 文字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p"/>
          <p:cNvSpPr/>
          <p:nvPr/>
        </p:nvSpPr>
        <p:spPr>
          <a:xfrm>
            <a:off x="228600" y="95250"/>
            <a:ext cx="8572500" cy="381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倒影 a:reflection</a:t>
            </a:r>
            <a:r>
              <a:rPr sz="1100">
                <a:solidFill>
                  <a:srgbClr val="808080"/>
                </a:solidFill>
              </a:rPr>
              <a:t>   stA → 起始不透明度，endPos → 可见比例，dist → 与本体间距</a:t>
            </a:r>
          </a:p>
        </p:txBody>
      </p:sp>
      <p:sp>
        <p:nvSpPr>
          <p:cNvPr id="123" name="alpha 90% / size 60%"/>
          <p:cNvSpPr/>
          <p:nvPr/>
        </p:nvSpPr>
        <p:spPr>
          <a:xfrm>
            <a:off x="571500" y="857250"/>
            <a:ext cx="2476500" cy="1143000"/>
          </a:xfrm>
          <a:prstGeom prst="roundRect">
            <a:avLst/>
          </a:prstGeom>
          <a:solidFill>
            <a:schemeClr val="accent1"/>
          </a:solidFill>
          <a:effectLst>
            <a:reflection blurRad="6350" stA="90000" stPos="0" endA="300" endPos="60000" dist="0" dir="5400000" sy="-100000" algn="bl" rotWithShape="0"/>
          </a:effectLst>
        </p:spPr>
        <p:txBody>
          <a:bodyPr anchor="ctr"/>
          <a:lstStyle/>
          <a:p>
            <a:endParaRPr/>
          </a:p>
        </p:txBody>
      </p:sp>
      <p:sp>
        <p:nvSpPr>
          <p:cNvPr id="124" name="sp"/>
          <p:cNvSpPr/>
          <p:nvPr/>
        </p:nvSpPr>
        <p:spPr>
          <a:xfrm>
            <a:off x="571500" y="31908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alpha 90% / size 60%</a:t>
            </a:r>
          </a:p>
        </p:txBody>
      </p:sp>
      <p:sp>
        <p:nvSpPr>
          <p:cNvPr id="125" name="alpha 50% / size 35%"/>
          <p:cNvSpPr/>
          <p:nvPr/>
        </p:nvSpPr>
        <p:spPr>
          <a:xfrm>
            <a:off x="4381500" y="857250"/>
            <a:ext cx="2476500" cy="1143000"/>
          </a:xfrm>
          <a:prstGeom prst="roundRect">
            <a:avLst/>
          </a:prstGeom>
          <a:solidFill>
            <a:schemeClr val="accent2"/>
          </a:solidFill>
          <a:effectLst>
            <a:reflection blurRad="6350" stA="50000" stPos="0" endA="300" endPos="35000" dist="0" dir="5400000" sy="-100000" algn="bl" rotWithShape="0"/>
          </a:effectLst>
        </p:spPr>
        <p:txBody>
          <a:bodyPr anchor="ctr"/>
          <a:lstStyle/>
          <a:p>
            <a:endParaRPr/>
          </a:p>
        </p:txBody>
      </p:sp>
      <p:sp>
        <p:nvSpPr>
          <p:cNvPr id="126" name="sp"/>
          <p:cNvSpPr/>
          <p:nvPr/>
        </p:nvSpPr>
        <p:spPr>
          <a:xfrm>
            <a:off x="4381500" y="31908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alpha 50% / size 35%</a:t>
            </a:r>
          </a:p>
        </p:txBody>
      </p:sp>
      <p:sp>
        <p:nvSpPr>
          <p:cNvPr id="127" name="alpha 30% / size 100%"/>
          <p:cNvSpPr/>
          <p:nvPr/>
        </p:nvSpPr>
        <p:spPr>
          <a:xfrm>
            <a:off x="8191500" y="857250"/>
            <a:ext cx="2476500" cy="1143000"/>
          </a:xfrm>
          <a:prstGeom prst="roundRect">
            <a:avLst/>
          </a:prstGeom>
          <a:solidFill>
            <a:schemeClr val="accent6"/>
          </a:solidFill>
          <a:effectLst>
            <a:reflection blurRad="6350" stA="30000" stPos="0" endA="300" endPos="100000" dist="0" dir="5400000" sy="-100000" algn="bl" rotWithShape="0"/>
          </a:effectLst>
        </p:spPr>
        <p:txBody>
          <a:bodyPr anchor="ctr"/>
          <a:lstStyle/>
          <a:p>
            <a:endParaRPr/>
          </a:p>
        </p:txBody>
      </p:sp>
      <p:sp>
        <p:nvSpPr>
          <p:cNvPr id="128" name="sp"/>
          <p:cNvSpPr/>
          <p:nvPr/>
        </p:nvSpPr>
        <p:spPr>
          <a:xfrm>
            <a:off x="8191500" y="31908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alpha 30% / size 100%</a:t>
            </a:r>
          </a:p>
        </p:txBody>
      </p:sp>
      <p:sp>
        <p:nvSpPr>
          <p:cNvPr id="129" name="alpha 70% / 间距 12px"/>
          <p:cNvSpPr/>
          <p:nvPr/>
        </p:nvSpPr>
        <p:spPr>
          <a:xfrm>
            <a:off x="571500" y="3714750"/>
            <a:ext cx="2476500" cy="1143000"/>
          </a:xfrm>
          <a:prstGeom prst="ellipse">
            <a:avLst/>
          </a:prstGeom>
          <a:solidFill>
            <a:schemeClr val="accent4"/>
          </a:solidFill>
          <a:effectLst>
            <a:reflection blurRad="6350" stA="70000" stPos="0" endA="300" endPos="50000" dist="114300" dir="5400000" sy="-100000" algn="bl" rotWithShape="0"/>
          </a:effectLst>
        </p:spPr>
        <p:txBody>
          <a:bodyPr anchor="ctr"/>
          <a:lstStyle/>
          <a:p>
            <a:endParaRPr/>
          </a:p>
        </p:txBody>
      </p:sp>
      <p:sp>
        <p:nvSpPr>
          <p:cNvPr id="130" name="sp"/>
          <p:cNvSpPr/>
          <p:nvPr/>
        </p:nvSpPr>
        <p:spPr>
          <a:xfrm>
            <a:off x="571500" y="60483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alpha 70% / 间距 12px</a:t>
            </a:r>
          </a:p>
        </p:txBody>
      </p:sp>
      <p:sp>
        <p:nvSpPr>
          <p:cNvPr id="131" name="倒影 + 文字"/>
          <p:cNvSpPr/>
          <p:nvPr/>
        </p:nvSpPr>
        <p:spPr>
          <a:xfrm>
            <a:off x="4381500" y="3714750"/>
            <a:ext cx="2476500" cy="1143000"/>
          </a:xfrm>
          <a:prstGeom prst="roundRect">
            <a:avLst/>
          </a:prstGeom>
          <a:solidFill>
            <a:schemeClr val="accent5"/>
          </a:solidFill>
          <a:effectLst>
            <a:reflection blurRad="6350" stA="65000" stPos="0" endA="300" endPos="55000" dist="0" dir="5400000" sy="-100000" algn="bl" rotWithShape="0"/>
          </a:effectLst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REFLECT</a:t>
            </a:r>
          </a:p>
        </p:txBody>
      </p:sp>
      <p:sp>
        <p:nvSpPr>
          <p:cNvPr id="132" name="sp"/>
          <p:cNvSpPr/>
          <p:nvPr/>
        </p:nvSpPr>
        <p:spPr>
          <a:xfrm>
            <a:off x="4381500" y="60483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倒影 + 文字</a:t>
            </a:r>
          </a:p>
        </p:txBody>
      </p:sp>
      <p:sp>
        <p:nvSpPr>
          <p:cNvPr id="133" name="倒影 + 外阴影"/>
          <p:cNvSpPr/>
          <p:nvPr/>
        </p:nvSpPr>
        <p:spPr>
          <a:xfrm>
            <a:off x="8191500" y="3714750"/>
            <a:ext cx="2476500" cy="1143000"/>
          </a:xfrm>
          <a:prstGeom prst="star5">
            <a:avLst/>
          </a:prstGeom>
          <a:solidFill>
            <a:schemeClr val="accent3"/>
          </a:solidFill>
          <a:effectLst>
            <a:reflection blurRad="6350" stA="60000" stPos="0" endA="300" endPos="45000" dist="0" dir="5400000" sy="-100000" algn="bl" rotWithShape="0"/>
            <a:outerShdw blurRad="50800" dist="38100" dir="270000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34" name="sp"/>
          <p:cNvSpPr/>
          <p:nvPr/>
        </p:nvSpPr>
        <p:spPr>
          <a:xfrm>
            <a:off x="8191500" y="6048375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倒影 + 外阴影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p"/>
          <p:cNvSpPr/>
          <p:nvPr/>
        </p:nvSpPr>
        <p:spPr>
          <a:xfrm>
            <a:off x="228600" y="95250"/>
            <a:ext cx="8572500" cy="381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艺术字变形 a:prstTxWarp（15 个预设）</a:t>
            </a:r>
            <a:r>
              <a:rPr sz="1100">
                <a:solidFill>
                  <a:srgbClr val="808080"/>
                </a:solidFill>
              </a:rPr>
              <a:t>   文字排到 &lt;path&gt; 上，用 &lt;textPath&gt; 渲染</a:t>
            </a:r>
          </a:p>
        </p:txBody>
      </p:sp>
      <p:sp>
        <p:nvSpPr>
          <p:cNvPr id="136" name="wa-textArchUp"/>
          <p:cNvSpPr txBox="1"/>
          <p:nvPr/>
        </p:nvSpPr>
        <p:spPr>
          <a:xfrm>
            <a:off x="238125" y="6858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1"/>
                </a:solidFill>
              </a:rPr>
              <a:t>Warp</a:t>
            </a:r>
          </a:p>
        </p:txBody>
      </p:sp>
      <p:sp>
        <p:nvSpPr>
          <p:cNvPr id="137" name="sp"/>
          <p:cNvSpPr/>
          <p:nvPr/>
        </p:nvSpPr>
        <p:spPr>
          <a:xfrm>
            <a:off x="142875" y="21526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textArchUp</a:t>
            </a:r>
          </a:p>
        </p:txBody>
      </p:sp>
      <p:sp>
        <p:nvSpPr>
          <p:cNvPr id="138" name="wa-textArchDown"/>
          <p:cNvSpPr txBox="1"/>
          <p:nvPr/>
        </p:nvSpPr>
        <p:spPr>
          <a:xfrm>
            <a:off x="2619375" y="6858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Down">
              <a:avLst>
                <a:gd name="adj" fmla="val 108000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2"/>
                </a:solidFill>
              </a:rPr>
              <a:t>Warp</a:t>
            </a:r>
          </a:p>
        </p:txBody>
      </p:sp>
      <p:sp>
        <p:nvSpPr>
          <p:cNvPr id="139" name="sp"/>
          <p:cNvSpPr/>
          <p:nvPr/>
        </p:nvSpPr>
        <p:spPr>
          <a:xfrm>
            <a:off x="2524125" y="21526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textArchDown</a:t>
            </a:r>
          </a:p>
        </p:txBody>
      </p:sp>
      <p:sp>
        <p:nvSpPr>
          <p:cNvPr id="140" name="wa-textArchUpPour"/>
          <p:cNvSpPr txBox="1"/>
          <p:nvPr/>
        </p:nvSpPr>
        <p:spPr>
          <a:xfrm>
            <a:off x="5000625" y="6858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Pour">
              <a:avLst>
                <a:gd name="adj" fmla="val 126000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3"/>
                </a:solidFill>
              </a:rPr>
              <a:t>Warp</a:t>
            </a:r>
          </a:p>
        </p:txBody>
      </p:sp>
      <p:sp>
        <p:nvSpPr>
          <p:cNvPr id="141" name="sp"/>
          <p:cNvSpPr/>
          <p:nvPr/>
        </p:nvSpPr>
        <p:spPr>
          <a:xfrm>
            <a:off x="4905375" y="21526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textArchUpPour</a:t>
            </a:r>
          </a:p>
        </p:txBody>
      </p:sp>
      <p:sp>
        <p:nvSpPr>
          <p:cNvPr id="142" name="wa-textArchDownPour"/>
          <p:cNvSpPr txBox="1"/>
          <p:nvPr/>
        </p:nvSpPr>
        <p:spPr>
          <a:xfrm>
            <a:off x="7381875" y="6858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DownPour">
              <a:avLst>
                <a:gd name="adj" fmla="val 126000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4"/>
                </a:solidFill>
              </a:rPr>
              <a:t>Warp</a:t>
            </a:r>
          </a:p>
        </p:txBody>
      </p:sp>
      <p:sp>
        <p:nvSpPr>
          <p:cNvPr id="143" name="sp"/>
          <p:cNvSpPr/>
          <p:nvPr/>
        </p:nvSpPr>
        <p:spPr>
          <a:xfrm>
            <a:off x="7286625" y="21526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textArchDownPour</a:t>
            </a:r>
          </a:p>
        </p:txBody>
      </p:sp>
      <p:sp>
        <p:nvSpPr>
          <p:cNvPr id="144" name="wa-textCircle"/>
          <p:cNvSpPr txBox="1"/>
          <p:nvPr/>
        </p:nvSpPr>
        <p:spPr>
          <a:xfrm>
            <a:off x="9763125" y="6858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ircle">
              <a:avLst/>
            </a:prstTxWarp>
          </a:bodyPr>
          <a:lstStyle/>
          <a:p>
            <a:pPr algn="ctr"/>
            <a:r>
              <a:rPr sz="2200" b="1">
                <a:solidFill>
                  <a:schemeClr val="accent5"/>
                </a:solidFill>
              </a:rPr>
              <a:t>Warp</a:t>
            </a:r>
          </a:p>
        </p:txBody>
      </p:sp>
      <p:sp>
        <p:nvSpPr>
          <p:cNvPr id="145" name="sp"/>
          <p:cNvSpPr/>
          <p:nvPr/>
        </p:nvSpPr>
        <p:spPr>
          <a:xfrm>
            <a:off x="9667875" y="21526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textCircle</a:t>
            </a:r>
          </a:p>
        </p:txBody>
      </p:sp>
      <p:sp>
        <p:nvSpPr>
          <p:cNvPr id="146" name="wa-textWave1"/>
          <p:cNvSpPr txBox="1"/>
          <p:nvPr/>
        </p:nvSpPr>
        <p:spPr>
          <a:xfrm>
            <a:off x="238125" y="249555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Wave1">
              <a:avLst>
                <a:gd name="adj1" fmla="val 125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6"/>
                </a:solidFill>
              </a:rPr>
              <a:t>Warp</a:t>
            </a:r>
          </a:p>
        </p:txBody>
      </p:sp>
      <p:sp>
        <p:nvSpPr>
          <p:cNvPr id="147" name="sp"/>
          <p:cNvSpPr/>
          <p:nvPr/>
        </p:nvSpPr>
        <p:spPr>
          <a:xfrm>
            <a:off x="142875" y="396240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textWave1</a:t>
            </a:r>
          </a:p>
        </p:txBody>
      </p:sp>
      <p:sp>
        <p:nvSpPr>
          <p:cNvPr id="148" name="wa-textWave2"/>
          <p:cNvSpPr txBox="1"/>
          <p:nvPr/>
        </p:nvSpPr>
        <p:spPr>
          <a:xfrm>
            <a:off x="2619375" y="249555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Wave2">
              <a:avLst>
                <a:gd name="adj1" fmla="val 12500"/>
              </a:avLst>
            </a:prstTxWarp>
          </a:bodyPr>
          <a:lstStyle/>
          <a:p>
            <a:pPr algn="ctr"/>
            <a:r>
              <a:rPr sz="2200" b="1">
                <a:solidFill>
                  <a:schemeClr val="accent1"/>
                </a:solidFill>
              </a:rPr>
              <a:t>Warp</a:t>
            </a:r>
          </a:p>
        </p:txBody>
      </p:sp>
      <p:sp>
        <p:nvSpPr>
          <p:cNvPr id="149" name="sp"/>
          <p:cNvSpPr/>
          <p:nvPr/>
        </p:nvSpPr>
        <p:spPr>
          <a:xfrm>
            <a:off x="2524125" y="396240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textWave2</a:t>
            </a:r>
          </a:p>
        </p:txBody>
      </p:sp>
      <p:sp>
        <p:nvSpPr>
          <p:cNvPr id="150" name="wa-textCurveUp"/>
          <p:cNvSpPr txBox="1"/>
          <p:nvPr/>
        </p:nvSpPr>
        <p:spPr>
          <a:xfrm>
            <a:off x="5000625" y="249555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urveUp">
              <a:avLst/>
            </a:prstTxWarp>
          </a:bodyPr>
          <a:lstStyle/>
          <a:p>
            <a:pPr algn="ctr"/>
            <a:r>
              <a:rPr sz="2200" b="1">
                <a:solidFill>
                  <a:schemeClr val="accent2"/>
                </a:solidFill>
              </a:rPr>
              <a:t>Warp</a:t>
            </a:r>
          </a:p>
        </p:txBody>
      </p:sp>
      <p:sp>
        <p:nvSpPr>
          <p:cNvPr id="151" name="sp"/>
          <p:cNvSpPr/>
          <p:nvPr/>
        </p:nvSpPr>
        <p:spPr>
          <a:xfrm>
            <a:off x="4905375" y="396240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textCurveUp</a:t>
            </a:r>
          </a:p>
        </p:txBody>
      </p:sp>
      <p:sp>
        <p:nvSpPr>
          <p:cNvPr id="152" name="wa-textCurveDown"/>
          <p:cNvSpPr txBox="1"/>
          <p:nvPr/>
        </p:nvSpPr>
        <p:spPr>
          <a:xfrm>
            <a:off x="7381875" y="249555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urveDown">
              <a:avLst/>
            </a:prstTxWarp>
          </a:bodyPr>
          <a:lstStyle/>
          <a:p>
            <a:pPr algn="ctr"/>
            <a:r>
              <a:rPr sz="2200" b="1">
                <a:solidFill>
                  <a:schemeClr val="accent3"/>
                </a:solidFill>
              </a:rPr>
              <a:t>Warp</a:t>
            </a:r>
          </a:p>
        </p:txBody>
      </p:sp>
      <p:sp>
        <p:nvSpPr>
          <p:cNvPr id="153" name="sp"/>
          <p:cNvSpPr/>
          <p:nvPr/>
        </p:nvSpPr>
        <p:spPr>
          <a:xfrm>
            <a:off x="7286625" y="396240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textCurveDown</a:t>
            </a:r>
          </a:p>
        </p:txBody>
      </p:sp>
      <p:sp>
        <p:nvSpPr>
          <p:cNvPr id="154" name="wa-textCanUp"/>
          <p:cNvSpPr txBox="1"/>
          <p:nvPr/>
        </p:nvSpPr>
        <p:spPr>
          <a:xfrm>
            <a:off x="9763125" y="249555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anUp">
              <a:avLst/>
            </a:prstTxWarp>
          </a:bodyPr>
          <a:lstStyle/>
          <a:p>
            <a:pPr algn="ctr"/>
            <a:r>
              <a:rPr sz="2200" b="1">
                <a:solidFill>
                  <a:schemeClr val="accent4"/>
                </a:solidFill>
              </a:rPr>
              <a:t>Warp</a:t>
            </a:r>
          </a:p>
        </p:txBody>
      </p:sp>
      <p:sp>
        <p:nvSpPr>
          <p:cNvPr id="155" name="sp"/>
          <p:cNvSpPr/>
          <p:nvPr/>
        </p:nvSpPr>
        <p:spPr>
          <a:xfrm>
            <a:off x="9667875" y="396240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textCanUp</a:t>
            </a:r>
          </a:p>
        </p:txBody>
      </p:sp>
      <p:sp>
        <p:nvSpPr>
          <p:cNvPr id="156" name="wa-textCanDown"/>
          <p:cNvSpPr txBox="1"/>
          <p:nvPr/>
        </p:nvSpPr>
        <p:spPr>
          <a:xfrm>
            <a:off x="238125" y="43053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anDown">
              <a:avLst/>
            </a:prstTxWarp>
          </a:bodyPr>
          <a:lstStyle/>
          <a:p>
            <a:pPr algn="ctr"/>
            <a:r>
              <a:rPr sz="2200" b="1">
                <a:solidFill>
                  <a:schemeClr val="accent5"/>
                </a:solidFill>
              </a:rPr>
              <a:t>Warp</a:t>
            </a:r>
          </a:p>
        </p:txBody>
      </p:sp>
      <p:sp>
        <p:nvSpPr>
          <p:cNvPr id="157" name="sp"/>
          <p:cNvSpPr/>
          <p:nvPr/>
        </p:nvSpPr>
        <p:spPr>
          <a:xfrm>
            <a:off x="142875" y="57721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textCanDown</a:t>
            </a:r>
          </a:p>
        </p:txBody>
      </p:sp>
      <p:sp>
        <p:nvSpPr>
          <p:cNvPr id="158" name="wa-textTriangle"/>
          <p:cNvSpPr txBox="1"/>
          <p:nvPr/>
        </p:nvSpPr>
        <p:spPr>
          <a:xfrm>
            <a:off x="2619375" y="43053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Triangle">
              <a:avLst/>
            </a:prstTxWarp>
          </a:bodyPr>
          <a:lstStyle/>
          <a:p>
            <a:pPr algn="ctr"/>
            <a:r>
              <a:rPr sz="2200" b="1">
                <a:solidFill>
                  <a:schemeClr val="accent6"/>
                </a:solidFill>
              </a:rPr>
              <a:t>Warp</a:t>
            </a:r>
          </a:p>
        </p:txBody>
      </p:sp>
      <p:sp>
        <p:nvSpPr>
          <p:cNvPr id="159" name="sp"/>
          <p:cNvSpPr/>
          <p:nvPr/>
        </p:nvSpPr>
        <p:spPr>
          <a:xfrm>
            <a:off x="2524125" y="57721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textTriangle</a:t>
            </a:r>
          </a:p>
        </p:txBody>
      </p:sp>
      <p:sp>
        <p:nvSpPr>
          <p:cNvPr id="160" name="wa-textChevron"/>
          <p:cNvSpPr txBox="1"/>
          <p:nvPr/>
        </p:nvSpPr>
        <p:spPr>
          <a:xfrm>
            <a:off x="5000625" y="43053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Chevron">
              <a:avLst/>
            </a:prstTxWarp>
          </a:bodyPr>
          <a:lstStyle/>
          <a:p>
            <a:pPr algn="ctr"/>
            <a:r>
              <a:rPr sz="2200" b="1">
                <a:solidFill>
                  <a:schemeClr val="accent1"/>
                </a:solidFill>
              </a:rPr>
              <a:t>Warp</a:t>
            </a:r>
          </a:p>
        </p:txBody>
      </p:sp>
      <p:sp>
        <p:nvSpPr>
          <p:cNvPr id="161" name="sp"/>
          <p:cNvSpPr/>
          <p:nvPr/>
        </p:nvSpPr>
        <p:spPr>
          <a:xfrm>
            <a:off x="4905375" y="57721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textChevron</a:t>
            </a:r>
          </a:p>
        </p:txBody>
      </p:sp>
      <p:sp>
        <p:nvSpPr>
          <p:cNvPr id="162" name="wa-textInflate"/>
          <p:cNvSpPr txBox="1"/>
          <p:nvPr/>
        </p:nvSpPr>
        <p:spPr>
          <a:xfrm>
            <a:off x="7381875" y="43053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Inflate">
              <a:avLst/>
            </a:prstTxWarp>
          </a:bodyPr>
          <a:lstStyle/>
          <a:p>
            <a:pPr algn="ctr"/>
            <a:r>
              <a:rPr sz="2200" b="1">
                <a:solidFill>
                  <a:schemeClr val="accent2"/>
                </a:solidFill>
              </a:rPr>
              <a:t>Warp</a:t>
            </a:r>
          </a:p>
        </p:txBody>
      </p:sp>
      <p:sp>
        <p:nvSpPr>
          <p:cNvPr id="163" name="sp"/>
          <p:cNvSpPr/>
          <p:nvPr/>
        </p:nvSpPr>
        <p:spPr>
          <a:xfrm>
            <a:off x="7286625" y="57721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textInflate</a:t>
            </a:r>
          </a:p>
        </p:txBody>
      </p:sp>
      <p:sp>
        <p:nvSpPr>
          <p:cNvPr id="164" name="wa-textDeflate"/>
          <p:cNvSpPr txBox="1"/>
          <p:nvPr/>
        </p:nvSpPr>
        <p:spPr>
          <a:xfrm>
            <a:off x="9763125" y="4305300"/>
            <a:ext cx="2190750" cy="14287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Deflate">
              <a:avLst/>
            </a:prstTxWarp>
          </a:bodyPr>
          <a:lstStyle/>
          <a:p>
            <a:pPr algn="ctr"/>
            <a:r>
              <a:rPr sz="2200" b="1">
                <a:solidFill>
                  <a:schemeClr val="accent3"/>
                </a:solidFill>
              </a:rPr>
              <a:t>Warp</a:t>
            </a:r>
          </a:p>
        </p:txBody>
      </p:sp>
      <p:sp>
        <p:nvSpPr>
          <p:cNvPr id="165" name="sp"/>
          <p:cNvSpPr/>
          <p:nvPr/>
        </p:nvSpPr>
        <p:spPr>
          <a:xfrm>
            <a:off x="9667875" y="5772150"/>
            <a:ext cx="238125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textDeflate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p"/>
          <p:cNvSpPr/>
          <p:nvPr/>
        </p:nvSpPr>
        <p:spPr>
          <a:xfrm>
            <a:off x="228600" y="95250"/>
            <a:ext cx="8572500" cy="381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降级与 RTL</a:t>
            </a:r>
            <a:r>
              <a:rPr sz="1100">
                <a:solidFill>
                  <a:srgbClr val="808080"/>
                </a:solidFill>
              </a:rPr>
              <a:t>   未实现的变形预设按普通排版渲染，不报错</a:t>
            </a:r>
          </a:p>
        </p:txBody>
      </p:sp>
      <p:sp>
        <p:nvSpPr>
          <p:cNvPr id="167" name="wa-textStop"/>
          <p:cNvSpPr txBox="1"/>
          <p:nvPr/>
        </p:nvSpPr>
        <p:spPr>
          <a:xfrm>
            <a:off x="381000" y="762000"/>
            <a:ext cx="2476500" cy="8572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Stop">
              <a:avLst/>
            </a:prstTxWarp>
          </a:bodyPr>
          <a:lstStyle/>
          <a:p>
            <a:pPr algn="ctr"/>
            <a:r>
              <a:rPr sz="1800" b="1">
                <a:solidFill>
                  <a:schemeClr val="accent3"/>
                </a:solidFill>
              </a:rPr>
              <a:t>textStop</a:t>
            </a:r>
          </a:p>
        </p:txBody>
      </p:sp>
      <p:sp>
        <p:nvSpPr>
          <p:cNvPr id="168" name="sp"/>
          <p:cNvSpPr/>
          <p:nvPr/>
        </p:nvSpPr>
        <p:spPr>
          <a:xfrm>
            <a:off x="381000" y="1676400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textStop（未实现 → 普通排版）</a:t>
            </a:r>
          </a:p>
        </p:txBody>
      </p:sp>
      <p:sp>
        <p:nvSpPr>
          <p:cNvPr id="169" name="wa-textNoShape"/>
          <p:cNvSpPr txBox="1"/>
          <p:nvPr/>
        </p:nvSpPr>
        <p:spPr>
          <a:xfrm>
            <a:off x="3143250" y="762000"/>
            <a:ext cx="2476500" cy="857250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sz="1800" b="1">
                <a:solidFill>
                  <a:schemeClr val="accent3"/>
                </a:solidFill>
              </a:rPr>
              <a:t>textNoShape</a:t>
            </a:r>
          </a:p>
        </p:txBody>
      </p:sp>
      <p:sp>
        <p:nvSpPr>
          <p:cNvPr id="170" name="sp"/>
          <p:cNvSpPr/>
          <p:nvPr/>
        </p:nvSpPr>
        <p:spPr>
          <a:xfrm>
            <a:off x="3143250" y="1676400"/>
            <a:ext cx="2476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textNoShape（无变形）</a:t>
            </a:r>
          </a:p>
        </p:txBody>
      </p:sp>
      <p:sp>
        <p:nvSpPr>
          <p:cNvPr id="171" name="wa-textArchUp"/>
          <p:cNvSpPr txBox="1"/>
          <p:nvPr/>
        </p:nvSpPr>
        <p:spPr>
          <a:xfrm>
            <a:off x="6096000" y="704850"/>
            <a:ext cx="2857500" cy="1047750"/>
          </a:xfrm>
          <a:prstGeom prst="rect">
            <a:avLst/>
          </a:prstGeom>
          <a:noFill/>
          <a:effectLst>
            <a:reflection blurRad="6350" stA="70000" stPos="0" endA="300" endPos="55000" dist="0" dir="5400000" sy="-100000" algn="bl" rotWithShape="0"/>
          </a:effectLst>
        </p:spPr>
        <p:txBody>
          <a:bodyPr wrap="none" lIns="0" tIns="0" rIns="0" bIns="0" anchor="ctr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sz="2400" b="1">
                <a:solidFill>
                  <a:schemeClr val="accent1"/>
                </a:solidFill>
              </a:rPr>
              <a:t>ARCH</a:t>
            </a:r>
          </a:p>
        </p:txBody>
      </p:sp>
      <p:sp>
        <p:nvSpPr>
          <p:cNvPr id="172" name="sp"/>
          <p:cNvSpPr/>
          <p:nvPr/>
        </p:nvSpPr>
        <p:spPr>
          <a:xfrm>
            <a:off x="6096000" y="1905000"/>
            <a:ext cx="28575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变形 + 倒影</a:t>
            </a:r>
          </a:p>
        </p:txBody>
      </p:sp>
      <p:sp>
        <p:nvSpPr>
          <p:cNvPr id="173" name="wa-textWave1"/>
          <p:cNvSpPr txBox="1"/>
          <p:nvPr/>
        </p:nvSpPr>
        <p:spPr>
          <a:xfrm>
            <a:off x="9239250" y="704850"/>
            <a:ext cx="2667000" cy="1047750"/>
          </a:xfrm>
          <a:prstGeom prst="rect">
            <a:avLst/>
          </a:prstGeom>
          <a:noFill/>
          <a:effectLst>
            <a:outerShdw blurRad="50800" dist="38100" dir="2700000">
              <a:srgbClr val="000000">
                <a:alpha val="45000"/>
              </a:srgbClr>
            </a:outerShdw>
          </a:effectLst>
        </p:spPr>
        <p:txBody>
          <a:bodyPr wrap="none" lIns="0" tIns="0" rIns="0" bIns="0" anchor="ctr">
            <a:prstTxWarp prst="textWave1">
              <a:avLst/>
            </a:prstTxWarp>
          </a:bodyPr>
          <a:lstStyle/>
          <a:p>
            <a:pPr algn="ctr"/>
            <a:r>
              <a:rPr sz="2400" b="1">
                <a:solidFill>
                  <a:schemeClr val="accent2"/>
                </a:solidFill>
              </a:rPr>
              <a:t>WAVE</a:t>
            </a:r>
          </a:p>
        </p:txBody>
      </p:sp>
      <p:sp>
        <p:nvSpPr>
          <p:cNvPr id="174" name="sp"/>
          <p:cNvSpPr/>
          <p:nvPr/>
        </p:nvSpPr>
        <p:spPr>
          <a:xfrm>
            <a:off x="9239250" y="1905000"/>
            <a:ext cx="2667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变形 + 外阴影</a:t>
            </a:r>
          </a:p>
        </p:txBody>
      </p:sp>
      <p:sp>
        <p:nvSpPr>
          <p:cNvPr id="175" name="rtl-box"/>
          <p:cNvSpPr/>
          <p:nvPr/>
        </p:nvSpPr>
        <p:spPr>
          <a:xfrm>
            <a:off x="381000" y="2476500"/>
            <a:ext cx="5334000" cy="1809750"/>
          </a:xfrm>
          <a:prstGeom prst="rect">
            <a:avLst/>
          </a:prstGeom>
          <a:solidFill>
            <a:schemeClr val="lt2"/>
          </a:solidFill>
          <a:ln w="9525">
            <a:solidFill>
              <a:srgbClr val="C0C8D8"/>
            </a:solidFill>
          </a:ln>
        </p:spPr>
        <p:txBody>
          <a:bodyPr anchor="ctr"/>
          <a:lstStyle/>
          <a:p>
            <a:pPr algn="l" rtl="1"/>
            <a:r>
              <a:rPr sz="1600">
                <a:solidFill>
                  <a:schemeClr val="tx1"/>
                </a:solidFill>
              </a:rPr>
              <a:t>مرحبا بالعالم 123 نص عربي</a:t>
            </a:r>
          </a:p>
          <a:p>
            <a:pPr algn="l" rtl="1"/>
            <a:r>
              <a:rPr sz="1600">
                <a:solidFill>
                  <a:schemeClr val="tx1"/>
                </a:solidFill>
              </a:rPr>
              <a:t>مرحبا بالعالم 123 نص عربي — طويل جدا نص للاختبار يلتف على عدة أسطر هنا</a:t>
            </a:r>
          </a:p>
          <a:p>
            <a:pPr algn="r" rtl="1"/>
            <a:r>
              <a:rPr sz="1600">
                <a:solidFill>
                  <a:schemeClr val="tx1"/>
                </a:solidFill>
              </a:rPr>
              <a:t>مرحبا بالعالم 123 نص عربي</a:t>
            </a:r>
          </a:p>
        </p:txBody>
      </p:sp>
      <p:sp>
        <p:nvSpPr>
          <p:cNvPr id="176" name="sp"/>
          <p:cNvSpPr/>
          <p:nvPr/>
        </p:nvSpPr>
        <p:spPr>
          <a:xfrm>
            <a:off x="381000" y="4343400"/>
            <a:ext cx="5334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RTL：direction=rtl，前两段物理左对齐、第三段右对齐</a:t>
            </a:r>
          </a:p>
        </p:txBody>
      </p:sp>
      <p:sp>
        <p:nvSpPr>
          <p:cNvPr id="177" name="ltr-box"/>
          <p:cNvSpPr/>
          <p:nvPr/>
        </p:nvSpPr>
        <p:spPr>
          <a:xfrm>
            <a:off x="6096000" y="2476500"/>
            <a:ext cx="5334000" cy="1809750"/>
          </a:xfrm>
          <a:prstGeom prst="rect">
            <a:avLst/>
          </a:prstGeom>
          <a:solidFill>
            <a:schemeClr val="lt2"/>
          </a:solidFill>
          <a:ln w="9525">
            <a:solidFill>
              <a:srgbClr val="C0C8D8"/>
            </a:solidFill>
          </a:ln>
        </p:spPr>
        <p:txBody>
          <a:bodyPr anchor="ctr"/>
          <a:lstStyle/>
          <a:p>
            <a:pPr algn="l"/>
            <a:r>
              <a:rPr sz="1600">
                <a:solidFill>
                  <a:schemeClr val="tx1"/>
                </a:solidFill>
              </a:rPr>
              <a:t>Hello world 123 LTR text</a:t>
            </a:r>
          </a:p>
          <a:p>
            <a:pPr algn="l"/>
            <a:r>
              <a:rPr sz="1600">
                <a:solidFill>
                  <a:schemeClr val="tx1"/>
                </a:solidFill>
              </a:rPr>
              <a:t>Hello world 123 — a longer line of text that wraps here</a:t>
            </a:r>
          </a:p>
          <a:p>
            <a:pPr algn="r"/>
            <a:r>
              <a:rPr sz="1600">
                <a:solidFill>
                  <a:schemeClr val="tx1"/>
                </a:solidFill>
              </a:rPr>
              <a:t>Hello world 123 LTR text</a:t>
            </a:r>
          </a:p>
        </p:txBody>
      </p:sp>
      <p:sp>
        <p:nvSpPr>
          <p:cNvPr id="178" name="sp"/>
          <p:cNvSpPr/>
          <p:nvPr/>
        </p:nvSpPr>
        <p:spPr>
          <a:xfrm>
            <a:off x="6096000" y="4343400"/>
            <a:ext cx="5334000" cy="1714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800">
                <a:solidFill>
                  <a:srgbClr val="555555"/>
                </a:solidFill>
              </a:rPr>
              <a:t>LTR 对照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ffects">
  <a:themeElements>
    <a:clrScheme name="Effects">
      <a:dk1>
        <a:sysClr val="windowText" lastClr="1A1A1A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7F7F7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ffects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