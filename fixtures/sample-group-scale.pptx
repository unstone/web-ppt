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文字组合"/>
          <p:cNvGrpSpPr/>
          <p:nvPr/>
        </p:nvGrpSpPr>
        <p:grpSpPr>
          <a:xfrm>
            <a:off x="952500" y="1238250"/>
            <a:ext cx="5715000" cy="1524000"/>
            <a:chOff x="0" y="0"/>
            <a:chExt cx="5715000" cy="1524000"/>
          </a:xfrm>
        </p:grpSpPr>
        <p:sp>
          <p:nvSpPr>
            <p:cNvPr id="101" name="组合内文字"/>
            <p:cNvSpPr/>
            <p:nvPr/>
          </p:nvSpPr>
          <p:spPr>
            <a:xfrm>
              <a:off x="0" y="0"/>
              <a:ext cx="5715000" cy="1524000"/>
            </a:xfrm>
            <a:prstGeom prst="rect">
              <a:avLst/>
            </a:prstGeom>
            <a:solidFill>
              <a:srgbClr val="DBEAFE"/>
            </a:solidFill>
          </p:spPr>
          <p:txBody>
            <a:bodyPr wrap="square" anchor="t"/>
            <a:lstStyle/>
            <a:p>
              <a:r>
                <a:rPr sz="2400"/>
                <a:t>Work in pairs. Compare your answers to Exercise 9.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文字组合"/>
          <p:cNvGrpSpPr/>
          <p:nvPr/>
        </p:nvGrpSpPr>
        <p:grpSpPr>
          <a:xfrm>
            <a:off x="952500" y="1238250"/>
            <a:ext cx="5715000" cy="1524000"/>
            <a:chOff x="0" y="0"/>
            <a:chExt cx="9525" cy="2540"/>
          </a:xfrm>
        </p:grpSpPr>
        <p:sp>
          <p:nvSpPr>
            <p:cNvPr id="102" name="组合内文字"/>
            <p:cNvSpPr/>
            <p:nvPr/>
          </p:nvSpPr>
          <p:spPr>
            <a:xfrm>
              <a:off x="0" y="0"/>
              <a:ext cx="9525" cy="2540"/>
            </a:xfrm>
            <a:prstGeom prst="rect">
              <a:avLst/>
            </a:prstGeom>
            <a:solidFill>
              <a:srgbClr val="DBEAFE"/>
            </a:solidFill>
          </p:spPr>
          <p:txBody>
            <a:bodyPr wrap="square" anchor="t"/>
            <a:lstStyle/>
            <a:p>
              <a:r>
                <a:rPr sz="2400"/>
                <a:t>Work in pairs. Compare your answers to Exercise 9.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归一化描边组合"/>
          <p:cNvGrpSpPr/>
          <p:nvPr/>
        </p:nvGrpSpPr>
        <p:grpSpPr>
          <a:xfrm>
            <a:off x="952500" y="1143000"/>
            <a:ext cx="6096000" cy="3048000"/>
            <a:chOff x="0" y="0"/>
            <a:chExt cx="9525" cy="4763"/>
          </a:xfrm>
        </p:grpSpPr>
        <p:sp>
          <p:nvSpPr>
            <p:cNvPr id="103" name="归一化描边矩形"/>
            <p:cNvSpPr/>
            <p:nvPr/>
          </p:nvSpPr>
          <p:spPr>
            <a:xfrm>
              <a:off x="0" y="0"/>
              <a:ext cx="9525" cy="4763"/>
            </a:xfrm>
            <a:prstGeom prst="roundRect">
              <a:avLst/>
            </a:prstGeom>
            <a:solidFill>
              <a:srgbClr val="FDE7F3"/>
            </a:solidFill>
            <a:ln w="28575">
              <a:solidFill>
                <a:srgbClr val="C2185B"/>
              </a:solidFill>
            </a:ln>
          </p:spPr>
          <p:txBody>
            <a:bodyPr anchor="ctr"/>
            <a:lstStyle/>
            <a:p>
              <a:pPr algn="ctr"/>
              <a:r>
                <a:rPr sz="2400"/>
                <a:t>3px stroke · 24pt</a:t>
              </a:r>
            </a:p>
          </p:txBody>
        </p:sp>
        <p:sp>
          <p:nvSpPr>
            <p:cNvPr id="104" name="归一化直线"/>
            <p:cNvSpPr/>
            <p:nvPr/>
          </p:nvSpPr>
          <p:spPr>
            <a:xfrm>
              <a:off x="476" y="4001"/>
              <a:ext cx="8573" cy="0"/>
            </a:xfrm>
            <a:prstGeom prst="line">
              <a:avLst/>
            </a:prstGeom>
            <a:ln w="19050">
              <a:solidFill>
                <a:srgbClr val="1F3864"/>
              </a:solidFill>
            </a:ln>
          </p:spPr>
          <p:txBody>
            <a:bodyPr anchor="ctr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1.5 倍组合"/>
          <p:cNvGrpSpPr/>
          <p:nvPr/>
        </p:nvGrpSpPr>
        <p:grpSpPr>
          <a:xfrm>
            <a:off x="762000" y="1143000"/>
            <a:ext cx="4286250" cy="2143125"/>
            <a:chOff x="381000" y="285750"/>
            <a:chExt cx="2857500" cy="1428750"/>
          </a:xfrm>
        </p:grpSpPr>
        <p:sp>
          <p:nvSpPr>
            <p:cNvPr id="106" name="缩放组合内形状"/>
            <p:cNvSpPr/>
            <p:nvPr/>
          </p:nvSpPr>
          <p:spPr>
            <a:xfrm>
              <a:off x="381000" y="285750"/>
              <a:ext cx="2857500" cy="1428750"/>
            </a:xfrm>
            <a:prstGeom prst="rect">
              <a:avLst/>
            </a:prstGeom>
            <a:solidFill>
              <a:srgbClr val="E2F0D9"/>
            </a:solidFill>
            <a:ln w="57150">
              <a:solidFill>
                <a:srgbClr val="385723"/>
              </a:solidFill>
            </a:ln>
            <a:effectLst>
              <a:outerShdw blurRad="76200" dist="57150" dir="2700000" algn="tl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algn="ctr"/>
              <a:r>
                <a:rPr sz="2400"/>
                <a:t>6px · 24pt</a:t>
              </a:r>
            </a:p>
          </p:txBody>
        </p:sp>
      </p:grpSp>
      <p:sp>
        <p:nvSpPr>
          <p:cNvPr id="108" name="对照形状"/>
          <p:cNvSpPr/>
          <p:nvPr/>
        </p:nvSpPr>
        <p:spPr>
          <a:xfrm>
            <a:off x="6477000" y="1143000"/>
            <a:ext cx="4286250" cy="2143125"/>
          </a:xfrm>
          <a:prstGeom prst="rect">
            <a:avLst/>
          </a:prstGeom>
          <a:solidFill>
            <a:srgbClr val="E2F0D9"/>
          </a:solidFill>
          <a:ln w="57150">
            <a:solidFill>
              <a:srgbClr val="385723"/>
            </a:solidFill>
          </a:ln>
          <a:effectLst>
            <a:outerShdw blurRad="76200" dist="57150" dir="2700000" algn="tl" rotWithShape="0">
              <a:srgbClr val="000000">
                <a:alpha val="40000"/>
              </a:srgbClr>
            </a:outerShdw>
          </a:effectLst>
        </p:spPr>
        <p:txBody>
          <a:bodyPr anchor="ctr"/>
          <a:lstStyle/>
          <a:p>
            <a:pPr algn="ctr"/>
            <a:r>
              <a:rPr sz="2400"/>
              <a:t>6px · 24pt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外层组合"/>
          <p:cNvGrpSpPr/>
          <p:nvPr/>
        </p:nvGrpSpPr>
        <p:grpSpPr>
          <a:xfrm>
            <a:off x="762000" y="952500"/>
            <a:ext cx="5334000" cy="2667000"/>
            <a:chOff x="0" y="0"/>
            <a:chExt cx="2667000" cy="1333500"/>
          </a:xfrm>
        </p:grpSpPr>
        <p:grpSp>
          <p:nvGrpSpPr>
            <p:cNvPr id="110" name="内层组合"/>
            <p:cNvGrpSpPr/>
            <p:nvPr/>
          </p:nvGrpSpPr>
          <p:grpSpPr>
            <a:xfrm>
              <a:off x="190500" y="190500"/>
              <a:ext cx="2286000" cy="952500"/>
              <a:chOff x="476250" y="476250"/>
              <a:chExt cx="4572000" cy="1905000"/>
            </a:xfrm>
          </p:grpSpPr>
          <p:sp>
            <p:nvSpPr>
              <p:cNvPr id="109" name="嵌套叶节点"/>
              <p:cNvSpPr/>
              <p:nvPr/>
            </p:nvSpPr>
            <p:spPr>
              <a:xfrm>
                <a:off x="476250" y="476250"/>
                <a:ext cx="4572000" cy="1905000"/>
              </a:xfrm>
              <a:prstGeom prst="ellipse">
                <a:avLst/>
              </a:prstGeom>
              <a:solidFill>
                <a:srgbClr val="FFF2CC"/>
              </a:solidFill>
              <a:ln w="38100">
                <a:solidFill>
                  <a:srgbClr val="BF9000"/>
                </a:solidFill>
              </a:ln>
            </p:spPr>
            <p:txBody>
              <a:bodyPr anchor="ctr"/>
              <a:lstStyle/>
              <a:p>
                <a:pPr algn="ctr"/>
                <a:r>
                  <a:rPr sz="2000"/>
                  <a:t>nested 4px · 20pt</a:t>
                </a:r>
              </a:p>
            </p:txBody>
          </p:sp>
        </p:grpSp>
      </p:grpSp>
      <p:sp>
        <p:nvSpPr>
          <p:cNvPr id="112" name="嵌套对照形状"/>
          <p:cNvSpPr/>
          <p:nvPr/>
        </p:nvSpPr>
        <p:spPr>
          <a:xfrm>
            <a:off x="6477000" y="1333500"/>
            <a:ext cx="4572000" cy="1905000"/>
          </a:xfrm>
          <a:prstGeom prst="ellipse">
            <a:avLst/>
          </a:prstGeom>
          <a:solidFill>
            <a:srgbClr val="FFF2CC"/>
          </a:solidFill>
          <a:ln w="38100">
            <a:solidFill>
              <a:srgbClr val="BF9000"/>
            </a:solidFill>
          </a:ln>
        </p:spPr>
        <p:txBody>
          <a:bodyPr anchor="ctr"/>
          <a:lstStyle/>
          <a:p>
            <a:pPr algn="ctr"/>
            <a:r>
              <a:rPr sz="2000"/>
              <a:t>nested 4px · 20pt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旋转翻转组合"/>
          <p:cNvGrpSpPr/>
          <p:nvPr/>
        </p:nvGrpSpPr>
        <p:grpSpPr>
          <a:xfrm rot="1200000" flipH="1">
            <a:off x="2667000" y="1714500"/>
            <a:ext cx="5715000" cy="2857500"/>
            <a:chOff x="0" y="0"/>
            <a:chExt cx="3810000" cy="3810000"/>
          </a:xfrm>
        </p:grpSpPr>
        <p:sp>
          <p:nvSpPr>
            <p:cNvPr id="113" name="箭头"/>
            <p:cNvSpPr/>
            <p:nvPr/>
          </p:nvSpPr>
          <p:spPr>
            <a:xfrm>
              <a:off x="190500" y="190500"/>
              <a:ext cx="2476500" cy="1047750"/>
            </a:xfrm>
            <a:prstGeom prst="rightArrow">
              <a:avLst/>
            </a:prstGeom>
            <a:solidFill>
              <a:srgbClr val="DEEBF7"/>
            </a:solidFill>
            <a:ln w="28575">
              <a:solidFill>
                <a:srgbClr val="2E75B6"/>
              </a:solidFill>
            </a:ln>
          </p:spPr>
          <p:txBody>
            <a:bodyPr anchor="ctr"/>
            <a:lstStyle/>
            <a:p>
              <a:pPr algn="ctr"/>
              <a:r>
                <a:rPr sz="1800"/>
                <a:t>flip</a:t>
              </a:r>
            </a:p>
          </p:txBody>
        </p:sp>
        <p:sp>
          <p:nvSpPr>
            <p:cNvPr id="114" name="30° 子元素"/>
            <p:cNvSpPr/>
            <p:nvPr/>
          </p:nvSpPr>
          <p:spPr>
            <a:xfrm rot="1800000">
              <a:off x="381000" y="1905000"/>
              <a:ext cx="1905000" cy="762000"/>
            </a:xfrm>
            <a:prstGeom prst="rect">
              <a:avLst/>
            </a:prstGeom>
            <a:solidFill>
              <a:srgbClr val="FBE5D6"/>
            </a:solidFill>
            <a:ln w="28575">
              <a:solidFill>
                <a:srgbClr val="C55A11"/>
              </a:solidFill>
            </a:ln>
          </p:spPr>
          <p:txBody>
            <a:bodyPr anchor="ctr"/>
            <a:lstStyle/>
            <a:p>
              <a:endParaRPr/>
            </a:p>
          </p:txBody>
        </p:sp>
        <p:sp>
          <p:nvSpPr>
            <p:cNvPr id="115" name="120° 子元素"/>
            <p:cNvSpPr/>
            <p:nvPr/>
          </p:nvSpPr>
          <p:spPr>
            <a:xfrm rot="7200000">
              <a:off x="2095500" y="2095500"/>
              <a:ext cx="1905000" cy="762000"/>
            </a:xfrm>
            <a:prstGeom prst="rect">
              <a:avLst/>
            </a:prstGeom>
            <a:solidFill>
              <a:srgbClr val="E2F0D9"/>
            </a:solidFill>
            <a:ln w="28575">
              <a:solidFill>
                <a:srgbClr val="548235"/>
              </a:solidFill>
            </a:ln>
          </p:spPr>
          <p:txBody>
            <a:bodyPr anchor="ctr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Group Text Scale">
  <a:themeElements>
    <a:clrScheme name="Group Text Scal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Group Text Sca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roup Text Sca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