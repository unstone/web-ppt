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71" name="高级格式版式来源"/>
          <p:cNvSpPr/>
          <p:nvPr>
            <p:ph type="body" idx="7"/>
          </p:nvPr>
        </p:nvSpPr>
        <p:spPr>
          <a:xfrm>
            <a:off x="666750" y="523875"/>
            <a:ext cx="10858500" cy="819150"/>
          </a:xfrm>
          <a:prstGeom prst="rect">
            <a:avLst/>
          </a:prstGeom>
          <a:noFill/>
        </p:spPr>
        <p:txBody>
          <a:bodyPr anchor="ctr"/>
          <a:lstStyle>
            <a:lvl1pPr>
              <a:defRPr sz="1800" u="dashHeavy" strike="dblStrike" spc="150" cap="small" baseline="-12000">
                <a:solidFill>
                  <a:schemeClr val="accent1"/>
                </a:solidFill>
                <a:highlight>
                  <a:schemeClr val="accent3"/>
                </a:highlight>
              </a:defRPr>
            </a:lvl1pPr>
          </a:lstStyle>
          <a:p>
            <a:r>
              <a:t>版式来源</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3200" b="1">
          <a:solidFill>
            <a:schemeClr val="tx2"/>
          </a:solidFill>
        </a:defRPr>
      </a:lvl1pPr>
    </p:titleStyle>
    <p:bodyStyle>
      <a:lvl1pPr>
        <a:buNone/>
        <a:defRPr sz="1600">
          <a:solidFill>
            <a:schemeClr val="tx1"/>
          </a:solidFill>
        </a:defRPr>
      </a:lvl1pPr>
    </p:bodyStyle>
    <p:otherStyle>
      <a:lvl1pPr>
        <a:defRPr sz="14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xample.com/advanced-forma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高级格式版式继承"/>
          <p:cNvSpPr/>
          <p:nvPr>
            <p:ph type="body" idx="7"/>
          </p:nvPr>
        </p:nvSpPr>
        <p:spPr/>
        <p:txBody>
          <a:bodyPr/>
          <a:lstStyle/>
          <a:p>
            <a:r>
              <a:t>Inherited small caps</a:t>
            </a:r>
          </a:p>
        </p:txBody>
      </p:sp>
      <p:sp>
        <p:nvSpPr>
          <p:cNvPr id="101" name="全部下划线类型"/>
          <p:cNvSpPr/>
          <p:nvPr/>
        </p:nvSpPr>
        <p:spPr>
          <a:xfrm>
            <a:off x="666750" y="1571625"/>
            <a:ext cx="10858500" cy="1428750"/>
          </a:xfrm>
          <a:prstGeom prst="rect">
            <a:avLst/>
          </a:prstGeom>
          <a:solidFill>
            <a:srgbClr val="F8FAFC"/>
          </a:solidFill>
        </p:spPr>
        <p:txBody>
          <a:bodyPr wrap="square" anchor="t"/>
          <a:lstStyle/>
          <a:p>
            <a:pPr algn="l"/>
            <a:r>
              <a:rPr sz="1150" u="none"/>
              <a:t>none </a:t>
            </a:r>
            <a:r>
              <a:rPr sz="1150" u="words"/>
              <a:t>words </a:t>
            </a:r>
            <a:r>
              <a:rPr sz="1150" u="sng"/>
              <a:t>sng </a:t>
            </a:r>
            <a:r>
              <a:rPr sz="1150" u="dbl"/>
              <a:t>dbl </a:t>
            </a:r>
            <a:r>
              <a:rPr sz="1150" u="heavy"/>
              <a:t>heavy </a:t>
            </a:r>
            <a:r>
              <a:rPr sz="1150" u="dotted"/>
              <a:t>dotted </a:t>
            </a:r>
            <a:r>
              <a:rPr sz="1150" u="dottedHeavy"/>
              <a:t>dottedHeavy </a:t>
            </a:r>
            <a:r>
              <a:rPr sz="1150" u="dash"/>
              <a:t>dash </a:t>
            </a:r>
            <a:r>
              <a:rPr sz="1150" u="dashHeavy"/>
              <a:t>dashHeavy </a:t>
            </a:r>
            <a:r>
              <a:rPr sz="1150" u="dashLong"/>
              <a:t>dashLong </a:t>
            </a:r>
            <a:r>
              <a:rPr sz="1150" u="dashLongHeavy"/>
              <a:t>dashLongHeavy </a:t>
            </a:r>
            <a:r>
              <a:rPr sz="1150" u="dotDash"/>
              <a:t>dotDash </a:t>
            </a:r>
            <a:r>
              <a:rPr sz="1150" u="dotDashHeavy"/>
              <a:t>dotDashHeavy </a:t>
            </a:r>
            <a:r>
              <a:rPr sz="1150" u="dotDotDash"/>
              <a:t>dotDotDash </a:t>
            </a:r>
            <a:r>
              <a:rPr sz="1150" u="dotDotDashHeavy"/>
              <a:t>dotDotDashHeavy </a:t>
            </a:r>
            <a:r>
              <a:rPr sz="1150" u="wavy"/>
              <a:t>wavy </a:t>
            </a:r>
            <a:r>
              <a:rPr sz="1150" u="wavyHeavy"/>
              <a:t>wavyHeavy </a:t>
            </a:r>
            <a:r>
              <a:rPr sz="1150" u="wavyDbl"/>
              <a:t>wavyDbl </a:t>
            </a:r>
          </a:p>
        </p:txBody>
      </p:sp>
      <p:sp>
        <p:nvSpPr>
          <p:cNvPr id="102" name="高级字符格式直接值"/>
          <p:cNvSpPr/>
          <p:nvPr/>
        </p:nvSpPr>
        <p:spPr>
          <a:xfrm>
            <a:off x="666750" y="3238500"/>
            <a:ext cx="10858500" cy="857250"/>
          </a:xfrm>
          <a:prstGeom prst="rect">
            <a:avLst/>
          </a:prstGeom>
          <a:solidFill>
            <a:srgbClr val="FFF7ED"/>
          </a:solidFill>
        </p:spPr>
        <p:txBody>
          <a:bodyPr anchor="ctr"/>
          <a:lstStyle/>
          <a:p>
            <a:r>
              <a:rPr sz="2200" u="wavyDbl" strike="dblStrike" spc="-225" cap="all" baseline="30000">
                <a:solidFill>
                  <a:schemeClr val="accent6"/>
                </a:solidFill>
                <a:highlight>
                  <a:schemeClr val="accent4"/>
                </a:highlight>
              </a:rPr>
              <a:t>Advanced Format</a:t>
            </a:r>
          </a:p>
        </p:txBody>
      </p:sp>
      <p:sp>
        <p:nvSpPr>
          <p:cNvPr id="103" name="字段链接公式格式身份"/>
          <p:cNvSpPr/>
          <p:nvPr/>
        </p:nvSpPr>
        <p:spPr>
          <a:xfrm>
            <a:off x="666750" y="4333875"/>
            <a:ext cx="10858500" cy="857250"/>
          </a:xfrm>
          <a:prstGeom prst="rect">
            <a:avLst/>
          </a:prstGeom>
          <a:solidFill>
            <a:srgbClr val="EFF6FF"/>
          </a:solidFill>
        </p:spPr>
        <p:txBody>
          <a:bodyPr anchor="ctr"/>
          <a:lstStyle/>
          <a:p>
            <a:fld id="{00000000-0000-0000-0000-000000000804}" type="datetime1">
              <a:rPr sz="1700" u="dotDashHeavy">
                <a:hlinkClick r:id="rId2"/>
              </a:rPr>
              <a:t>2026-09-03</a:t>
            </a:fld>
            <a:r>
              <a:rPr sz="1700" strike="sngStrike"/>
              <a:t> 公式 </a:t>
            </a:r>
            <m:oMath xmlns:m="http://schemas.openxmlformats.org/officeDocument/2006/math">
              <m:sSup>
                <m:e>
                  <m:r>
                    <m:t>x</m:t>
                  </m:r>
                </m:e>
                <m:sup>
                  <m:r>
                    <m:t>2</m:t>
                  </m:r>
                </m:sup>
              </m:sSup>
            </m:oMath>
          </a:p>
        </p:txBody>
      </p:sp>
      <p:sp>
        <p:nvSpPr>
          <p:cNvPr id="104" name="高级格式两千字符"/>
          <p:cNvSpPr/>
          <p:nvPr/>
        </p:nvSpPr>
        <p:spPr>
          <a:xfrm>
            <a:off x="666750" y="5429250"/>
            <a:ext cx="10858500" cy="857250"/>
          </a:xfrm>
          <a:prstGeom prst="rect">
            <a:avLst/>
          </a:prstGeom>
          <a:solidFill>
            <a:srgbClr val="F0FDF4"/>
          </a:solidFill>
        </p:spPr>
        <p:txBody>
          <a:bodyPr wrap="none" anchor="ctr">
            <a:normAutofit/>
          </a:bodyPr>
          <a:lstStyle/>
          <a:p>
            <a:r>
              <a:rPr sz="900" u="dottedHeavy" spc="75">
                <a:highlight>
                  <a:srgbClr val="E0F2FE"/>
                </a:highlight>
              </a:rPr>
              <a:t>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字</a:t>
            </a:r>
          </a:p>
        </p:txBody>
      </p:sp>
    </p:spTree>
  </p:cSld>
  <p:clrMapOvr>
    <a:masterClrMapping/>
  </p:clrMapOvr>
</p:sld>
</file>

<file path=ppt/theme/theme1.xml><?xml version="1.0" encoding="utf-8"?>
<a:theme xmlns:a="http://schemas.openxmlformats.org/drawingml/2006/main" name="Advanced Run Format">
  <a:themeElements>
    <a:clrScheme name="Advanced Run Format">
      <a:dk1>
        <a:sysClr val="windowText" lastClr="1A1A1A"/>
      </a:dk1>
      <a:lt1>
        <a:sysClr val="window" lastClr="FFFFFF"/>
      </a:lt1>
      <a:dk2>
        <a:srgbClr val="1F3864"/>
      </a:dk2>
      <a:lt2>
        <a:srgbClr val="F2F2F2"/>
      </a:lt2>
      <a:accent1>
        <a:srgbClr val="2E75B6"/>
      </a:accent1>
      <a:accent2>
        <a:srgbClr val="A6A6A6"/>
      </a:accent2>
      <a:accent3>
        <a:srgbClr val="70AD47"/>
      </a:accent3>
      <a:accent4>
        <a:srgbClr val="FFC000"/>
      </a:accent4>
      <a:accent5>
        <a:srgbClr val="ED7D31"/>
      </a:accent5>
      <a:accent6>
        <a:srgbClr val="7030A0"/>
      </a:accent6>
      <a:hlink>
        <a:srgbClr val="0563C1"/>
      </a:hlink>
      <a:folHlink>
        <a:srgbClr val="954F72"/>
      </a:folHlink>
    </a:clrScheme>
    <a:fontScheme name="Advanced Run Format">
      <a:majorFont>
        <a:latin typeface="Calibri Light"/>
        <a:ea typeface=""/>
        <a:cs typeface=""/>
      </a:majorFont>
      <a:minorFont>
        <a:latin typeface="Calibri"/>
        <a:ea typeface=""/>
        <a:cs typeface=""/>
      </a:minorFont>
    </a:fontScheme>
    <a:fmtScheme name="Advanced Run Format">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