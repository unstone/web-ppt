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p"/>
          <p:cNvSpPr/>
          <p:nvPr/>
        </p:nvSpPr>
        <p:spPr>
          <a:xfrm>
            <a:off x="285750" y="190500"/>
            <a:ext cx="7620000" cy="381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000" b="1">
                <a:solidFill>
                  <a:schemeClr val="tx2"/>
                </a:solidFill>
              </a:rPr>
              <a:t>OMML 数学公式（12 种结构）</a:t>
            </a:r>
          </a:p>
        </p:txBody>
      </p:sp>
      <p:sp>
        <p:nvSpPr>
          <p:cNvPr id="101" name="sp"/>
          <p:cNvSpPr/>
          <p:nvPr/>
        </p:nvSpPr>
        <p:spPr>
          <a:xfrm>
            <a:off x="285750" y="857250"/>
            <a:ext cx="2667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666666"/>
                </a:solidFill>
              </a:rPr>
              <a:t>分式</a:t>
            </a:r>
          </a:p>
        </p:txBody>
      </p:sp>
      <p:sp>
        <p:nvSpPr>
          <p:cNvPr id="900" name="math-分式"/>
          <p:cNvSpPr/>
          <p:nvPr/>
        </p:nvSpPr>
        <p:spPr>
          <a:xfrm>
            <a:off x="285750" y="1104900"/>
            <a:ext cx="2667000" cy="99060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txBody>
          <a:bodyPr anchor="ctr"/>
          <a:lstStyle/>
          <a:p>
            <a:pPr algn="ctr"/>
            <m:oMathPara xmlns:m="http://schemas.openxmlformats.org/officeDocument/2006/math">
              <m:oMath>
                <m:f>
                  <m:num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</m:num>
                  <m:den>
                    <m:r>
                      <m:rPr>
                        <m:sty m:val="p"/>
                      </m:rPr>
                      <m:t>2</m:t>
                    </m:r>
                    <m:r>
                      <m:t>c</m:t>
                    </m:r>
                  </m:den>
                </m:f>
              </m:oMath>
            </m:oMathPara>
          </a:p>
        </p:txBody>
      </p:sp>
      <p:sp>
        <p:nvSpPr>
          <p:cNvPr id="102" name="sp"/>
          <p:cNvSpPr/>
          <p:nvPr/>
        </p:nvSpPr>
        <p:spPr>
          <a:xfrm>
            <a:off x="3143250" y="857250"/>
            <a:ext cx="2667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666666"/>
                </a:solidFill>
              </a:rPr>
              <a:t>根式</a:t>
            </a:r>
          </a:p>
        </p:txBody>
      </p:sp>
      <p:sp>
        <p:nvSpPr>
          <p:cNvPr id="901" name="math-根式"/>
          <p:cNvSpPr/>
          <p:nvPr/>
        </p:nvSpPr>
        <p:spPr>
          <a:xfrm>
            <a:off x="3143250" y="1104900"/>
            <a:ext cx="2667000" cy="99060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txBody>
          <a:bodyPr anchor="ctr"/>
          <a:lstStyle/>
          <a:p>
            <a:pPr algn="ctr"/>
            <m:oMathPara xmlns:m="http://schemas.openxmlformats.org/officeDocument/2006/math">
              <m:oMath>
                <m:rad>
                  <m:radPr>
                    <m:degHide m:val="1"/>
                  </m:radPr>
                  <m:deg/>
                  <m:e>
                    <m:r>
                      <m:t>x</m:t>
                    </m:r>
                    <m:sSup>
                      <m:e>
                        <m: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m:t>2</m:t>
                        </m:r>
                      </m:sup>
                    </m:sSup>
                  </m:e>
                </m:rad>
              </m:oMath>
            </m:oMathPara>
          </a:p>
        </p:txBody>
      </p:sp>
      <p:sp>
        <p:nvSpPr>
          <p:cNvPr id="103" name="sp"/>
          <p:cNvSpPr/>
          <p:nvPr/>
        </p:nvSpPr>
        <p:spPr>
          <a:xfrm>
            <a:off x="6000750" y="857250"/>
            <a:ext cx="2667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666666"/>
                </a:solidFill>
              </a:rPr>
              <a:t>n 次根</a:t>
            </a:r>
          </a:p>
        </p:txBody>
      </p:sp>
      <p:sp>
        <p:nvSpPr>
          <p:cNvPr id="902" name="math-n 次根"/>
          <p:cNvSpPr/>
          <p:nvPr/>
        </p:nvSpPr>
        <p:spPr>
          <a:xfrm>
            <a:off x="6000750" y="1104900"/>
            <a:ext cx="2667000" cy="99060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txBody>
          <a:bodyPr anchor="ctr"/>
          <a:lstStyle/>
          <a:p>
            <a:pPr algn="ctr"/>
            <m:oMathPara xmlns:m="http://schemas.openxmlformats.org/officeDocument/2006/math">
              <m:oMath>
                <m:rad>
                  <m:deg>
                    <m:r>
                      <m:rPr>
                        <m:sty m:val="p"/>
                      </m:rPr>
                      <m:t>3</m:t>
                    </m:r>
                  </m:deg>
                  <m:e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1</m:t>
                    </m:r>
                  </m:e>
                </m:rad>
              </m:oMath>
            </m:oMathPara>
          </a:p>
        </p:txBody>
      </p:sp>
      <p:sp>
        <p:nvSpPr>
          <p:cNvPr id="104" name="sp"/>
          <p:cNvSpPr/>
          <p:nvPr/>
        </p:nvSpPr>
        <p:spPr>
          <a:xfrm>
            <a:off x="8858250" y="857250"/>
            <a:ext cx="2667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666666"/>
                </a:solidFill>
              </a:rPr>
              <a:t>上下标</a:t>
            </a:r>
          </a:p>
        </p:txBody>
      </p:sp>
      <p:sp>
        <p:nvSpPr>
          <p:cNvPr id="903" name="math-上下标"/>
          <p:cNvSpPr/>
          <p:nvPr/>
        </p:nvSpPr>
        <p:spPr>
          <a:xfrm>
            <a:off x="8858250" y="1104900"/>
            <a:ext cx="2667000" cy="99060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txBody>
          <a:bodyPr anchor="ctr"/>
          <a:lstStyle/>
          <a:p>
            <a:pPr algn="ctr"/>
            <m:oMathPara xmlns:m="http://schemas.openxmlformats.org/officeDocument/2006/math">
              <m:oMath>
                <m:sSubSup>
                  <m:e>
                    <m:r>
                      <m:t>A</m:t>
                    </m:r>
                  </m:e>
                  <m:sub>
                    <m:r>
                      <m:t>i</m:t>
                    </m:r>
                  </m:sub>
                  <m:sup>
                    <m:r>
                      <m:rPr>
                        <m:sty m:val="p"/>
                      </m:rPr>
                      <m:t>2</m:t>
                    </m:r>
                  </m:sup>
                </m:sSubSup>
              </m:oMath>
            </m:oMathPara>
          </a:p>
        </p:txBody>
      </p:sp>
      <p:sp>
        <p:nvSpPr>
          <p:cNvPr id="105" name="sp"/>
          <p:cNvSpPr/>
          <p:nvPr/>
        </p:nvSpPr>
        <p:spPr>
          <a:xfrm>
            <a:off x="285750" y="2286000"/>
            <a:ext cx="2667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666666"/>
                </a:solidFill>
              </a:rPr>
              <a:t>求和</a:t>
            </a:r>
          </a:p>
        </p:txBody>
      </p:sp>
      <p:sp>
        <p:nvSpPr>
          <p:cNvPr id="904" name="math-求和"/>
          <p:cNvSpPr/>
          <p:nvPr/>
        </p:nvSpPr>
        <p:spPr>
          <a:xfrm>
            <a:off x="285750" y="2533650"/>
            <a:ext cx="2667000" cy="99060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txBody>
          <a:bodyPr anchor="ctr"/>
          <a:lstStyle/>
          <a:p>
            <a:pPr algn="ctr"/>
            <m:oMathPara xmlns:m="http://schemas.openxmlformats.org/officeDocument/2006/math">
              <m:oMath>
                <m:nary>
                  <m:naryPr>
                    <m:chr m:val="∑"/>
                    <m:limLoc m:val="undOvr"/>
                  </m:naryPr>
                  <m:sub>
                    <m:r>
                      <m:t>i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1</m:t>
                    </m:r>
                  </m:sub>
                  <m:sup>
                    <m:r>
                      <m:t>n</m:t>
                    </m:r>
                  </m:sup>
                  <m:e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e>
                </m:nary>
              </m:oMath>
            </m:oMathPara>
          </a:p>
        </p:txBody>
      </p:sp>
      <p:sp>
        <p:nvSpPr>
          <p:cNvPr id="106" name="sp"/>
          <p:cNvSpPr/>
          <p:nvPr/>
        </p:nvSpPr>
        <p:spPr>
          <a:xfrm>
            <a:off x="3143250" y="2286000"/>
            <a:ext cx="2667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666666"/>
                </a:solidFill>
              </a:rPr>
              <a:t>积分</a:t>
            </a:r>
          </a:p>
        </p:txBody>
      </p:sp>
      <p:sp>
        <p:nvSpPr>
          <p:cNvPr id="905" name="math-积分"/>
          <p:cNvSpPr/>
          <p:nvPr/>
        </p:nvSpPr>
        <p:spPr>
          <a:xfrm>
            <a:off x="3143250" y="2533650"/>
            <a:ext cx="2667000" cy="99060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txBody>
          <a:bodyPr anchor="ctr"/>
          <a:lstStyle/>
          <a:p>
            <a:pPr algn="ctr"/>
            <m:oMathPara xmlns:m="http://schemas.openxmlformats.org/officeDocument/2006/math">
              <m:oMath>
                <m:nary>
                  <m:naryPr>
                    <m:chr m:val="∫"/>
                    <m:limLoc m:val="subSup"/>
                  </m:naryPr>
                  <m:sub>
                    <m:r>
                      <m:rPr>
                        <m:sty m:val="p"/>
                      </m:rPr>
                      <m:t>0</m:t>
                    </m:r>
                  </m:sub>
                  <m:sup>
                    <m:r>
                      <m:rPr>
                        <m:sty m:val="p"/>
                      </m:rPr>
                      <m:t>∞</m:t>
                    </m:r>
                  </m:sup>
                  <m:e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d</m:t>
                    </m:r>
                    <m:r>
                      <m:t>x</m:t>
                    </m:r>
                  </m:e>
                </m:nary>
              </m:oMath>
            </m:oMathPara>
          </a:p>
        </p:txBody>
      </p:sp>
      <p:sp>
        <p:nvSpPr>
          <p:cNvPr id="107" name="sp"/>
          <p:cNvSpPr/>
          <p:nvPr/>
        </p:nvSpPr>
        <p:spPr>
          <a:xfrm>
            <a:off x="6000750" y="2286000"/>
            <a:ext cx="2667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666666"/>
                </a:solidFill>
              </a:rPr>
              <a:t>括号自适应</a:t>
            </a:r>
          </a:p>
        </p:txBody>
      </p:sp>
      <p:sp>
        <p:nvSpPr>
          <p:cNvPr id="906" name="math-括号自适应"/>
          <p:cNvSpPr/>
          <p:nvPr/>
        </p:nvSpPr>
        <p:spPr>
          <a:xfrm>
            <a:off x="6000750" y="2533650"/>
            <a:ext cx="2667000" cy="99060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txBody>
          <a:bodyPr anchor="ctr"/>
          <a:lstStyle/>
          <a:p>
            <a:pPr algn="ctr"/>
            <m:oMathPara xmlns:m="http://schemas.openxmlformats.org/officeDocument/2006/math">
              <m:oMath>
                <m:d>
                  <m:e>
                    <m:f>
                      <m:num>
                        <m:r>
                          <m:rPr>
                            <m:sty m:val="p"/>
                          </m:rPr>
                          <m:t>1</m:t>
                        </m:r>
                      </m:num>
                      <m:den>
                        <m:r>
                          <m:t>n</m:t>
                        </m:r>
                      </m:den>
                    </m:f>
                  </m:e>
                </m:d>
              </m:oMath>
            </m:oMathPara>
          </a:p>
        </p:txBody>
      </p:sp>
      <p:sp>
        <p:nvSpPr>
          <p:cNvPr id="108" name="sp"/>
          <p:cNvSpPr/>
          <p:nvPr/>
        </p:nvSpPr>
        <p:spPr>
          <a:xfrm>
            <a:off x="8858250" y="2286000"/>
            <a:ext cx="2667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666666"/>
                </a:solidFill>
              </a:rPr>
              <a:t>多参数括号</a:t>
            </a:r>
          </a:p>
        </p:txBody>
      </p:sp>
      <p:sp>
        <p:nvSpPr>
          <p:cNvPr id="907" name="math-多参数括号"/>
          <p:cNvSpPr/>
          <p:nvPr/>
        </p:nvSpPr>
        <p:spPr>
          <a:xfrm>
            <a:off x="8858250" y="2533650"/>
            <a:ext cx="2667000" cy="99060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txBody>
          <a:bodyPr anchor="ctr"/>
          <a:lstStyle/>
          <a:p>
            <a:pPr algn="ctr"/>
            <m:oMathPara xmlns:m="http://schemas.openxmlformats.org/officeDocument/2006/math">
              <m:oMath>
                <m:d>
                  <m:dPr>
                    <m:begChr m:val="["/>
                    <m:endChr m:val="]"/>
                  </m:dPr>
                  <m:e>
                    <m:r>
                      <m:t>a</m:t>
                    </m:r>
                  </m:e>
                  <m:e>
                    <m:r>
                      <m:t>b</m:t>
                    </m:r>
                  </m:e>
                  <m:e>
                    <m:r>
                      <m:t>c</m:t>
                    </m:r>
                  </m:e>
                </m:d>
              </m:oMath>
            </m:oMathPara>
          </a:p>
        </p:txBody>
      </p:sp>
      <p:sp>
        <p:nvSpPr>
          <p:cNvPr id="109" name="sp"/>
          <p:cNvSpPr/>
          <p:nvPr/>
        </p:nvSpPr>
        <p:spPr>
          <a:xfrm>
            <a:off x="285750" y="3714750"/>
            <a:ext cx="2667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666666"/>
                </a:solidFill>
              </a:rPr>
              <a:t>矩阵</a:t>
            </a:r>
          </a:p>
        </p:txBody>
      </p:sp>
      <p:sp>
        <p:nvSpPr>
          <p:cNvPr id="908" name="math-矩阵"/>
          <p:cNvSpPr/>
          <p:nvPr/>
        </p:nvSpPr>
        <p:spPr>
          <a:xfrm>
            <a:off x="285750" y="3962400"/>
            <a:ext cx="2667000" cy="99060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txBody>
          <a:bodyPr anchor="ctr"/>
          <a:lstStyle/>
          <a:p>
            <a:pPr algn="ctr"/>
            <m:oMathPara xmlns:m="http://schemas.openxmlformats.org/officeDocument/2006/math">
              <m:oMath>
                <m:d>
                  <m:e>
                    <m:m>
                      <m:mr>
                        <m:e>
                          <m:r>
                            <m:t>a</m:t>
                          </m:r>
                        </m:e>
                        <m:e>
                          <m:r>
                            <m:t>b</m:t>
                          </m:r>
                        </m:e>
                      </m:mr>
                      <m:mr>
                        <m:e>
                          <m:r>
                            <m:t>c</m:t>
                          </m:r>
                        </m:e>
                        <m:e>
                          <m:r>
                            <m:t>d</m:t>
                          </m:r>
                        </m:e>
                      </m:mr>
                    </m:m>
                  </m:e>
                </m:d>
              </m:oMath>
            </m:oMathPara>
          </a:p>
        </p:txBody>
      </p:sp>
      <p:sp>
        <p:nvSpPr>
          <p:cNvPr id="110" name="sp"/>
          <p:cNvSpPr/>
          <p:nvPr/>
        </p:nvSpPr>
        <p:spPr>
          <a:xfrm>
            <a:off x="3143250" y="3714750"/>
            <a:ext cx="2667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666666"/>
                </a:solidFill>
              </a:rPr>
              <a:t>重音</a:t>
            </a:r>
          </a:p>
        </p:txBody>
      </p:sp>
      <p:sp>
        <p:nvSpPr>
          <p:cNvPr id="909" name="math-重音"/>
          <p:cNvSpPr/>
          <p:nvPr/>
        </p:nvSpPr>
        <p:spPr>
          <a:xfrm>
            <a:off x="3143250" y="3962400"/>
            <a:ext cx="2667000" cy="99060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txBody>
          <a:bodyPr anchor="ctr"/>
          <a:lstStyle/>
          <a:p>
            <a:pPr algn="ctr"/>
            <m:oMathPara xmlns:m="http://schemas.openxmlformats.org/officeDocument/2006/math">
              <m:oMath>
                <m:acc>
                  <m:accPr>
                    <m:chr m:val="⃗"/>
                  </m:accPr>
                  <m:e>
                    <m:r>
                      <m:t>v</m:t>
                    </m:r>
                  </m:e>
                </m:acc>
                <m:r>
                  <m:rPr>
                    <m:sty m:val="p"/>
                  </m:rPr>
                  <m:t>·</m:t>
                </m:r>
                <m:bar>
                  <m:e>
                    <m:r>
                      <m:t>x</m:t>
                    </m:r>
                    <m:r>
                      <m:t>y</m:t>
                    </m:r>
                  </m:e>
                </m:bar>
              </m:oMath>
            </m:oMathPara>
          </a:p>
        </p:txBody>
      </p:sp>
      <p:sp>
        <p:nvSpPr>
          <p:cNvPr id="111" name="sp"/>
          <p:cNvSpPr/>
          <p:nvPr/>
        </p:nvSpPr>
        <p:spPr>
          <a:xfrm>
            <a:off x="6000750" y="3714750"/>
            <a:ext cx="2667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666666"/>
                </a:solidFill>
              </a:rPr>
              <a:t>极限</a:t>
            </a:r>
          </a:p>
        </p:txBody>
      </p:sp>
      <p:sp>
        <p:nvSpPr>
          <p:cNvPr id="910" name="math-极限"/>
          <p:cNvSpPr/>
          <p:nvPr/>
        </p:nvSpPr>
        <p:spPr>
          <a:xfrm>
            <a:off x="6000750" y="3962400"/>
            <a:ext cx="2667000" cy="99060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txBody>
          <a:bodyPr anchor="ctr"/>
          <a:lstStyle/>
          <a:p>
            <a:pPr algn="ctr"/>
            <m:oMathPara xmlns:m="http://schemas.openxmlformats.org/officeDocument/2006/math">
              <m:oMath>
                <m:func>
                  <m:fName>
                    <m:limLow>
                      <m:e>
                        <m:r>
                          <m:rPr>
                            <m:sty m:val="p"/>
                          </m:rPr>
                          <m:t>lim</m:t>
                        </m:r>
                      </m:e>
                      <m:lim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→</m:t>
                        </m:r>
                        <m:r>
                          <m:rPr>
                            <m:sty m:val="p"/>
                          </m:rPr>
                          <m:t>∞</m:t>
                        </m:r>
                      </m:lim>
                    </m:limLow>
                  </m:fName>
                  <m:e>
                    <m:sSub>
                      <m:e>
                        <m:r>
                          <m:t>a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e>
                </m:func>
              </m:oMath>
            </m:oMathPara>
          </a:p>
        </p:txBody>
      </p:sp>
      <p:sp>
        <p:nvSpPr>
          <p:cNvPr id="112" name="sp"/>
          <p:cNvSpPr/>
          <p:nvPr/>
        </p:nvSpPr>
        <p:spPr>
          <a:xfrm>
            <a:off x="8858250" y="3714750"/>
            <a:ext cx="2667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666666"/>
                </a:solidFill>
              </a:rPr>
              <a:t>嵌套分式</a:t>
            </a:r>
          </a:p>
        </p:txBody>
      </p:sp>
      <p:sp>
        <p:nvSpPr>
          <p:cNvPr id="911" name="math-嵌套分式"/>
          <p:cNvSpPr/>
          <p:nvPr/>
        </p:nvSpPr>
        <p:spPr>
          <a:xfrm>
            <a:off x="8858250" y="3962400"/>
            <a:ext cx="2667000" cy="99060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txBody>
          <a:bodyPr anchor="ctr"/>
          <a:lstStyle/>
          <a:p>
            <a:pPr algn="ctr"/>
            <m:oMathPara xmlns:m="http://schemas.openxmlformats.org/officeDocument/2006/math">
              <m:oMath>
                <m:f>
                  <m:num>
                    <m:r>
                      <m:rPr>
                        <m:sty m:val="p"/>
                      </m:rPr>
                      <m:t>1</m:t>
                    </m:r>
                  </m:num>
                  <m:den>
                    <m:r>
                      <m:rPr>
                        <m:sty m:val="p"/>
                      </m:rP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f>
                      <m:num>
                        <m:r>
                          <m:rPr>
                            <m:sty m:val="p"/>
                          </m:rP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</m:den>
                </m:f>
              </m:oMath>
            </m:oMathPara>
          </a:p>
        </p:txBody>
      </p:sp>
      <p:sp>
        <p:nvSpPr>
          <p:cNvPr id="990" name="inline"/>
          <p:cNvSpPr/>
          <p:nvPr/>
        </p:nvSpPr>
        <p:spPr>
          <a:xfrm>
            <a:off x="285750" y="5334000"/>
            <a:ext cx="1162050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/>
              <a:t>行内混排：当 </a:t>
            </a:r>
            <m:oMath xmlns:m="http://schemas.openxmlformats.org/officeDocument/2006/math">
              <m:sSup>
                <m:e>
                  <m:r>
                    <m:t>x</m:t>
                  </m:r>
                </m:e>
                <m:sup>
                  <m:r>
                    <m:rPr>
                      <m:sty m:val="p"/>
                    </m:rPr>
                    <m:t>2</m:t>
                  </m:r>
                </m:sup>
              </m:sSup>
              <m:r>
                <m:rPr>
                  <m:sty m:val="p"/>
                </m:rPr>
                <m:t>+</m:t>
              </m:r>
              <m:sSup>
                <m:e>
                  <m:r>
                    <m:t>y</m:t>
                  </m:r>
                </m:e>
                <m:sup>
                  <m:r>
                    <m:rPr>
                      <m:sty m:val="p"/>
                    </m:rPr>
                    <m:t>2</m:t>
                  </m:r>
                </m:sup>
              </m:sSup>
              <m:r>
                <m:rPr>
                  <m:sty m:val="p"/>
                </m:rPr>
                <m:t>=</m:t>
              </m:r>
              <m:sSup>
                <m:e>
                  <m:r>
                    <m:t>r</m:t>
                  </m:r>
                </m:e>
                <m:sup>
                  <m:r>
                    <m:rPr>
                      <m:sty m:val="p"/>
                    </m:rPr>
                    <m:t>2</m:t>
                  </m:r>
                </m:sup>
              </m:sSup>
            </m:oMath>
            <a:r>
              <a:rPr sz="1600"/>
              <a:t> 时，半径为 </a:t>
            </a:r>
            <m:oMath xmlns:m="http://schemas.openxmlformats.org/officeDocument/2006/math">
              <m:rad>
                <m:radPr>
                  <m:degHide m:val="1"/>
                </m:radPr>
                <m:deg/>
                <m:e>
                  <m:sSup>
                    <m:e>
                      <m:r>
                        <m:t>x</m:t>
                      </m:r>
                    </m:e>
                    <m:sup>
                      <m:r>
                        <m:rPr>
                          <m:sty m:val="p"/>
                        </m:rPr>
                        <m:t>2</m:t>
                      </m:r>
                    </m:sup>
                  </m:sSup>
                  <m:r>
                    <m:rPr>
                      <m:sty m:val="p"/>
                    </m:rPr>
                    <m:t>+</m:t>
                  </m:r>
                  <m:sSup>
                    <m:e>
                      <m:r>
                        <m:t>y</m:t>
                      </m:r>
                    </m:e>
                    <m:sup>
                      <m:r>
                        <m:rPr>
                          <m:sty m:val="p"/>
                        </m:rPr>
                        <m:t>2</m:t>
                      </m:r>
                    </m:sup>
                  </m:sSup>
                </m:e>
              </m:rad>
            </m:oMath>
            <a:r>
              <a:rPr sz="1600"/>
              <a:t> ，这是圆的方程。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h">
  <a:themeElements>
    <a:clrScheme name="Math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Math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at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