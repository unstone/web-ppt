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4572000" cy="2857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case"/>
          <p:cNvSpPr/>
          <p:nvPr/>
        </p:nvSpPr>
        <p:spPr>
          <a:xfrm>
            <a:off x="0" y="0"/>
            <a:ext cx="4572000" cy="28575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4400"/>
            </a:lvl1pPr>
          </a:lstStyle>
          <a:p>
            <a:pPr algn="ctr"/>
            <m:oMathPara xmlns:m="http://schemas.openxmlformats.org/officeDocument/2006/math">
              <m:oMath>
                <m:acc>
                  <m:accPr>
                    <m:chr m:val="⃗"/>
                  </m:accPr>
                  <m:e>
                    <m:r>
                      <m:t>v</m:t>
                    </m:r>
                  </m:e>
                </m:acc>
                <m:r>
                  <m:rPr>
                    <m:sty m:val="p"/>
                  </m:rPr>
                  <m:t>·</m:t>
                </m:r>
                <m:bar>
                  <m:e>
                    <m:r>
                      <m:t>x</m:t>
                    </m:r>
                    <m:r>
                      <m:t>y</m:t>
                    </m:r>
                  </m:e>
                </m:bar>
              </m:oMath>
            </m:oMathPara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case"/>
          <p:cNvSpPr/>
          <p:nvPr/>
        </p:nvSpPr>
        <p:spPr>
          <a:xfrm>
            <a:off x="0" y="0"/>
            <a:ext cx="4572000" cy="28575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4400"/>
            </a:lvl1pPr>
          </a:lstStyle>
          <a:p>
            <a:pPr algn="ctr"/>
            <m:oMathPara xmlns:m="http://schemas.openxmlformats.org/officeDocument/2006/math">
              <m:oMath>
                <m:d>
                  <m:e>
                    <m:m>
                      <m:mr>
                        <m:e>
                          <m:r>
                            <m:t>a</m:t>
                          </m:r>
                        </m:e>
                        <m:e>
                          <m:r>
                            <m:t>b</m:t>
                          </m:r>
                        </m:e>
                      </m:mr>
                      <m:mr>
                        <m:e>
                          <m:r>
                            <m:t>c</m:t>
                          </m:r>
                        </m:e>
                        <m:e>
                          <m:r>
                            <m:t>d</m:t>
                          </m:r>
                        </m:e>
                      </m:mr>
                    </m:m>
                  </m:e>
                </m:d>
              </m:oMath>
            </m:oMathPara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case"/>
          <p:cNvSpPr/>
          <p:nvPr/>
        </p:nvSpPr>
        <p:spPr>
          <a:xfrm>
            <a:off x="0" y="0"/>
            <a:ext cx="4572000" cy="28575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4400"/>
            </a:lvl1pPr>
          </a:lstStyle>
          <a:p>
            <a:pPr algn="ctr"/>
            <m:oMathPara xmlns:m="http://schemas.openxmlformats.org/officeDocument/2006/math">
              <m:oMath>
                <m:f>
                  <m:num>
                    <m:r>
                      <m:rPr>
                        <m:sty m:val="p"/>
                      </m:rPr>
                      <m:t>1</m:t>
                    </m:r>
                  </m:num>
                  <m:den>
                    <m:r>
                      <m:rPr>
                        <m:sty m:val="p"/>
                      </m:rP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f>
                      <m:num>
                        <m:r>
                          <m:rPr>
                            <m:sty m:val="p"/>
                          </m:rPr>
                          <m:t>1</m:t>
                        </m:r>
                      </m:num>
                      <m:den>
                        <m:r>
                          <m:t>x</m:t>
                        </m:r>
                      </m:den>
                    </m:f>
                  </m:den>
                </m:f>
              </m:oMath>
            </m:oMathPara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rderCallout2"/>
          <p:cNvSpPr/>
          <p:nvPr/>
        </p:nvSpPr>
        <p:spPr>
          <a:xfrm>
            <a:off x="381000" y="285750"/>
            <a:ext cx="3810000" cy="1905000"/>
          </a:xfrm>
          <a:prstGeom prst="borderCallout2">
            <a:avLst/>
          </a:prstGeom>
          <a:solidFill>
            <a:schemeClr val="accent1"/>
          </a:solidFill>
          <a:ln w="19050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loud"/>
          <p:cNvSpPr/>
          <p:nvPr/>
        </p:nvSpPr>
        <p:spPr>
          <a:xfrm>
            <a:off x="381000" y="285750"/>
            <a:ext cx="3810000" cy="1905000"/>
          </a:xfrm>
          <a:prstGeom prst="cloud">
            <a:avLst/>
          </a:prstGeom>
          <a:solidFill>
            <a:schemeClr val="accent3"/>
          </a:solidFill>
          <a:ln w="12700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noSmoking"/>
          <p:cNvSpPr/>
          <p:nvPr/>
        </p:nvSpPr>
        <p:spPr>
          <a:xfrm>
            <a:off x="381000" y="285750"/>
            <a:ext cx="3810000" cy="1905000"/>
          </a:xfrm>
          <a:prstGeom prst="noSmoking">
            <a:avLst/>
          </a:prstGeom>
          <a:solidFill>
            <a:schemeClr val="accent5"/>
          </a:solidFill>
          <a:ln w="12700">
            <a:solidFill>
              <a:schemeClr val="tx2"/>
            </a:solidFill>
          </a:ln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rdCases">
  <a:themeElements>
    <a:clrScheme name="HardCase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HardCase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HardCas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