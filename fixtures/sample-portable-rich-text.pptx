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media/bullet.png" ContentType="image/png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Bullet" Type="http://schemas.openxmlformats.org/officeDocument/2006/relationships/image" Target="../media/bullet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渐变描边阴影与独立下划线"/>
          <p:cNvSpPr/>
          <p:nvPr/>
        </p:nvSpPr>
        <p:spPr>
          <a:xfrm>
            <a:off x="666750" y="571500"/>
            <a:ext cx="10477500" cy="1047750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/>
          <a:p>
            <a:pPr>
              <a:buBlip>
                <a:blip r:embed="rIdBullet"/>
              </a:buBlip>
            </a:pPr>
            <a:r>
              <a:rPr sz="3200" u="dbl">
                <a:ln w="9525">
                  <a:solidFill>
                    <a:srgbClr val="12539A"/>
                  </a:solidFill>
                </a:ln>
                <a:gradFill>
                  <a:gsLst>
                    <a:gs pos="0">
                      <a:srgbClr val="CC3355"/>
                    </a:gs>
                    <a:gs pos="35789">
                      <a:srgbClr val="8822CC">
                        <a:alpha val="80000"/>
                      </a:srgbClr>
                    </a:gs>
                    <a:gs pos="100000">
                      <a:srgbClr val="2266CC"/>
                    </a:gs>
                  </a:gsLst>
                  <a:lin ang="2345678" scaled="0"/>
                </a:gradFill>
                <a:effectLst>
                  <a:outerShdw blurRad="19050" dist="38100" dir="2700000">
                    <a:srgbClr val="777777">
                      <a:alpha val="50000"/>
                    </a:srgbClr>
                  </a:outerShdw>
                </a:effectLst>
                <a:uFill>
                  <a:solidFill>
                    <a:srgbClr val="228844"/>
                  </a:solidFill>
                </a:uFill>
                <a:latin typeface="Arial"/>
                <a:ea typeface="Arial"/>
              </a:rPr>
              <a:t>Portable 高级文本</a:t>
            </a:r>
          </a:p>
        </p:txBody>
      </p:sp>
      <p:sp>
        <p:nvSpPr>
          <p:cNvPr id="102" name="艺术字调整值"/>
          <p:cNvSpPr/>
          <p:nvPr/>
        </p:nvSpPr>
        <p:spPr>
          <a:xfrm>
            <a:off x="666750" y="1857375"/>
            <a:ext cx="6667500" cy="1238250"/>
          </a:xfrm>
          <a:prstGeom prst="rect">
            <a:avLst/>
          </a:prstGeom>
          <a:solidFill>
            <a:srgbClr val="FFFFFF"/>
          </a:solidFill>
        </p:spPr>
        <p:txBody>
          <a:bodyPr>
            <a:prstTxWarp prst="textWave1">
              <a:avLst>
                <a:gd name="adj1" fmla="val 16000"/>
                <a:gd name="adj2" fmla="val 2200"/>
              </a:avLst>
            </a:prstTxWarp>
          </a:bodyPr>
          <a:lstStyle/>
          <a:p>
            <a:r>
              <a:rPr sz="3200"/>
              <a:t>Portable Wave</a:t>
            </a:r>
          </a:p>
        </p:txBody>
      </p:sp>
      <p:sp>
        <p:nvSpPr>
          <p:cNvPr id="103" name="嵌套公式混排"/>
          <p:cNvSpPr/>
          <p:nvPr/>
        </p:nvSpPr>
        <p:spPr>
          <a:xfrm>
            <a:off x="666750" y="3714750"/>
            <a:ext cx="10477500" cy="1714500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/>
          <a:p>
            <a:pPr>
              <a:defRPr sz="2400"/>
            </a:pPr>
            <a:r>
              <a:rPr sz="2400"/>
              <a:t>before </a:t>
            </a:r>
            <a14:m xmlns:a14="http://schemas.microsoft.com/office/drawing/2010/main">
              <m:oMath xmlns:m="http://schemas.openxmlformats.org/officeDocument/2006/math">
                <m:f>
                  <m:num>
                    <m:rad>
                      <m:radPr>
                        <m:degHide m:val="1"/>
                      </m:radPr>
                      <m:deg/>
                      <m:e>
                        <m:sSubSup>
                          <m:e>
                            <m:r>
                              <m:rPr>
                                <m:sty m:val="i"/>
                              </m:rPr>
                              <m:t>x</m:t>
                            </m:r>
                          </m:e>
                          <m:sub>
                            <m:r>
                              <m:rPr>
                                <m:sty m:val="i"/>
                              </m:rPr>
                              <m:t>i</m:t>
                            </m:r>
                          </m:sub>
                          <m:sup>
                            <m:r>
                              <m:rPr>
                                <m:sty m:val="i"/>
                              </m:rPr>
                              <m:t>2</m:t>
                            </m:r>
                          </m:sup>
                        </m:sSubSup>
                      </m:e>
                    </m:rad>
                  </m:num>
                  <m:den>
                    <m:r>
                      <m:rPr>
                        <m:sty m:val="i"/>
                      </m:rPr>
                      <m:t>y</m:t>
                    </m:r>
                  </m:den>
                </m:f>
              </m:oMath>
            </a14:m>
            <a:r>
              <a:rPr sz="2400"/>
              <a:t> after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0" name="表格公式"/>
          <p:cNvGraphicFramePr/>
          <p:nvPr/>
        </p:nvGraphicFramePr>
        <p:xfrm>
          <a:off x="952500" y="1905000"/>
          <a:ext cx="9525000" cy="2857500"/>
        </p:xfrm>
        <a:graphic>
          <a:graphicData uri="http://schemas.openxmlformats.org/drawingml/2006/table">
            <a:tbl>
              <a:tblPr/>
              <a:tblGrid>
                <a:gridCol w="4762500"/>
                <a:gridCol w="4762500"/>
              </a:tblGrid>
              <a:tr h="28575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14:m xmlns:a14="http://schemas.microsoft.com/office/drawing/2010/main">
                        <m:oMath xmlns:m="http://schemas.openxmlformats.org/officeDocument/2006/math">
                          <m:f>
                            <m:num>
                              <m:rad>
                                <m:radPr>
                                  <m:degHide m:val="1"/>
                                </m:radPr>
                                <m:deg/>
                                <m:e>
                                  <m:sSubSup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m:t>x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i"/>
                                        </m:rPr>
                                        <m:t>i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i"/>
                                        </m:rPr>
                                        <m:t>2</m:t>
                                      </m:r>
                                    </m:sup>
                                  </m:sSubSup>
                                </m:e>
                              </m:rad>
                            </m:num>
                            <m:den>
                              <m:r>
                                <m:rPr>
                                  <m:sty m:val="i"/>
                                </m:rPr>
                                <m:t>y</m:t>
                              </m:r>
                            </m:den>
                          </m:f>
                        </m:oMath>
                      </a14:m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3200" u="dbl">
                          <a:ln w="9525">
                            <a:solidFill>
                              <a:srgbClr val="12539A"/>
                            </a:solidFill>
                          </a:ln>
                          <a:gradFill>
                            <a:gsLst>
                              <a:gs pos="0">
                                <a:srgbClr val="CC3355"/>
                              </a:gs>
                              <a:gs pos="35789">
                                <a:srgbClr val="8822CC">
                                  <a:alpha val="80000"/>
                                </a:srgbClr>
                              </a:gs>
                              <a:gs pos="100000">
                                <a:srgbClr val="2266CC"/>
                              </a:gs>
                            </a:gsLst>
                            <a:lin ang="2345678" scaled="0"/>
                          </a:gradFill>
                          <a:effectLst>
                            <a:outerShdw blurRad="19050" dist="38100" dir="2700000">
                              <a:srgbClr val="777777">
                                <a:alpha val="50000"/>
                              </a:srgbClr>
                            </a:outerShdw>
                          </a:effectLst>
                          <a:uFill>
                            <a:solidFill>
                              <a:srgbClr val="228844"/>
                            </a:solidFill>
                          </a:uFill>
                          <a:latin typeface="Arial"/>
                          <a:ea typeface="Arial"/>
                        </a:rPr>
                        <a:t>cell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独立公式"/>
          <p:cNvSpPr/>
          <p:nvPr/>
        </p:nvSpPr>
        <p:spPr>
          <a:xfrm>
            <a:off x="1428750" y="1428750"/>
            <a:ext cx="7620000" cy="3333750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/>
          <a:p>
            <a14:m xmlns:a14="http://schemas.microsoft.com/office/drawing/2010/main">
              <m:oMathPara xmlns:m="http://schemas.openxmlformats.org/officeDocument/2006/math">
                <m:oMath>
                  <m:f>
                    <m:num>
                      <m:rad>
                        <m:radPr>
                          <m:degHide m:val="1"/>
                        </m:radPr>
                        <m:deg/>
                        <m:e>
                          <m:sSubSup>
                            <m:e>
                              <m:r>
                                <m:rPr>
                                  <m:sty m:val="i"/>
                                </m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i"/>
                                </m:rPr>
                                <m:t>2</m:t>
                              </m:r>
                            </m:sup>
                          </m:sSubSup>
                        </m:e>
                      </m:rad>
                    </m:num>
                    <m:den>
                      <m:r>
                        <m:rPr>
                          <m:sty m:val="i"/>
                        </m:rPr>
                        <m:t>y</m:t>
                      </m:r>
                    </m:den>
                  </m:f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able Rich Text">
  <a:themeElements>
    <a:clrScheme name="Portable Rich Text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Portable Rich Tex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rtable Rich Tex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