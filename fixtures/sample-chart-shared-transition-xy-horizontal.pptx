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xlsx" ContentType="application/vnd.openxmlformats-officedocument.spreadsheetml.sheet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hierarchy1.xlsx"/></Relationships>
</file>

<file path=ppt/charts/_rels/chart2.xml.rels><Relationships xmlns="http://schemas.openxmlformats.org/package/2006/relationships"><Relationship Id="rId1" Type="http://schemas.openxmlformats.org/officeDocument/2006/relationships/package" Target="../embeddings/hierarchy2.xlsx"/></Relationships>
</file>

<file path=ppt/charts/_rels/chart3.xml.rels><Relationships xmlns="http://schemas.openxmlformats.org/package/2006/relationships"><Relationship Id="rId1" Type="http://schemas.openxmlformats.org/officeDocument/2006/relationships/package" Target="../embeddings/hierarchy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规模与转化（气泡图）</a:t>
            </a:r>
          </a:p>
        </c:rich>
      </c:tx>
    </c:title>
    <c:plotArea>
      <c:layout/>
      <c:bubbleChart>
        <c:varyColors val="0"/>
        <c:ser>
          <c:idx val="0"/>
          <c:order val="0"/>
          <c:tx>
            <c:strRef>
              <c:f>Sheet1!A1</c:f>
              <c:strCache>
                <c:ptCount val="1"/>
                <c:pt idx="0">
                  <c:v>直营</c:v>
                </c:pt>
              </c:strCache>
            </c:strRef>
          </c:tx>
          <c:xVal>
            <c:numRef>
              <c:f>Sheet1!B1:E1</c:f>
              <c:numCache>
                <c:formatCode>General</c:formatCode>
                <c:ptCount val="4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</c:numCache>
            </c:numRef>
          </c:xVal>
          <c:yVal>
            <c:numRef>
              <c:f>Sheet1!B2:E2</c:f>
              <c:numCache>
                <c:formatCode>General</c:formatCode>
                <c:ptCount val="4"/>
                <c:pt idx="0">
                  <c:v>20</c:v>
                </c:pt>
                <c:pt idx="1">
                  <c:v>35</c:v>
                </c:pt>
                <c:pt idx="2">
                  <c:v>28</c:v>
                </c:pt>
                <c:pt idx="3">
                  <c:v>60</c:v>
                </c:pt>
              </c:numCache>
            </c:numRef>
          </c:yVal>
          <c:bubbleSize>
            <c:numRef>
              <c:f>Sheet1!B3:E3</c:f>
              <c:numCache>
                <c:formatCode>General</c:formatCode>
                <c:ptCount val="4"/>
                <c:pt idx="0">
                  <c:v>400</c:v>
                </c:pt>
                <c:pt idx="1">
                  <c:v>900</c:v>
                </c:pt>
                <c:pt idx="2">
                  <c:v>1600</c:v>
                </c:pt>
                <c:pt idx="3">
                  <c:v>2500</c:v>
                </c:pt>
              </c:numCache>
            </c:numRef>
          </c:bubbleSize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渠道</c:v>
                </c:pt>
              </c:strCache>
            </c:strRef>
          </c:tx>
          <c:xVal>
            <c:numRef>
              <c:f>Sheet1!B4:E4</c:f>
              <c:numCache>
                <c:formatCode>General</c:formatCode>
                <c:ptCount val="4"/>
                <c:pt idx="0">
                  <c:v>15</c:v>
                </c:pt>
                <c:pt idx="1">
                  <c:v>30</c:v>
                </c:pt>
                <c:pt idx="2">
                  <c:v>45</c:v>
                </c:pt>
                <c:pt idx="3">
                  <c:v>65</c:v>
                </c:pt>
              </c:numCache>
            </c:numRef>
          </c:xVal>
          <c:yVal>
            <c:numRef>
              <c:f>Sheet1!B5:E5</c:f>
              <c:numCache>
                <c:formatCode>General</c:formatCode>
                <c:ptCount val="4"/>
                <c:pt idx="0">
                  <c:v>18</c:v>
                </c:pt>
                <c:pt idx="1">
                  <c:v>42</c:v>
                </c:pt>
                <c:pt idx="2">
                  <c:v>38</c:v>
                </c:pt>
                <c:pt idx="3">
                  <c:v>70</c:v>
                </c:pt>
              </c:numCache>
            </c:numRef>
          </c:yVal>
          <c:bubbleSize>
            <c:numRef>
              <c:f>Sheet1!B6:E6</c:f>
              <c:numCache>
                <c:formatCode>General</c:formatCode>
                <c:ptCount val="4"/>
                <c:pt idx="0">
                  <c:v>600</c:v>
                </c:pt>
                <c:pt idx="1">
                  <c:v>1200</c:v>
                </c:pt>
                <c:pt idx="2">
                  <c:v>2100</c:v>
                </c:pt>
                <c:pt idx="3">
                  <c:v>3200</c:v>
                </c:pt>
              </c:numCache>
            </c:numRef>
          </c:bubbleSize>
        </c:ser>
        <c:bubbleScale val="100"/>
        <c:showNegBubbles val="0"/>
        <c:sizeRepresents val="area"/>
        <c:axId val="1101"/>
        <c:axId val="1102"/>
      </c:bubbleChart>
      <c:valAx>
        <c:axId val="1101"/>
        <c:scaling>
          <c:orientation val="minMax"/>
        </c:scaling>
        <c:delete val="0"/>
        <c:axPos val="b"/>
        <c:crossAx val="1102"/>
        <c:crosses val="autoZero"/>
      </c:valAx>
      <c:valAx>
        <c:axId val="1102"/>
        <c:scaling>
          <c:orientation val="minMax"/>
        </c:scaling>
        <c:delete val="0"/>
        <c:axPos val="l"/>
        <c:majorGridlines/>
        <c:crossAx val="1101"/>
        <c:crosses val="autoZero"/>
      </c:valAx>
    </c:plotArea>
    <c:plotVisOnly val="1"/>
    <c:dispBlanksAs val="gap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Sheet1!D1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Sheet1!D2:D7</c:f>
              <c:numCache>
                <c:formatCode>General</c:formatCode>
                <c:ptCount val="6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  <c:pt idx="5">
                  <c:v>50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Sheet1!E1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Sheet1!$A$2:$C$7</c:f>
              <c:multiLvlStrCache>
                <c:ptCount val="6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  <c:pt idx="5">
                    <c:v>B</c:v>
                  </c:pt>
                </c:lvl>
                <c:lvl>
                  <c:pt idx="0">
                    <c:v>East</c:v>
                  </c:pt>
                  <c:pt idx="2">
                    <c:v>West</c:v>
                  </c:pt>
                  <c:pt idx="4">
                    <c:v>East</c:v>
                  </c:pt>
                </c:lvl>
                <c:lvl>
                  <c:pt idx="0">
                    <c:v>North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Sheet1!E2:E7</c:f>
              <c:numCache>
                <c:formatCode>General</c:formatCode>
                <c:ptCount val="6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  <c:pt idx="5">
                  <c:v>60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400" b="1">
                <a:solidFill>
                  <a:schemeClr val="tx2"/>
                </a:solidFill>
              </a:defRPr>
            </a:pPr>
            <a:r>
              <a:t>季度营收对比（簇状柱）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Sheet1!A3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Sheet1!B3:F3</c:f>
              <c:numCache>
                <c:formatCode>General</c:formatCode>
                <c:ptCount val="5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4">
                  <c:v>40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Sheet1!A4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</c:spPr>
          <c:cat>
            <c:multiLvlStrRef>
              <c:f>Sheet1!$B$1:$F$2</c:f>
              <c:multiLvlStrCache>
                <c:ptCount val="5"/>
                <c:lvl>
                  <c:pt idx="0">
                    <c:v>A</c:v>
                  </c:pt>
                  <c:pt idx="1">
                    <c:v>A</c:v>
                  </c:pt>
                  <c:pt idx="2">
                    <c:v/>
                  </c:pt>
                  <c:pt idx="4">
                    <c:v>0</c:v>
                  </c:pt>
                </c:lvl>
                <c:lvl>
                  <c:pt idx="0">
                    <c:v>North</c:v>
                  </c:pt>
                  <c:pt idx="2">
                    <c:v>South</c:v>
                  </c:pt>
                  <c:pt idx="3">
                    <c:v/>
                  </c:pt>
                </c:lvl>
              </c:multiLvlStrCache>
            </c:multiLvlStrRef>
          </c:cat>
          <c:val>
            <c:numRef>
              <c:f>Sheet1!B4:F4</c:f>
              <c:numCache>
                <c:formatCode>General</c:formatCode>
                <c:ptCount val="5"/>
                <c:pt idx="0">
                  <c:v>10</c:v>
                </c:pt>
                <c:pt idx="1">
                  <c:v>20</c:v>
                </c:pt>
                <c:pt idx="2">
                  <c:v>30</c:v>
                </c:pt>
                <c:pt idx="4">
                  <c:v>50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txPr>
            <a:bodyPr/>
            <a:lstStyle/>
            <a:p>
              <a:pPr>
                <a:defRPr sz="800"/>
              </a:pPr>
              <a:endParaRPr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0"/>
        <c:axId val="101"/>
        <c:axId val="102"/>
      </c:barChart>
      <c:catAx>
        <c:axId val="101"/>
        <c:scaling>
          <c:orientation val="minMax"/>
        </c:scaling>
        <c:delete val="0"/>
        <c:axPos val="b"/>
        <c:crossAx val="102"/>
        <c:crosses val="autoZero"/>
        <c:auto val="1"/>
        <c:lblAlgn val="ctr"/>
        <c:lblOffset val="100"/>
        <c:noMultiLvlLbl val="0"/>
      </c:catAx>
      <c:valAx>
        <c:axId val="102"/>
        <c:scaling>
          <c:orientation val="minMax"/>
        </c:scaling>
        <c:delete val="0"/>
        <c:axPos val="l"/>
        <c:majorGridlines/>
        <c:numFmt formatCode="#,##0" sourceLinked="0"/>
        <c:title>
          <c:tx>
            <c:rich>
              <a:bodyPr/>
              <a:lstStyle/>
              <a:p>
                <a:r>
                  <a:t>金额（万元）</a:t>
                </a:r>
              </a:p>
            </c:rich>
          </c:tx>
        </c:title>
        <c:crossAx val="10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Chart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三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横向两级类别"/>
          <p:cNvGraphicFramePr/>
          <p:nvPr/>
        </p:nvGraphicFramePr>
        <p:xfrm>
          <a:off x="952500" y="952500"/>
          <a:ext cx="9144000" cy="476250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rt Hierarchy">
  <a:themeElements>
    <a:clrScheme name="Chart Hierarchy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Chart Hierarchy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Chart Hierarch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